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9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nantason Condensed Bold" charset="1" panose="00000000000000000000"/>
      <p:regular r:id="rId16"/>
    </p:embeddedFont>
    <p:embeddedFont>
      <p:font typeface="Anantason Condensed" charset="1" panose="00000000000000000000"/>
      <p:regular r:id="rId17"/>
    </p:embeddedFont>
    <p:embeddedFont>
      <p:font typeface="Anantason Condensed Medium" charset="1" panose="00000000000000000000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flexipath.vercel.app/simulator.html?demo=1" TargetMode="External"/><Relationship Id="rId6" Type="http://schemas.openxmlformats.org/officeDocument/2006/relationships/hyperlink" Target="https://flexipath.vercel.app/video" TargetMode="External"/><Relationship Id="rId7" Type="http://schemas.openxmlformats.org/officeDocument/2006/relationships/hyperlink" Target="https://flexipath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Relationship Id="rId21" Type="http://schemas.openxmlformats.org/officeDocument/2006/relationships/image" Target="../media/image69.png"/><Relationship Id="rId22" Type="http://schemas.openxmlformats.org/officeDocument/2006/relationships/image" Target="../media/image70.png"/><Relationship Id="rId23" Type="http://schemas.openxmlformats.org/officeDocument/2006/relationships/image" Target="../media/image71.png"/><Relationship Id="rId24" Type="http://schemas.openxmlformats.org/officeDocument/2006/relationships/image" Target="../media/image72.png"/><Relationship Id="rId25" Type="http://schemas.openxmlformats.org/officeDocument/2006/relationships/image" Target="../media/image73.png"/><Relationship Id="rId26" Type="http://schemas.openxmlformats.org/officeDocument/2006/relationships/image" Target="../media/image74.png"/><Relationship Id="rId27" Type="http://schemas.openxmlformats.org/officeDocument/2006/relationships/image" Target="../media/image75.png"/><Relationship Id="rId28" Type="http://schemas.openxmlformats.org/officeDocument/2006/relationships/image" Target="../media/image76.png"/><Relationship Id="rId29" Type="http://schemas.openxmlformats.org/officeDocument/2006/relationships/image" Target="../media/image77.png"/><Relationship Id="rId30" Type="http://schemas.openxmlformats.org/officeDocument/2006/relationships/image" Target="../media/image78.png"/><Relationship Id="rId31" Type="http://schemas.openxmlformats.org/officeDocument/2006/relationships/image" Target="../media/image7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jpeg"/><Relationship Id="rId8" Type="http://schemas.openxmlformats.org/officeDocument/2006/relationships/hyperlink" Target="https://flexipath.vercel.app/" TargetMode="External"/><Relationship Id="rId9" Type="http://schemas.openxmlformats.org/officeDocument/2006/relationships/hyperlink" Target="https://flexipath.vercel.app/simulator.html?demo=1" TargetMode="External"/><Relationship Id="rId10" Type="http://schemas.openxmlformats.org/officeDocument/2006/relationships/hyperlink" Target="https://flexipath.vercel.app/vide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101.png"/><Relationship Id="rId11" Type="http://schemas.openxmlformats.org/officeDocument/2006/relationships/image" Target="../media/image102.png"/><Relationship Id="rId12" Type="http://schemas.openxmlformats.org/officeDocument/2006/relationships/image" Target="../media/image10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hyperlink" Target="https://flexipath.vercel.app/simulator.html?demo=1" TargetMode="External"/><Relationship Id="rId11" Type="http://schemas.openxmlformats.org/officeDocument/2006/relationships/hyperlink" Target="https://flexipath.vercel.app/video" TargetMode="External"/><Relationship Id="rId12" Type="http://schemas.openxmlformats.org/officeDocument/2006/relationships/hyperlink" Target="https://flexipath.vercel.app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85086" y="721146"/>
            <a:ext cx="10427330" cy="2441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—</a:t>
            </a:r>
          </a:p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predictive, traffic-aware connectivity for moving users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13852" y="3403836"/>
            <a:ext cx="7550708" cy="1438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session alive across Wi-Fi, 5G,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 satellite and wired links by predicting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handover instead of reacting to the failure.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5138034"/>
            <a:ext cx="8936182" cy="229572"/>
          </a:xfrm>
          <a:custGeom>
            <a:avLst/>
            <a:gdLst/>
            <a:ahLst/>
            <a:cxnLst/>
            <a:rect r="r" b="b" t="t" l="l"/>
            <a:pathLst>
              <a:path h="229572" w="8936182">
                <a:moveTo>
                  <a:pt x="0" y="0"/>
                </a:moveTo>
                <a:lnTo>
                  <a:pt x="8936182" y="0"/>
                </a:lnTo>
                <a:lnTo>
                  <a:pt x="8936182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557793" y="5662682"/>
            <a:ext cx="3156606" cy="49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09"/>
              </a:lnSpc>
              <a:spcBef>
                <a:spcPct val="0"/>
              </a:spcBef>
            </a:pPr>
            <a:r>
              <a:rPr lang="en-US" b="true" sz="2970" spc="-29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TEAM TAROT CLUB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7455" y="6193854"/>
            <a:ext cx="2190414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73"/>
              </a:lnSpc>
              <a:spcBef>
                <a:spcPct val="0"/>
              </a:spcBef>
            </a:pPr>
            <a:r>
              <a:rPr lang="en-US" sz="2351" spc="-22" strike="noStrike" u="none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 Ain University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7042753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22"/>
              </a:lnSpc>
              <a:spcBef>
                <a:spcPct val="0"/>
              </a:spcBef>
            </a:pPr>
            <a:r>
              <a:rPr lang="en-US" b="true" sz="2387" spc="-23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EDGE GROUP CHALLENGE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9359" y="7463898"/>
            <a:ext cx="4286250" cy="7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Advanced Technology</a:t>
            </a:r>
          </a:p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Pioneers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53244" y="5564382"/>
            <a:ext cx="218756" cy="4296271"/>
          </a:xfrm>
          <a:custGeom>
            <a:avLst/>
            <a:gdLst/>
            <a:ahLst/>
            <a:cxnLst/>
            <a:rect r="r" b="b" t="t" l="l"/>
            <a:pathLst>
              <a:path h="4296271" w="218756">
                <a:moveTo>
                  <a:pt x="0" y="0"/>
                </a:moveTo>
                <a:lnTo>
                  <a:pt x="218756" y="0"/>
                </a:lnTo>
                <a:lnTo>
                  <a:pt x="218756" y="4296270"/>
                </a:lnTo>
                <a:lnTo>
                  <a:pt x="0" y="42962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4940369" y="5630977"/>
            <a:ext cx="1560727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Fuad Ahamed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3135" y="5963097"/>
            <a:ext cx="4284107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system architecture and software developer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28582" y="6519566"/>
            <a:ext cx="2739473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Mohameden Sidi ahmed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20836" y="6866371"/>
            <a:ext cx="3514054" cy="59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and protocols research,</a:t>
            </a:r>
          </a:p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QoS/QoE guidelines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41157" y="7724434"/>
            <a:ext cx="1481978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Reema Awad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635" y="8055998"/>
            <a:ext cx="3034200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experiments and data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40270" y="8613023"/>
            <a:ext cx="1570615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Nazer Alzaabi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924155" y="8944588"/>
            <a:ext cx="3182191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product, demo and presentation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25776" y="9516900"/>
            <a:ext cx="3020083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 b="true">
                <a:solidFill>
                  <a:srgbClr val="0F9FC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All members:</a:t>
            </a: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Al Ain University</a:t>
            </a:r>
          </a:p>
        </p:txBody>
      </p:sp>
      <p:sp>
        <p:nvSpPr>
          <p:cNvPr name="TextBox 20" id="20">
            <a:hlinkClick r:id="rId7"/>
          </p:cNvPr>
          <p:cNvSpPr txBox="true"/>
          <p:nvPr/>
        </p:nvSpPr>
        <p:spPr>
          <a:xfrm rot="0">
            <a:off x="563008" y="9085535"/>
            <a:ext cx="2635139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  <a:hlinkClick r:id="rId7"/>
              </a:rPr>
              <a:t>flexipath.vercel.app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9359" y="8699445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b="true" sz="2387" spc="-23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LIVE PROTOTYPE</a:t>
            </a:r>
          </a:p>
        </p:txBody>
      </p:sp>
      <p:sp>
        <p:nvSpPr>
          <p:cNvPr id="22" name="CTA site">
            <a:hlinkClick r:id="rId7"/>
          </p:cNvPr>
          <p:cNvSpPr/>
          <p:nvPr/>
        </p:nvSpPr>
        <p:spPr>
          <a:xfrm>
            <a:off x="11493500" y="80264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1965952" y="0"/>
            <a:ext cx="6322048" cy="10287000"/>
          </a:xfrm>
          <a:custGeom>
            <a:avLst/>
            <a:gdLst/>
            <a:ahLst/>
            <a:cxnLst/>
            <a:rect r="r" b="b" t="t" l="l"/>
            <a:pathLst>
              <a:path h="10287000" w="6322048">
                <a:moveTo>
                  <a:pt x="0" y="0"/>
                </a:moveTo>
                <a:lnTo>
                  <a:pt x="6322048" y="0"/>
                </a:lnTo>
                <a:lnTo>
                  <a:pt x="6322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3281340" cy="1716322"/>
          </a:xfrm>
          <a:custGeom>
            <a:avLst/>
            <a:gdLst/>
            <a:ahLst/>
            <a:cxnLst/>
            <a:rect r="r" b="b" t="t" l="l"/>
            <a:pathLst>
              <a:path h="1716322" w="3281340">
                <a:moveTo>
                  <a:pt x="0" y="0"/>
                </a:moveTo>
                <a:lnTo>
                  <a:pt x="3281340" y="0"/>
                </a:lnTo>
                <a:lnTo>
                  <a:pt x="3281340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5138034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7499343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482039" y="411851"/>
            <a:ext cx="8053129" cy="1049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7961" b="true">
                <a:solidFill>
                  <a:srgbClr val="FFFFFF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Executive summary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0375" y="1572172"/>
            <a:ext cx="14605000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FlexiPath keeps critical sessions alive without the power penalty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7793" y="2792100"/>
            <a:ext cx="155116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2495" y="2502832"/>
            <a:ext cx="8191931" cy="910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Today's stacks are break-before-make. A moving user loses the session,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TCP connection resets, and a drone whose command link goes silent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more than </a:t>
            </a:r>
            <a:r>
              <a:rPr lang="en-US" sz="2047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must stop and hover (3GPP TS 22.125 piloted-flight rule).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3866" y="4343367"/>
            <a:ext cx="194387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MECHANISM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05401" y="3933612"/>
            <a:ext cx="7901280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predicts a fading link, wakes and validates the next modem just in time, duplicates only critical traffic for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burst, switches with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gap, and keeps every session alive through a fixed anchor relay.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Modems sleep in DRX the rest of the time.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7502" y="6225972"/>
            <a:ext cx="1580311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EVIDENCE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07769" y="5560183"/>
            <a:ext cx="7664548" cy="171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1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60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paired simulated runs (scenarios A–H, 5 seeds, 4 speeds) against a legacy stack and two existing mechanisms (MPTCP/ATSSS reactive multipath and MPTCP-redundant/PDCP duplication).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the command link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100 %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flights in every scenario; the legacy stack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0 %;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reactive multipath failed in three scenarios; permanent duplication draws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2.1–2.6×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the power.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5731" y="8560402"/>
            <a:ext cx="175735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DELIVERED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939" y="7789188"/>
            <a:ext cx="6147531" cy="571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4–7 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percentage points of critical delivery per watt for FlexiPath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versus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for permanent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812831" y="8662716"/>
            <a:ext cx="7158352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working prototype (interactive 3D digital twin with a guided demo),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deterministic simulation with a headless benchmark, and a documented model with calibrated parameters.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simulated; no live-network measurements are claimed.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426574" y="2142670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3640352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5138034"/>
            <a:ext cx="11987828" cy="229572"/>
          </a:xfrm>
          <a:custGeom>
            <a:avLst/>
            <a:gdLst/>
            <a:ahLst/>
            <a:cxnLst/>
            <a:rect r="r" b="b" t="t" l="l"/>
            <a:pathLst>
              <a:path h="229572" w="11987828">
                <a:moveTo>
                  <a:pt x="0" y="0"/>
                </a:moveTo>
                <a:lnTo>
                  <a:pt x="11987828" y="0"/>
                </a:lnTo>
                <a:lnTo>
                  <a:pt x="11987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426574" y="7499343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956440" y="2142670"/>
            <a:ext cx="10248718" cy="4930326"/>
          </a:xfrm>
          <a:custGeom>
            <a:avLst/>
            <a:gdLst/>
            <a:ahLst/>
            <a:cxnLst/>
            <a:rect r="r" b="b" t="t" l="l"/>
            <a:pathLst>
              <a:path h="4930326" w="10248718">
                <a:moveTo>
                  <a:pt x="0" y="0"/>
                </a:moveTo>
                <a:lnTo>
                  <a:pt x="10248718" y="0"/>
                </a:lnTo>
                <a:lnTo>
                  <a:pt x="10248718" y="4930326"/>
                </a:lnTo>
                <a:lnTo>
                  <a:pt x="0" y="49303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101866" y="1497682"/>
            <a:ext cx="2832890" cy="1082267"/>
          </a:xfrm>
          <a:custGeom>
            <a:avLst/>
            <a:gdLst/>
            <a:ahLst/>
            <a:cxnLst/>
            <a:rect r="r" b="b" t="t" l="l"/>
            <a:pathLst>
              <a:path h="1082267" w="2832890">
                <a:moveTo>
                  <a:pt x="0" y="0"/>
                </a:moveTo>
                <a:lnTo>
                  <a:pt x="2832890" y="0"/>
                </a:lnTo>
                <a:lnTo>
                  <a:pt x="283289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19196" y="2142670"/>
            <a:ext cx="1542230" cy="1289974"/>
          </a:xfrm>
          <a:custGeom>
            <a:avLst/>
            <a:gdLst/>
            <a:ahLst/>
            <a:cxnLst/>
            <a:rect r="r" b="b" t="t" l="l"/>
            <a:pathLst>
              <a:path h="1289974" w="1542230">
                <a:moveTo>
                  <a:pt x="0" y="0"/>
                </a:moveTo>
                <a:lnTo>
                  <a:pt x="1542230" y="0"/>
                </a:lnTo>
                <a:lnTo>
                  <a:pt x="1542230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496548" y="510421"/>
            <a:ext cx="6602242" cy="18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8"/>
              </a:lnSpc>
            </a:pPr>
            <a:r>
              <a:rPr lang="en-US" sz="6800" spc="-6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problem and why it matters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2703" y="2679567"/>
            <a:ext cx="5344582" cy="1165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hand over. Sessions don't. Legacy break-before-make costs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3.8 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per wireless break.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2234" y="4110347"/>
            <a:ext cx="5391487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Dropped calls. Frozen streams.</a:t>
            </a:r>
          </a:p>
          <a:p>
            <a:pPr algn="l">
              <a:lnSpc>
                <a:spcPts val="3232"/>
              </a:lnSpc>
            </a:pP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silence, and a drone hovers.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4752" y="5164606"/>
            <a:ext cx="6139662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Emergency response, industrial automation, connected transport and defence can't wait.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6625" y="6173682"/>
            <a:ext cx="5952344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Two drones. One corridor. Dock → Wi-Fi 6 → 5G SA → LEO satellite.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C2, voice, video.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7280704"/>
            <a:ext cx="16778584" cy="229572"/>
          </a:xfrm>
          <a:custGeom>
            <a:avLst/>
            <a:gdLst/>
            <a:ahLst/>
            <a:cxnLst/>
            <a:rect r="r" b="b" t="t" l="l"/>
            <a:pathLst>
              <a:path h="229572" w="16778584">
                <a:moveTo>
                  <a:pt x="0" y="0"/>
                </a:moveTo>
                <a:lnTo>
                  <a:pt x="16778584" y="0"/>
                </a:lnTo>
                <a:lnTo>
                  <a:pt x="16778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728070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948649" y="8025990"/>
            <a:ext cx="1575747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Stable baseline mission prep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4806287" y="8025990"/>
            <a:ext cx="1574469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Local coverage on the move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487732" y="7280704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8927043" y="8025990"/>
            <a:ext cx="205037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Wide-area coverage at speed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497244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49384" y="8025990"/>
            <a:ext cx="201943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Global reach</a:t>
            </a:r>
          </a:p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beyond line of sight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8778386"/>
            <a:ext cx="16778584" cy="1300906"/>
          </a:xfrm>
          <a:custGeom>
            <a:avLst/>
            <a:gdLst/>
            <a:ahLst/>
            <a:cxnLst/>
            <a:rect r="r" b="b" t="t" l="l"/>
            <a:pathLst>
              <a:path h="1300906" w="16778584">
                <a:moveTo>
                  <a:pt x="0" y="0"/>
                </a:moveTo>
                <a:lnTo>
                  <a:pt x="16778584" y="0"/>
                </a:lnTo>
                <a:lnTo>
                  <a:pt x="16778584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2384227" y="9156215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 LINK (CRITICAL)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58330" y="9532207"/>
            <a:ext cx="258967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Command and control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654842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6322219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PUSH-TO-TALK VOICE (REAL-TIME)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6133" y="9532207"/>
            <a:ext cx="4039864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Clear, low-latency communications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528440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2162234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CAMERA UPLOADS (BULK)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7852" y="9532207"/>
            <a:ext cx="343820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High-throughput data transfer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662422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D1253B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 LEO SATELLITE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6883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 DOCK (WIRED)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741664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 WI-FI 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867180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 5G SA</a:t>
            </a:r>
          </a:p>
        </p:txBody>
      </p:sp>
      <p:sp>
        <p:nvSpPr>
          <p:cNvPr id="33" name="Scenario justification"/>
          <p:cNvSpPr txBox="1"/>
          <p:nvPr/>
        </p:nvSpPr>
        <p:spPr>
          <a:xfrm>
            <a:off x="546100" y="6934200"/>
            <a:ext cx="711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6F6F6"/>
                </a:solidFill>
                <a:latin typeface="Anantason Condensed"/>
              </a:rPr>
              <a:t>Why a drone C2 mission: </a:t>
            </a:r>
            <a:r>
              <a:rPr sz="1500" b="0">
                <a:solidFill>
                  <a:srgbClr val="F6F6F6"/>
                </a:solidFill>
                <a:latin typeface="Anantason Condensed"/>
              </a:rPr>
              <a:t>in EDGE’s domains a silent command link is a safety event, and 3GPP TS 22.125 gives a published pass/fail rule for it (hover after 300 ms of silence).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5332" y="437885"/>
            <a:ext cx="13723820" cy="179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85"/>
              </a:lnSpc>
            </a:pPr>
            <a:r>
              <a:rPr lang="en-US" sz="6985" spc="-68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Existing mechanisms we analysed (criterion 01)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64507" y="2793172"/>
            <a:ext cx="3259414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REACTIVE MULTIPATH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0714" y="3530748"/>
            <a:ext cx="4259021" cy="66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backup subflow (RFC 8684) and 3GPP ATSSS active-standby.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142" y="4706824"/>
            <a:ext cx="4116248" cy="100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Anchored session with a standby path; moves only after loss is confirmed and the standby modem must wake.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5330" y="5990729"/>
            <a:ext cx="4582938" cy="229572"/>
          </a:xfrm>
          <a:custGeom>
            <a:avLst/>
            <a:gdLst/>
            <a:ahLst/>
            <a:cxnLst/>
            <a:rect r="r" b="b" t="t" l="l"/>
            <a:pathLst>
              <a:path h="229572" w="4582938">
                <a:moveTo>
                  <a:pt x="0" y="0"/>
                </a:moveTo>
                <a:lnTo>
                  <a:pt x="4582938" y="0"/>
                </a:lnTo>
                <a:lnTo>
                  <a:pt x="458293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12053" y="6441873"/>
            <a:ext cx="1125166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3168" spc="-30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0.35 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1619" y="6881253"/>
            <a:ext cx="2168549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gap that breaches the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C2 budget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040708" y="642800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3576990" y="6441873"/>
            <a:ext cx="1274434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1.20 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576579" y="6881253"/>
            <a:ext cx="1315561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low power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consumption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436086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6848896" y="2793172"/>
            <a:ext cx="2952682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ALWAYS DUPLICATE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8881" y="3513375"/>
            <a:ext cx="3544677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redundant scheduler</a:t>
            </a:r>
          </a:p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PDCP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13565" y="4537513"/>
            <a:ext cx="4076359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protected packet is sent on two paths all the time.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5873598" y="5564382"/>
            <a:ext cx="4801694" cy="229572"/>
          </a:xfrm>
          <a:custGeom>
            <a:avLst/>
            <a:gdLst/>
            <a:ahLst/>
            <a:cxnLst/>
            <a:rect r="r" b="b" t="t" l="l"/>
            <a:pathLst>
              <a:path h="229572" w="4801694">
                <a:moveTo>
                  <a:pt x="0" y="0"/>
                </a:moveTo>
                <a:lnTo>
                  <a:pt x="4801694" y="0"/>
                </a:lnTo>
                <a:lnTo>
                  <a:pt x="480169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6009273" y="5899683"/>
            <a:ext cx="1826601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99–100 %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12694" y="6339062"/>
            <a:ext cx="1484496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critical delivery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(most reliable)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8050220" y="5783021"/>
            <a:ext cx="229694" cy="1508614"/>
          </a:xfrm>
          <a:custGeom>
            <a:avLst/>
            <a:gdLst/>
            <a:ahLst/>
            <a:cxnLst/>
            <a:rect r="r" b="b" t="t" l="l"/>
            <a:pathLst>
              <a:path h="1508614" w="22969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8307906" y="5899683"/>
            <a:ext cx="2349238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2.65–3.39 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06670" y="6339063"/>
            <a:ext cx="2472823" cy="8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 power consumption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49–100 % duplicate protected bytes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16253" y="7528869"/>
            <a:ext cx="3807533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Still fails when both paths die together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(a shared radio shadow).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883110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1101866" y="2569017"/>
            <a:ext cx="3489158" cy="863627"/>
          </a:xfrm>
          <a:custGeom>
            <a:avLst/>
            <a:gdLst/>
            <a:ahLst/>
            <a:cxnLst/>
            <a:rect r="r" b="b" t="t" l="l"/>
            <a:pathLst>
              <a:path h="863627" w="3489158">
                <a:moveTo>
                  <a:pt x="0" y="0"/>
                </a:moveTo>
                <a:lnTo>
                  <a:pt x="3489158" y="0"/>
                </a:lnTo>
                <a:lnTo>
                  <a:pt x="348915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1169507" y="2823481"/>
            <a:ext cx="3271865" cy="27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b="true" sz="1986" spc="-19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COMMON SHORTCOMINGS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8034" y="3467930"/>
            <a:ext cx="2410707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looks ahead.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1886" y="4100832"/>
            <a:ext cx="3025436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the signal trend.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84772" y="4757448"/>
            <a:ext cx="2736839" cy="625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what is known about the route.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384516" y="5736403"/>
            <a:ext cx="2762503" cy="94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distinction between a command packet and a video frame.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26574" y="8352038"/>
            <a:ext cx="3062584" cy="1727254"/>
          </a:xfrm>
          <a:custGeom>
            <a:avLst/>
            <a:gdLst/>
            <a:ahLst/>
            <a:cxnLst/>
            <a:rect r="r" b="b" t="t" l="l"/>
            <a:pathLst>
              <a:path h="1727254" w="3062584">
                <a:moveTo>
                  <a:pt x="0" y="0"/>
                </a:moveTo>
                <a:lnTo>
                  <a:pt x="3062584" y="0"/>
                </a:lnTo>
                <a:lnTo>
                  <a:pt x="3062584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4" id="34"/>
          <p:cNvSpPr txBox="true"/>
          <p:nvPr/>
        </p:nvSpPr>
        <p:spPr>
          <a:xfrm rot="0">
            <a:off x="889270" y="8791205"/>
            <a:ext cx="2083371" cy="971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b="true" sz="3577" spc="-34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WE ADAPT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3259464" y="8352038"/>
            <a:ext cx="11987828" cy="1727254"/>
          </a:xfrm>
          <a:custGeom>
            <a:avLst/>
            <a:gdLst/>
            <a:ahLst/>
            <a:cxnLst/>
            <a:rect r="r" b="b" t="t" l="l"/>
            <a:pathLst>
              <a:path h="1727254" w="11987828">
                <a:moveTo>
                  <a:pt x="0" y="0"/>
                </a:moveTo>
                <a:lnTo>
                  <a:pt x="11987828" y="0"/>
                </a:lnTo>
                <a:lnTo>
                  <a:pt x="11987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3777258" y="8663599"/>
            <a:ext cx="11037094" cy="111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anchored session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multipath).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duplication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PDCP) but confine it to a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 around a predicted failure.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route knowledge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classes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.</a:t>
            </a:r>
          </a:p>
        </p:txBody>
      </p:sp>
      <p:sp>
        <p:nvSpPr>
          <p:cNvPr id="37" name="References"/>
          <p:cNvSpPr txBox="1"/>
          <p:nvPr/>
        </p:nvSpPr>
        <p:spPr>
          <a:xfrm>
            <a:off x="635000" y="9867900"/>
            <a:ext cx="1498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D6E2"/>
                </a:solidFill>
                <a:latin typeface="Anantason Condensed"/>
              </a:rPr>
              <a:t>References: </a:t>
            </a:r>
            <a:r>
              <a:rPr sz="1300" b="0">
                <a:solidFill>
                  <a:srgbClr val="C9D6E2"/>
                </a:solidFill>
                <a:latin typeface="Anantason Condensed"/>
              </a:rPr>
              <a:t>RFC 8684, Multipath TCP v1 (IETF, 2020) · 3GPP TS 23.501 §5.32, ATSSS · 3GPP TS 38.323, PDCP duplication · 3GPP TS 22.125 §7.2, UAV C2 KPIs · full analysis: docs/existing-mechanisms.md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98060" y="289988"/>
            <a:ext cx="9845526" cy="91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7"/>
              </a:lnSpc>
            </a:pPr>
            <a:r>
              <a:rPr lang="en-US" sz="6618" spc="-6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FlexiPath mechanism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573" y="1170473"/>
            <a:ext cx="2694214" cy="46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3"/>
              </a:lnSpc>
            </a:pPr>
            <a:r>
              <a:rPr lang="en-US" sz="3440" spc="33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(criterion 02)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70327" y="3791005"/>
            <a:ext cx="2498873" cy="1453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sz="3577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Continuous, zero-gap resilience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48622" y="1924030"/>
            <a:ext cx="1531292" cy="1082267"/>
          </a:xfrm>
          <a:custGeom>
            <a:avLst/>
            <a:gdLst/>
            <a:ahLst/>
            <a:cxnLst/>
            <a:rect r="r" b="b" t="t" l="l"/>
            <a:pathLst>
              <a:path h="1082267" w="1531292">
                <a:moveTo>
                  <a:pt x="0" y="0"/>
                </a:moveTo>
                <a:lnTo>
                  <a:pt x="1531292" y="0"/>
                </a:lnTo>
                <a:lnTo>
                  <a:pt x="153129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351818" y="192403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077700" y="1943100"/>
            <a:ext cx="3143250" cy="132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the primary link ten times a second.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Other modems sleep in DRX at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1.2 W and report signal once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per cycle.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20622" y="4066699"/>
            <a:ext cx="656268" cy="1082267"/>
          </a:xfrm>
          <a:custGeom>
            <a:avLst/>
            <a:gdLst/>
            <a:ahLst/>
            <a:cxnLst/>
            <a:rect r="r" b="b" t="t" l="l"/>
            <a:pathLst>
              <a:path h="1082267" w="656268">
                <a:moveTo>
                  <a:pt x="0" y="0"/>
                </a:moveTo>
                <a:lnTo>
                  <a:pt x="656268" y="0"/>
                </a:lnTo>
                <a:lnTo>
                  <a:pt x="65626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421545" y="4175830"/>
            <a:ext cx="3536888" cy="1803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Extrapolate the signal trend to where packet loss reaches 15 %.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Arm the loop under 8 s; trigger under 3 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 warns 8 s ahead of a known shadow.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351818" y="5990729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1751374" y="6871720"/>
            <a:ext cx="3581369" cy="1500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Wake the best alternate modem to a warm probe (1.8 W) and validate it with 64-byte heartbeats.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RTT and loss before it carries anything.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529866" y="5783021"/>
            <a:ext cx="1750048" cy="1082267"/>
          </a:xfrm>
          <a:custGeom>
            <a:avLst/>
            <a:gdLst/>
            <a:ahLst/>
            <a:cxnLst/>
            <a:rect r="r" b="b" t="t" l="l"/>
            <a:pathLst>
              <a:path h="1082267" w="1750048">
                <a:moveTo>
                  <a:pt x="0" y="0"/>
                </a:moveTo>
                <a:lnTo>
                  <a:pt x="1750048" y="0"/>
                </a:lnTo>
                <a:lnTo>
                  <a:pt x="175004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6404299" y="8053877"/>
            <a:ext cx="4644477" cy="1699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a 400 ms burst (3.4 W) send critical traffic, and real-time traffic if its loss leaves budget, on both paths.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receiver keeps the first copy of each sequence number and discards the late duplicate, so head-of-line delay is 0 ms.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Bulk traffic is never copied, only paced.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350708" y="2548797"/>
            <a:ext cx="2949806" cy="132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Make the prepared path primary with a 0 ms gap and put the old radio back to sleep.</a:t>
            </a:r>
          </a:p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Sessions stay intact through a tunnel to a fixed anchor relay.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873598" y="4066699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304424" y="5852967"/>
            <a:ext cx="2810929" cy="149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trend that reverses releases the prediction at no cost.</a:t>
            </a:r>
          </a:p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 unpredictable outage falls back to a fast failover (160 ms in our model).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8050220" y="1279043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486978" y="173737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445598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897994" y="316815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217330" y="5138034"/>
            <a:ext cx="1542230" cy="1300906"/>
          </a:xfrm>
          <a:custGeom>
            <a:avLst/>
            <a:gdLst/>
            <a:ahLst/>
            <a:cxnLst/>
            <a:rect r="r" b="b" t="t" l="l"/>
            <a:pathLst>
              <a:path h="1300906" w="1542230">
                <a:moveTo>
                  <a:pt x="0" y="0"/>
                </a:moveTo>
                <a:lnTo>
                  <a:pt x="1542230" y="0"/>
                </a:lnTo>
                <a:lnTo>
                  <a:pt x="154223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5674127" y="5457400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8050220" y="5990729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8406611" y="6466476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05541" y="401866"/>
            <a:ext cx="5702980" cy="103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22"/>
              </a:lnSpc>
            </a:pPr>
            <a:r>
              <a:rPr lang="en-US" sz="7822" spc="-15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System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0978" y="1587233"/>
            <a:ext cx="683817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-5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engine. Multiple radios. Continuous sessions.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2843828" cy="5148966"/>
          </a:xfrm>
          <a:custGeom>
            <a:avLst/>
            <a:gdLst/>
            <a:ahLst/>
            <a:cxnLst/>
            <a:rect r="r" b="b" t="t" l="l"/>
            <a:pathLst>
              <a:path h="5148966" w="2843828">
                <a:moveTo>
                  <a:pt x="0" y="0"/>
                </a:moveTo>
                <a:lnTo>
                  <a:pt x="2843828" y="0"/>
                </a:lnTo>
                <a:lnTo>
                  <a:pt x="2843828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988918" y="2362951"/>
            <a:ext cx="1676192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APPLICATIONS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330" y="2776725"/>
            <a:ext cx="2406316" cy="1519546"/>
          </a:xfrm>
          <a:custGeom>
            <a:avLst/>
            <a:gdLst/>
            <a:ahLst/>
            <a:cxnLst/>
            <a:rect r="r" b="b" t="t" l="l"/>
            <a:pathLst>
              <a:path h="1519546" w="2406316">
                <a:moveTo>
                  <a:pt x="0" y="0"/>
                </a:moveTo>
                <a:lnTo>
                  <a:pt x="2406316" y="0"/>
                </a:lnTo>
                <a:lnTo>
                  <a:pt x="2406316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433766" y="3146115"/>
            <a:ext cx="87490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C2 link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(critical)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5330" y="4066699"/>
            <a:ext cx="2406316" cy="1727254"/>
          </a:xfrm>
          <a:custGeom>
            <a:avLst/>
            <a:gdLst/>
            <a:ahLst/>
            <a:cxnLst/>
            <a:rect r="r" b="b" t="t" l="l"/>
            <a:pathLst>
              <a:path h="1727254" w="2406316">
                <a:moveTo>
                  <a:pt x="0" y="0"/>
                </a:moveTo>
                <a:lnTo>
                  <a:pt x="2406316" y="0"/>
                </a:lnTo>
                <a:lnTo>
                  <a:pt x="240631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899284" y="4591956"/>
            <a:ext cx="18554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push-to-talk voice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(real-time)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5330" y="5564382"/>
            <a:ext cx="2406316" cy="1508614"/>
          </a:xfrm>
          <a:custGeom>
            <a:avLst/>
            <a:gdLst/>
            <a:ahLst/>
            <a:cxnLst/>
            <a:rect r="r" b="b" t="t" l="l"/>
            <a:pathLst>
              <a:path h="1508614" w="2406316">
                <a:moveTo>
                  <a:pt x="0" y="0"/>
                </a:moveTo>
                <a:lnTo>
                  <a:pt x="2406316" y="0"/>
                </a:lnTo>
                <a:lnTo>
                  <a:pt x="240631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835234" y="6022735"/>
            <a:ext cx="19835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camera and survey</a:t>
            </a:r>
          </a:p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uploads (bulk)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040708" y="342171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3040708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3040708" y="5783021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3696976" y="2142670"/>
            <a:ext cx="6540804" cy="4722618"/>
          </a:xfrm>
          <a:custGeom>
            <a:avLst/>
            <a:gdLst/>
            <a:ahLst/>
            <a:cxnLst/>
            <a:rect r="r" b="b" t="t" l="l"/>
            <a:pathLst>
              <a:path h="4722618" w="6540804">
                <a:moveTo>
                  <a:pt x="0" y="0"/>
                </a:moveTo>
                <a:lnTo>
                  <a:pt x="6540804" y="0"/>
                </a:lnTo>
                <a:lnTo>
                  <a:pt x="654080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3696976" y="2142670"/>
            <a:ext cx="6540804" cy="863627"/>
          </a:xfrm>
          <a:custGeom>
            <a:avLst/>
            <a:gdLst/>
            <a:ahLst/>
            <a:cxnLst/>
            <a:rect r="r" b="b" t="t" l="l"/>
            <a:pathLst>
              <a:path h="863627" w="6540804">
                <a:moveTo>
                  <a:pt x="0" y="0"/>
                </a:moveTo>
                <a:lnTo>
                  <a:pt x="6540804" y="0"/>
                </a:lnTo>
                <a:lnTo>
                  <a:pt x="654080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249131" y="2362951"/>
            <a:ext cx="3508668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ENGINE ON VEHICLE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3915732" y="2776725"/>
            <a:ext cx="2187560" cy="1945894"/>
          </a:xfrm>
          <a:custGeom>
            <a:avLst/>
            <a:gdLst/>
            <a:ahLst/>
            <a:cxnLst/>
            <a:rect r="r" b="b" t="t" l="l"/>
            <a:pathLst>
              <a:path h="1945894" w="2187560">
                <a:moveTo>
                  <a:pt x="0" y="0"/>
                </a:moveTo>
                <a:lnTo>
                  <a:pt x="2187560" y="0"/>
                </a:lnTo>
                <a:lnTo>
                  <a:pt x="2187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4375690" y="3447332"/>
            <a:ext cx="1396318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monitor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predictor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092354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6402571" y="3643123"/>
            <a:ext cx="1192680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path scorer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050220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8096677" y="3342201"/>
            <a:ext cx="1873189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replication, pacing, reordering buffer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3915732" y="4711687"/>
            <a:ext cx="3051646" cy="1934962"/>
          </a:xfrm>
          <a:custGeom>
            <a:avLst/>
            <a:gdLst/>
            <a:ahLst/>
            <a:cxnLst/>
            <a:rect r="r" b="b" t="t" l="l"/>
            <a:pathLst>
              <a:path h="1934962" w="3051646">
                <a:moveTo>
                  <a:pt x="0" y="0"/>
                </a:moveTo>
                <a:lnTo>
                  <a:pt x="3051646" y="0"/>
                </a:lnTo>
                <a:lnTo>
                  <a:pt x="3051646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448288" y="5224807"/>
            <a:ext cx="2143732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 power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DRX / warm probe / 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burst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956440" y="4711687"/>
            <a:ext cx="3062584" cy="1934962"/>
          </a:xfrm>
          <a:custGeom>
            <a:avLst/>
            <a:gdLst/>
            <a:ahLst/>
            <a:cxnLst/>
            <a:rect r="r" b="b" t="t" l="l"/>
            <a:pathLst>
              <a:path h="1934962" w="3062584">
                <a:moveTo>
                  <a:pt x="0" y="0"/>
                </a:moveTo>
                <a:lnTo>
                  <a:pt x="3062584" y="0"/>
                </a:lnTo>
                <a:lnTo>
                  <a:pt x="3062584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7780717" y="5510667"/>
            <a:ext cx="149034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6311110" y="6854356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426574" y="7280704"/>
            <a:ext cx="12425340" cy="1727254"/>
          </a:xfrm>
          <a:custGeom>
            <a:avLst/>
            <a:gdLst/>
            <a:ahLst/>
            <a:cxnLst/>
            <a:rect r="r" b="b" t="t" l="l"/>
            <a:pathLst>
              <a:path h="1727254" w="12425340">
                <a:moveTo>
                  <a:pt x="0" y="0"/>
                </a:moveTo>
                <a:lnTo>
                  <a:pt x="12425340" y="0"/>
                </a:lnTo>
                <a:lnTo>
                  <a:pt x="12425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1" id="31"/>
          <p:cNvSpPr txBox="true"/>
          <p:nvPr/>
        </p:nvSpPr>
        <p:spPr>
          <a:xfrm rot="0">
            <a:off x="4477532" y="7492117"/>
            <a:ext cx="3843143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EXPLAINABILITY AND </a:t>
            </a: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DASHBOARD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0493" y="8327190"/>
            <a:ext cx="114516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current path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249229" y="8327190"/>
            <a:ext cx="132348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time-to-failure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11056" y="8327190"/>
            <a:ext cx="1418189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alternate score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97556" y="8327190"/>
            <a:ext cx="84135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radio tier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846774" y="8327190"/>
            <a:ext cx="587916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426574" y="8997026"/>
            <a:ext cx="12425340" cy="1082267"/>
          </a:xfrm>
          <a:custGeom>
            <a:avLst/>
            <a:gdLst/>
            <a:ahLst/>
            <a:cxnLst/>
            <a:rect r="r" b="b" t="t" l="l"/>
            <a:pathLst>
              <a:path h="1082267" w="12425340">
                <a:moveTo>
                  <a:pt x="0" y="0"/>
                </a:moveTo>
                <a:lnTo>
                  <a:pt x="12425340" y="0"/>
                </a:lnTo>
                <a:lnTo>
                  <a:pt x="1242534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8" id="38"/>
          <p:cNvSpPr txBox="true"/>
          <p:nvPr/>
        </p:nvSpPr>
        <p:spPr>
          <a:xfrm rot="0">
            <a:off x="2872156" y="9194270"/>
            <a:ext cx="7500201" cy="3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1"/>
              </a:lnSpc>
            </a:pPr>
            <a:r>
              <a:rPr lang="en-US" b="true" sz="1986" spc="-39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DESIGNED TO SIT UNDER ANY COMMAND-AND-CONTROL APPLICATION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687968" y="9546972"/>
            <a:ext cx="3868576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needs no change to the application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10883110" y="2569017"/>
            <a:ext cx="2187560" cy="4722618"/>
          </a:xfrm>
          <a:custGeom>
            <a:avLst/>
            <a:gdLst/>
            <a:ahLst/>
            <a:cxnLst/>
            <a:rect r="r" b="b" t="t" l="l"/>
            <a:pathLst>
              <a:path h="4722618" w="2187560">
                <a:moveTo>
                  <a:pt x="0" y="0"/>
                </a:moveTo>
                <a:lnTo>
                  <a:pt x="2187560" y="0"/>
                </a:lnTo>
                <a:lnTo>
                  <a:pt x="2187560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41"/>
          <p:cNvSpPr txBox="true"/>
          <p:nvPr/>
        </p:nvSpPr>
        <p:spPr>
          <a:xfrm rot="0">
            <a:off x="11112308" y="3003986"/>
            <a:ext cx="1738736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 RELAY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218089" y="3598086"/>
            <a:ext cx="1527175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fixed address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the operator's network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0450" y="4968622"/>
            <a:ext cx="1342453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vehicle's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tunnel rebinds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across radios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4749" y="6293976"/>
            <a:ext cx="1473855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remote side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never changes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0226842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3497244" y="1705390"/>
            <a:ext cx="4145426" cy="6438940"/>
          </a:xfrm>
          <a:custGeom>
            <a:avLst/>
            <a:gdLst/>
            <a:ahLst/>
            <a:cxnLst/>
            <a:rect r="r" b="b" t="t" l="l"/>
            <a:pathLst>
              <a:path h="6438940" w="4145426">
                <a:moveTo>
                  <a:pt x="0" y="0"/>
                </a:moveTo>
                <a:lnTo>
                  <a:pt x="4145426" y="0"/>
                </a:lnTo>
                <a:lnTo>
                  <a:pt x="414542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7" id="47"/>
          <p:cNvSpPr txBox="true"/>
          <p:nvPr/>
        </p:nvSpPr>
        <p:spPr>
          <a:xfrm rot="0">
            <a:off x="15122032" y="1964788"/>
            <a:ext cx="843571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RADIOS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3923818" y="2350377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9" id="49"/>
          <p:cNvSpPr txBox="true"/>
          <p:nvPr/>
        </p:nvSpPr>
        <p:spPr>
          <a:xfrm rot="0">
            <a:off x="14157233" y="2754533"/>
            <a:ext cx="1145466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wired dock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port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790820" y="2634202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923818" y="3640352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2" id="52"/>
          <p:cNvSpPr txBox="true"/>
          <p:nvPr/>
        </p:nvSpPr>
        <p:spPr>
          <a:xfrm rot="0">
            <a:off x="14375310" y="4305800"/>
            <a:ext cx="70931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Wi-Fi 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5790820" y="4019799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13923818" y="5138034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5" id="55"/>
          <p:cNvSpPr txBox="true"/>
          <p:nvPr/>
        </p:nvSpPr>
        <p:spPr>
          <a:xfrm rot="0">
            <a:off x="15790820" y="5420457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13923818" y="6428009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14313933" y="6911325"/>
            <a:ext cx="832067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satellite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790820" y="6821116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278488" y="2776725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13278488" y="4285339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13278488" y="5564382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2" id="62"/>
          <p:cNvSpPr/>
          <p:nvPr/>
        </p:nvSpPr>
        <p:spPr>
          <a:xfrm flipH="false" flipV="false" rot="0">
            <a:off x="13278488" y="7062064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3" id="63"/>
          <p:cNvSpPr/>
          <p:nvPr/>
        </p:nvSpPr>
        <p:spPr>
          <a:xfrm flipH="false" flipV="false" rot="0">
            <a:off x="12840976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4" id="64"/>
          <p:cNvSpPr txBox="true"/>
          <p:nvPr/>
        </p:nvSpPr>
        <p:spPr>
          <a:xfrm rot="0">
            <a:off x="4076881" y="7875365"/>
            <a:ext cx="4687308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decision is recorded with values at that tick: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89692" y="8327190"/>
            <a:ext cx="64887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reason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406580" y="5706458"/>
            <a:ext cx="646773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5G SA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063899" y="8327190"/>
            <a:ext cx="49124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trend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0201" y="479553"/>
            <a:ext cx="14236978" cy="851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5"/>
              </a:lnSpc>
            </a:pPr>
            <a:r>
              <a:rPr lang="en-US" sz="6385" spc="-127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Prototype, simulation and model (criterion 03)</a:t>
            </a:r>
          </a:p>
        </p:txBody>
      </p:sp>
      <p:sp>
        <p:nvSpPr>
          <p:cNvPr name="TextBox 4" id="4">
            <a:hlinkClick r:id="rId8"/>
          </p:cNvPr>
          <p:cNvSpPr txBox="true"/>
          <p:nvPr/>
        </p:nvSpPr>
        <p:spPr>
          <a:xfrm rot="0">
            <a:off x="552659" y="1862178"/>
            <a:ext cx="3670083" cy="492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3755" spc="-36" b="true">
                <a:solidFill>
                  <a:srgbClr val="0CC0D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  <a:hlinkClick r:id="rId8"/>
              </a:rPr>
              <a:t>flexipath.vercel.app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9359" y="2421743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interactive 3D digital twin with mission and advanced views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3214004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69946" y="3600854"/>
            <a:ext cx="1941294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guided demo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4108557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pauses at each real decision, explains what happened and which panel shows it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26574" y="4919394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49943" y="5197303"/>
            <a:ext cx="5461000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deterministic 10 Hz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9359" y="5655220"/>
            <a:ext cx="5089922" cy="673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seeded random streams with fading, capacity, loss, RTT, jitter, TCP and radio models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6428009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556032" y="6650010"/>
            <a:ext cx="3332743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headless benchmark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9359" y="7164929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scenarios A–H × 5 seeds × 4 speeds = 160 paired runs per stack, plus baselines and ablations; exported as CSV with 95 % CIs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6574" y="8133399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562726" y="8472372"/>
            <a:ext cx="2663345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published model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9359" y="8972230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parameters checked against published measurements; the 100 ms modem wake tested at 260 ms as a sensitivity run</a:t>
            </a:r>
          </a:p>
        </p:txBody>
      </p:sp>
      <p:sp>
        <p:nvSpPr>
          <p:cNvPr name="Freeform 18" id="18" descr="FlexiPath simulator, Mission view: the FlexiPath and legacy drones on the same seed, with the decision loop, decision card and scoreboard"/>
          <p:cNvSpPr/>
          <p:nvPr/>
        </p:nvSpPr>
        <p:spPr>
          <a:xfrm flipH="false" flipV="false" rot="0">
            <a:off x="6305550" y="1809750"/>
            <a:ext cx="11620500" cy="6536531"/>
          </a:xfrm>
          <a:custGeom>
            <a:avLst/>
            <a:gdLst/>
            <a:ahLst/>
            <a:cxnLst/>
            <a:rect r="r" b="b" t="t" l="l"/>
            <a:pathLst>
              <a:path h="6536531" w="11620500">
                <a:moveTo>
                  <a:pt x="0" y="0"/>
                </a:moveTo>
                <a:lnTo>
                  <a:pt x="11620500" y="0"/>
                </a:lnTo>
                <a:lnTo>
                  <a:pt x="11620500" y="6536531"/>
                </a:lnTo>
                <a:lnTo>
                  <a:pt x="0" y="65365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6286500" y="8534400"/>
            <a:ext cx="116205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Mission view of the live prototype: the FlexiPath drone (cyan) and the legacy drone (crimson) fly the same seed and radio conditions, with the decision loop, the decision card and the scoreboard around the twin.</a:t>
            </a:r>
          </a:p>
        </p:txBody>
      </p:sp>
      <p:sp>
        <p:nvSpPr>
          <p:cNvPr id="20" name="Links"/>
          <p:cNvSpPr txBox="1"/>
          <p:nvPr/>
        </p:nvSpPr>
        <p:spPr>
          <a:xfrm>
            <a:off x="6286500" y="9194800"/>
            <a:ext cx="116205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D7E3EE"/>
                </a:solidFill>
                <a:latin typeface="Anantason Condensed"/>
              </a:rPr>
              <a:t>▶  Try it yourself:  </a:t>
            </a:r>
            <a:r>
              <a:rPr sz="1700" b="1">
                <a:solidFill>
                  <a:srgbClr val="0CC0DF"/>
                </a:solidFill>
                <a:latin typeface="Anantason Condensed Bold"/>
                <a:hlinkClick r:id="rId8"/>
              </a:rPr>
              <a:t>flexipath.vercel.app</a:t>
            </a:r>
            <a:r>
              <a:rPr sz="1700" b="0">
                <a:solidFill>
                  <a:srgbClr val="D7E3EE"/>
                </a:solidFill>
                <a:latin typeface="Anantason Condensed"/>
              </a:rPr>
              <a:t>   ·   the guided demo, the simulator and the 2-minute video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99537" y="599468"/>
            <a:ext cx="16303312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Results against the existing mechanisms (criterion 04)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6039" y="1504693"/>
            <a:ext cx="8653146" cy="39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575" spc="-51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Paired means over 20 runs per scenario, same seeds for every stack.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73094" y="2643071"/>
            <a:ext cx="1626549" cy="76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3"/>
              </a:lnSpc>
            </a:pPr>
            <a:r>
              <a:rPr lang="en-US" sz="5893" spc="-117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16523" y="2470875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command and control in all scenarios with the piloted</a:t>
            </a:r>
          </a:p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rule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3640352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562150" y="4229131"/>
            <a:ext cx="272098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1.3-4.6 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16523" y="4031440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acts before the path fails, versus 0.3–0.5 s after for reactive multipath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6574" y="5138034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569246" y="5834211"/>
            <a:ext cx="2011369" cy="614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750" spc="-9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25-40%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16523" y="5537524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Fewer critical packets lost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 for about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0.1 W more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6574" y="6635716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559893" y="7281202"/>
            <a:ext cx="2946606" cy="592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4.0-7.1 pp/W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16523" y="6998425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Reliability per extra watt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(24.5 in D)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8133399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565807" y="8702200"/>
            <a:ext cx="2355278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4.5-21×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16523" y="8480150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Less productive: always duplicate over FlexiPath delivers only</a:t>
            </a:r>
          </a:p>
          <a:p>
            <a:pPr algn="l">
              <a:lnSpc>
                <a:spcPts val="3017"/>
              </a:lnSpc>
            </a:pPr>
            <a:r>
              <a:rPr lang="en-US" sz="2321" spc="-46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 pp/W</a:t>
            </a:r>
          </a:p>
        </p:txBody>
      </p:sp>
      <p:sp>
        <p:nvSpPr>
          <p:cNvPr name="Freeform 19" id="19" descr="Critical packets delivered against mean radio power for always duplicate, FlexiPath and reactive multipath in scenarios A to D, G and H"/>
          <p:cNvSpPr/>
          <p:nvPr/>
        </p:nvSpPr>
        <p:spPr>
          <a:xfrm flipH="false" flipV="false" rot="0">
            <a:off x="8382000" y="2495550"/>
            <a:ext cx="9144000" cy="5372100"/>
          </a:xfrm>
          <a:custGeom>
            <a:avLst/>
            <a:gdLst/>
            <a:ahLst/>
            <a:cxnLst/>
            <a:rect r="r" b="b" t="t" l="l"/>
            <a:pathLst>
              <a:path h="5372100" w="9144000">
                <a:moveTo>
                  <a:pt x="0" y="0"/>
                </a:moveTo>
                <a:lnTo>
                  <a:pt x="9144000" y="0"/>
                </a:lnTo>
                <a:lnTo>
                  <a:pt x="9144000" y="5372100"/>
                </a:lnTo>
                <a:lnTo>
                  <a:pt x="0" y="5372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382000" y="8058150"/>
            <a:ext cx="9144000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Reliability against radio power, scenarios A–D, G and H (paired means). FlexiPath sits between the two existing designs: 0.6–1.2 points more critical delivery than reactive multipath for 0.05–0.18 W more, and 2.1–2.6× less power than always duplicate.</a:t>
            </a:r>
          </a:p>
        </p:txBody>
      </p:sp>
      <p:sp>
        <p:nvSpPr>
          <p:cNvPr id="21" name="Per-scenario results"/>
          <p:cNvSpPr txBox="1"/>
          <p:nvPr/>
        </p:nvSpPr>
        <p:spPr>
          <a:xfrm>
            <a:off x="8382000" y="889000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D7E3EE"/>
                </a:solidFill>
                <a:latin typeface="Arimo"/>
              </a:rPr>
              <a:t>Flights that kept C2 under the piloted 300 ms rule </a:t>
            </a:r>
            <a:r>
              <a:rPr sz="1350" b="0">
                <a:solidFill>
                  <a:srgbClr val="D7E3EE"/>
                </a:solidFill>
                <a:latin typeface="Arimo"/>
              </a:rPr>
              <a:t>(Legacy · Reactive multipath · Always duplicate · FlexiPath): A, B, C  0 · 100 · 100 · 100  —  D  0 · 0 · 100 · 100  —  G, shared radio shadow  0 · 0 · 40 · 100  —  H, map out of date  0 · 0 · 100 · 100.</a:t>
            </a:r>
          </a:p>
          <a:p>
            <a:r>
              <a:rPr sz="1350" b="1">
                <a:solidFill>
                  <a:srgbClr val="D7E3EE"/>
                </a:solidFill>
                <a:latin typeface="Arimo"/>
              </a:rPr>
              <a:t>Robustness: </a:t>
            </a:r>
            <a:r>
              <a:rPr sz="1350" b="0">
                <a:solidFill>
                  <a:srgbClr val="D7E3EE"/>
                </a:solidFill>
                <a:latin typeface="Arimo"/>
              </a:rPr>
              <a:t>the ablations show trend prediction carries the gain (the burst adds no measurable reliability in-model); the results hold on held-out seeds; under the 1 s waypoint rule every multipath stack keeps C2, so the piloted-rule advantage needs a fast-resume spare modem.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88716" y="513042"/>
            <a:ext cx="14706560" cy="150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Guidelines for QoS and QoE</a:t>
            </a:r>
          </a:p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across heterogeneous networks (criterion 05)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14601962" cy="218640"/>
          </a:xfrm>
          <a:custGeom>
            <a:avLst/>
            <a:gdLst/>
            <a:ahLst/>
            <a:cxnLst/>
            <a:rect r="r" b="b" t="t" l="l"/>
            <a:pathLst>
              <a:path h="218640" w="14601962">
                <a:moveTo>
                  <a:pt x="0" y="0"/>
                </a:moveTo>
                <a:lnTo>
                  <a:pt x="14601962" y="0"/>
                </a:lnTo>
                <a:lnTo>
                  <a:pt x="1460196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35037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13195" y="260825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4227" y="270367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 the session, not the interface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fixed relay address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removes every reset.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6574" y="3214004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13195" y="3421543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84227" y="3501896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 on the trend, not on the failure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 s signal trend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gives seconds of warning.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384806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013195" y="421976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4227" y="431518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Prepare the next path just in time, and only then — warm-probe 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1.8 W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do not keep radios 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471168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1013195" y="500293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5564382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8"/>
                </a:lnTo>
                <a:lnTo>
                  <a:pt x="0" y="8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13195" y="5816217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426574" y="6428009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013195" y="661444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84227" y="669479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Detect a dead path faster than the application can tolerate — within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 C2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budget.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7062064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13195" y="7412666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07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426574" y="7925691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2384227" y="830630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what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users feel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on matched pairs — interruption, delivery, MOS, power, on identical seeds.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426574" y="8778386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1013195" y="8994055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09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84227" y="9089468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 what you know about the route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coverage map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beats any reaction when two radios die together.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384227" y="5098345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Duplicate only what needs it, only around the handover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 burst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costs ≈ 1 % of protected bytes.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4227" y="750808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Hold still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unless moving clearly pays — a reversed trend releases the prediction at no cost.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384227" y="589657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Deliver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copy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; never make real-time traffic wait in order.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3195" y="8210891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226842" y="1924030"/>
            <a:ext cx="8061158" cy="4296271"/>
          </a:xfrm>
          <a:custGeom>
            <a:avLst/>
            <a:gdLst/>
            <a:ahLst/>
            <a:cxnLst/>
            <a:rect r="r" b="b" t="t" l="l"/>
            <a:pathLst>
              <a:path h="4296271" w="8061158">
                <a:moveTo>
                  <a:pt x="0" y="0"/>
                </a:moveTo>
                <a:lnTo>
                  <a:pt x="8061158" y="0"/>
                </a:lnTo>
                <a:lnTo>
                  <a:pt x="8061158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747196" y="3640352"/>
            <a:ext cx="6540804" cy="6646648"/>
          </a:xfrm>
          <a:custGeom>
            <a:avLst/>
            <a:gdLst/>
            <a:ahLst/>
            <a:cxnLst/>
            <a:rect r="r" b="b" t="t" l="l"/>
            <a:pathLst>
              <a:path h="6646648" w="6540804">
                <a:moveTo>
                  <a:pt x="0" y="0"/>
                </a:moveTo>
                <a:lnTo>
                  <a:pt x="6540804" y="0"/>
                </a:lnTo>
                <a:lnTo>
                  <a:pt x="6540804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26842" y="6854356"/>
            <a:ext cx="1968804" cy="1508614"/>
          </a:xfrm>
          <a:custGeom>
            <a:avLst/>
            <a:gdLst/>
            <a:ahLst/>
            <a:cxnLst/>
            <a:rect r="r" b="b" t="t" l="l"/>
            <a:pathLst>
              <a:path h="1508614" w="196880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1747196" y="5990729"/>
            <a:ext cx="2187560" cy="3224936"/>
          </a:xfrm>
          <a:custGeom>
            <a:avLst/>
            <a:gdLst/>
            <a:ahLst/>
            <a:cxnLst/>
            <a:rect r="r" b="b" t="t" l="l"/>
            <a:pathLst>
              <a:path h="3224936" w="2187560">
                <a:moveTo>
                  <a:pt x="0" y="0"/>
                </a:moveTo>
                <a:lnTo>
                  <a:pt x="2187560" y="0"/>
                </a:lnTo>
                <a:lnTo>
                  <a:pt x="2187560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469915" y="498142"/>
            <a:ext cx="9265572" cy="183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712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Plan for real-life use, limits, and declaration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1914" y="2440092"/>
            <a:ext cx="9065599" cy="44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Deployment path, proven limits, and our AI-use declaration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465" y="3511908"/>
            <a:ext cx="2189455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DEPLOYMENT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28092" y="3362550"/>
            <a:ext cx="6696238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userspace agent on the vehicle's companion computer (Linux) controls modems via standard interfaces.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anchor relay sits at the operator's ground station or cloud edge.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runs under existing C2 and video applications; nothing changes.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4711687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578487" y="5108358"/>
            <a:ext cx="1087224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LIMITS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35452" y="4943939"/>
            <a:ext cx="5960221" cy="1500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radio model is evaluated at ground level.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Piloted rule needs a spare modem that resumes in ~</a:t>
            </a:r>
            <a:r>
              <a:rPr lang="en-US" sz="1784" spc="-35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ms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(5G RRC_INACTIVE or connected-mode DRX).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At </a:t>
            </a:r>
            <a:r>
              <a:rPr lang="en-US" sz="1784" spc="-35" b="true">
                <a:solidFill>
                  <a:srgbClr val="B41F3A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260 ms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an unexpected outage still forces a hover.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6635716"/>
            <a:ext cx="9811206" cy="229572"/>
          </a:xfrm>
          <a:custGeom>
            <a:avLst/>
            <a:gdLst/>
            <a:ahLst/>
            <a:cxnLst/>
            <a:rect r="r" b="b" t="t" l="l"/>
            <a:pathLst>
              <a:path h="229572" w="9811206">
                <a:moveTo>
                  <a:pt x="0" y="0"/>
                </a:moveTo>
                <a:lnTo>
                  <a:pt x="9811206" y="0"/>
                </a:lnTo>
                <a:lnTo>
                  <a:pt x="981120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566418" y="6975902"/>
            <a:ext cx="2294133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REAL-LIFE USE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27950" y="6989848"/>
            <a:ext cx="6710513" cy="1427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1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(bench):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laptop with Wi-Fi and a 5G dongle runs the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included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handover probe to measure one real network change.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2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(field): test drone with Wi-Fi, 5G and a LEO terminal 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surveyed corridor; first survey flights build the coverage map.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3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(pilot):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operator, one corridor, the paired-comparison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method of this study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applied to real flights.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26574" y="8570678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66739" y="8918750"/>
            <a:ext cx="2262084" cy="785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AI-USE DECLARATION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19845" y="8859757"/>
            <a:ext cx="7520992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AI tools (Anthropic Claude) assisted with code, analysis drafting,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this deck and the video; its narration is an AI voice (Kokoro).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design decisions, the experiments and their interpretation are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team’s own, and every member can explain their part in their own words.</a:t>
            </a:r>
          </a:p>
        </p:txBody>
      </p:sp>
      <p:sp>
        <p:nvSpPr>
          <p:cNvPr id="20" name="CTA site">
            <a:hlinkClick r:id="rId12"/>
          </p:cNvPr>
          <p:cNvSpPr/>
          <p:nvPr/>
        </p:nvSpPr>
        <p:spPr>
          <a:xfrm>
            <a:off x="11493500" y="7620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CC0DF"/>
      </a:hlink>
      <a:folHlink>
        <a:srgbClr val="0CC0D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DAHXgunmS1k</dc:identifier>
  <dcterms:modified xsi:type="dcterms:W3CDTF">2011-08-01T06:04:30Z</dcterms:modified>
  <cp:revision>1</cp:revision>
  <dc:title>FlexiPath — EDGE Challenge proposal deck</dc:title>
</cp:coreProperties>
</file>