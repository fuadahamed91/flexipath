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92.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nantason Condensed Bold" charset="1" panose="00000000000000000000"/>
      <p:regular r:id="rId16"/>
    </p:embeddedFont>
    <p:embeddedFont>
      <p:font typeface="Anantason Condensed" charset="1" panose="00000000000000000000"/>
      <p:regular r:id="rId17"/>
    </p:embeddedFont>
    <p:embeddedFont>
      <p:font typeface="Anantason Condensed Medium" charset="1" panose="00000000000000000000"/>
      <p:regular r:id="rId18"/>
    </p:embeddedFont>
    <p:embeddedFont>
      <p:font typeface="Arimo" charset="1" panose="020B06040202020202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font" Target="fonts/font16.fntdata"/><Relationship Id="rId17" Type="http://schemas.openxmlformats.org/officeDocument/2006/relationships/font" Target="fonts/font17.fntdata"/><Relationship Id="rId18" Type="http://schemas.openxmlformats.org/officeDocument/2006/relationships/font" Target="fonts/font18.fntdata"/><Relationship Id="rId19" Type="http://schemas.openxmlformats.org/officeDocument/2006/relationships/font" Target="fonts/font19.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hyperlink" Target="https://flexipath.vercel.app/simulator.html?demo=1" TargetMode="External"/><Relationship Id="rId6" Type="http://schemas.openxmlformats.org/officeDocument/2006/relationships/hyperlink" Target="https://flexipath.vercel.app/video" TargetMode="External"/><Relationship Id="rId7" Type="http://schemas.openxmlformats.org/officeDocument/2006/relationships/hyperlink" Target="https://flexipath.vercel.app/"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png"/><Relationship Id="rId11"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image" Target="../media/image23.png"/><Relationship Id="rId12" Type="http://schemas.openxmlformats.org/officeDocument/2006/relationships/image" Target="../media/image24.png"/><Relationship Id="rId13" Type="http://schemas.openxmlformats.org/officeDocument/2006/relationships/image" Target="../media/image2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png"/><Relationship Id="rId11" Type="http://schemas.openxmlformats.org/officeDocument/2006/relationships/image" Target="../media/image35.png"/><Relationship Id="rId12" Type="http://schemas.openxmlformats.org/officeDocument/2006/relationships/image" Target="../media/image36.png"/><Relationship Id="rId13" Type="http://schemas.openxmlformats.org/officeDocument/2006/relationships/image" Target="../media/image3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43.png"/><Relationship Id="rId8" Type="http://schemas.openxmlformats.org/officeDocument/2006/relationships/image" Target="../media/image44.png"/><Relationship Id="rId9" Type="http://schemas.openxmlformats.org/officeDocument/2006/relationships/image" Target="../media/image45.png"/><Relationship Id="rId10" Type="http://schemas.openxmlformats.org/officeDocument/2006/relationships/image" Target="../media/image46.png"/><Relationship Id="rId11" Type="http://schemas.openxmlformats.org/officeDocument/2006/relationships/image" Target="../media/image47.png"/><Relationship Id="rId12" Type="http://schemas.openxmlformats.org/officeDocument/2006/relationships/image" Target="../media/image48.png"/><Relationship Id="rId13" Type="http://schemas.openxmlformats.org/officeDocument/2006/relationships/image" Target="../media/image4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58.png"/><Relationship Id="rId11" Type="http://schemas.openxmlformats.org/officeDocument/2006/relationships/image" Target="../media/image59.png"/><Relationship Id="rId12" Type="http://schemas.openxmlformats.org/officeDocument/2006/relationships/image" Target="../media/image60.png"/><Relationship Id="rId13" Type="http://schemas.openxmlformats.org/officeDocument/2006/relationships/image" Target="../media/image61.png"/><Relationship Id="rId14" Type="http://schemas.openxmlformats.org/officeDocument/2006/relationships/image" Target="../media/image62.png"/><Relationship Id="rId15" Type="http://schemas.openxmlformats.org/officeDocument/2006/relationships/image" Target="../media/image63.png"/><Relationship Id="rId16" Type="http://schemas.openxmlformats.org/officeDocument/2006/relationships/image" Target="../media/image64.png"/><Relationship Id="rId17" Type="http://schemas.openxmlformats.org/officeDocument/2006/relationships/image" Target="../media/image65.png"/><Relationship Id="rId18" Type="http://schemas.openxmlformats.org/officeDocument/2006/relationships/image" Target="../media/image66.png"/><Relationship Id="rId19" Type="http://schemas.openxmlformats.org/officeDocument/2006/relationships/image" Target="../media/image67.png"/><Relationship Id="rId20" Type="http://schemas.openxmlformats.org/officeDocument/2006/relationships/image" Target="../media/image68.png"/><Relationship Id="rId21" Type="http://schemas.openxmlformats.org/officeDocument/2006/relationships/image" Target="../media/image69.png"/><Relationship Id="rId22" Type="http://schemas.openxmlformats.org/officeDocument/2006/relationships/image" Target="../media/image70.png"/><Relationship Id="rId23" Type="http://schemas.openxmlformats.org/officeDocument/2006/relationships/image" Target="../media/image71.png"/><Relationship Id="rId24" Type="http://schemas.openxmlformats.org/officeDocument/2006/relationships/image" Target="../media/image72.png"/><Relationship Id="rId25" Type="http://schemas.openxmlformats.org/officeDocument/2006/relationships/image" Target="../media/image73.png"/><Relationship Id="rId26" Type="http://schemas.openxmlformats.org/officeDocument/2006/relationships/image" Target="../media/image74.png"/><Relationship Id="rId27" Type="http://schemas.openxmlformats.org/officeDocument/2006/relationships/image" Target="../media/image75.png"/><Relationship Id="rId28" Type="http://schemas.openxmlformats.org/officeDocument/2006/relationships/image" Target="../media/image76.png"/><Relationship Id="rId29" Type="http://schemas.openxmlformats.org/officeDocument/2006/relationships/image" Target="../media/image77.png"/><Relationship Id="rId30" Type="http://schemas.openxmlformats.org/officeDocument/2006/relationships/image" Target="../media/image78.png"/><Relationship Id="rId31" Type="http://schemas.openxmlformats.org/officeDocument/2006/relationships/image" Target="../media/image7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5.jpeg"/><Relationship Id="rId8" Type="http://schemas.openxmlformats.org/officeDocument/2006/relationships/hyperlink" Target="https://flexipath.vercel.app/" TargetMode="External"/><Relationship Id="rId9" Type="http://schemas.openxmlformats.org/officeDocument/2006/relationships/hyperlink" Target="https://flexipath.vercel.app/simulator.html?demo=1" TargetMode="External"/><Relationship Id="rId10" Type="http://schemas.openxmlformats.org/officeDocument/2006/relationships/hyperlink" Target="https://flexipath.vercel.app/video"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image" Target="../media/image87.png"/><Relationship Id="rId4" Type="http://schemas.openxmlformats.org/officeDocument/2006/relationships/image" Target="../media/image88.png"/><Relationship Id="rId5" Type="http://schemas.openxmlformats.org/officeDocument/2006/relationships/image" Target="../media/image89.png"/><Relationship Id="rId6" Type="http://schemas.openxmlformats.org/officeDocument/2006/relationships/image" Target="../media/image90.png"/><Relationship Id="rId7" Type="http://schemas.openxmlformats.org/officeDocument/2006/relationships/image" Target="../media/image91.png"/><Relationship Id="rId8" Type="http://schemas.openxmlformats.org/officeDocument/2006/relationships/image" Target="../media/image9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 Id="rId3" Type="http://schemas.openxmlformats.org/officeDocument/2006/relationships/image" Target="../media/image94.png"/><Relationship Id="rId4" Type="http://schemas.openxmlformats.org/officeDocument/2006/relationships/image" Target="../media/image95.png"/><Relationship Id="rId5" Type="http://schemas.openxmlformats.org/officeDocument/2006/relationships/image" Target="../media/image96.png"/><Relationship Id="rId6" Type="http://schemas.openxmlformats.org/officeDocument/2006/relationships/image" Target="../media/image97.png"/><Relationship Id="rId7" Type="http://schemas.openxmlformats.org/officeDocument/2006/relationships/image" Target="../media/image98.png"/><Relationship Id="rId8" Type="http://schemas.openxmlformats.org/officeDocument/2006/relationships/image" Target="../media/image99.png"/><Relationship Id="rId9" Type="http://schemas.openxmlformats.org/officeDocument/2006/relationships/image" Target="../media/image100.png"/><Relationship Id="rId10" Type="http://schemas.openxmlformats.org/officeDocument/2006/relationships/image" Target="../media/image101.png"/><Relationship Id="rId11" Type="http://schemas.openxmlformats.org/officeDocument/2006/relationships/image" Target="../media/image102.png"/><Relationship Id="rId12" Type="http://schemas.openxmlformats.org/officeDocument/2006/relationships/image" Target="../media/image10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4.png"/><Relationship Id="rId3" Type="http://schemas.openxmlformats.org/officeDocument/2006/relationships/image" Target="../media/image105.png"/><Relationship Id="rId4" Type="http://schemas.openxmlformats.org/officeDocument/2006/relationships/image" Target="../media/image106.png"/><Relationship Id="rId5" Type="http://schemas.openxmlformats.org/officeDocument/2006/relationships/image" Target="../media/image107.png"/><Relationship Id="rId6" Type="http://schemas.openxmlformats.org/officeDocument/2006/relationships/image" Target="../media/image108.png"/><Relationship Id="rId7" Type="http://schemas.openxmlformats.org/officeDocument/2006/relationships/image" Target="../media/image109.png"/><Relationship Id="rId8" Type="http://schemas.openxmlformats.org/officeDocument/2006/relationships/image" Target="../media/image110.png"/><Relationship Id="rId9" Type="http://schemas.openxmlformats.org/officeDocument/2006/relationships/image" Target="../media/image111.png"/><Relationship Id="rId10" Type="http://schemas.openxmlformats.org/officeDocument/2006/relationships/hyperlink" Target="https://flexipath.vercel.app/simulator.html?demo=1" TargetMode="External"/><Relationship Id="rId11" Type="http://schemas.openxmlformats.org/officeDocument/2006/relationships/hyperlink" Target="https://flexipath.vercel.app/video" TargetMode="External"/><Relationship Id="rId12" Type="http://schemas.openxmlformats.org/officeDocument/2006/relationships/hyperlink" Target="https://flexipath.vercel.app/" TargetMode="Externa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485086" y="721146"/>
            <a:ext cx="10427330" cy="2441222"/>
          </a:xfrm>
          <a:prstGeom prst="rect">
            <a:avLst/>
          </a:prstGeom>
        </p:spPr>
        <p:txBody>
          <a:bodyPr anchor="t" rtlCol="false" tIns="0" lIns="0" bIns="0" rIns="0">
            <a:spAutoFit/>
          </a:bodyPr>
          <a:lstStyle/>
          <a:p>
            <a:pPr algn="l">
              <a:lnSpc>
                <a:spcPts val="6454"/>
              </a:lnSpc>
            </a:pPr>
            <a:r>
              <a:rPr lang="en-US" sz="6147" spc="-60" b="true">
                <a:solidFill>
                  <a:srgbClr val="FFFFFF">
                    <a:alpha val="92941"/>
                  </a:srgbClr>
                </a:solidFill>
                <a:latin typeface="Anantason Condensed Bold"/>
                <a:ea typeface="Anantason Condensed Bold"/>
                <a:cs typeface="Anantason Condensed Bold"/>
                <a:sym typeface="Anantason Condensed Bold"/>
              </a:rPr>
              <a:t>FlexiPath —</a:t>
            </a:r>
          </a:p>
          <a:p>
            <a:pPr algn="l">
              <a:lnSpc>
                <a:spcPts val="6454"/>
              </a:lnSpc>
            </a:pPr>
            <a:r>
              <a:rPr lang="en-US" sz="6147" spc="-60" b="true">
                <a:solidFill>
                  <a:srgbClr val="FFFFFF">
                    <a:alpha val="92941"/>
                  </a:srgbClr>
                </a:solidFill>
                <a:latin typeface="Anantason Condensed Bold"/>
                <a:ea typeface="Anantason Condensed Bold"/>
                <a:cs typeface="Anantason Condensed Bold"/>
                <a:sym typeface="Anantason Condensed Bold"/>
              </a:rPr>
              <a:t>switch before the link fails</a:t>
            </a:r>
          </a:p>
        </p:txBody>
      </p:sp>
      <p:sp>
        <p:nvSpPr>
          <p:cNvPr name="TextBox 4" id="4"/>
          <p:cNvSpPr txBox="true"/>
          <p:nvPr/>
        </p:nvSpPr>
        <p:spPr>
          <a:xfrm rot="0">
            <a:off x="513852" y="3403836"/>
            <a:ext cx="7550708" cy="1438470"/>
          </a:xfrm>
          <a:prstGeom prst="rect">
            <a:avLst/>
          </a:prstGeom>
        </p:spPr>
        <p:txBody>
          <a:bodyPr anchor="t" rtlCol="false" tIns="0" lIns="0" bIns="0" rIns="0">
            <a:spAutoFit/>
          </a:bodyPr>
          <a:lstStyle/>
          <a:p>
            <a:pPr algn="l">
              <a:lnSpc>
                <a:spcPts val="3908"/>
              </a:lnSpc>
            </a:pPr>
            <a:r>
              <a:rPr lang="en-US" sz="2896" spc="-28">
                <a:solidFill>
                  <a:srgbClr val="FFFFFF">
                    <a:alpha val="80000"/>
                  </a:srgbClr>
                </a:solidFill>
                <a:latin typeface="Anantason Condensed"/>
                <a:ea typeface="Anantason Condensed"/>
                <a:cs typeface="Anantason Condensed"/>
                <a:sym typeface="Anantason Condensed"/>
              </a:rPr>
              <a:t>Keep a drone's control link, voice and video alive</a:t>
            </a:r>
          </a:p>
          <a:p>
            <a:pPr algn="l">
              <a:lnSpc>
                <a:spcPts val="3908"/>
              </a:lnSpc>
            </a:pPr>
            <a:r>
              <a:rPr lang="en-US" sz="2896" spc="-28">
                <a:solidFill>
                  <a:srgbClr val="FFFFFF">
                    <a:alpha val="80000"/>
                  </a:srgbClr>
                </a:solidFill>
                <a:latin typeface="Anantason Condensed"/>
                <a:ea typeface="Anantason Condensed"/>
                <a:cs typeface="Anantason Condensed"/>
                <a:sym typeface="Anantason Condensed"/>
              </a:rPr>
              <a:t>when it moves between Wi-Fi, 5G, satellite and wired</a:t>
            </a:r>
          </a:p>
          <a:p>
            <a:pPr algn="l">
              <a:lnSpc>
                <a:spcPts val="3908"/>
              </a:lnSpc>
            </a:pPr>
            <a:r>
              <a:rPr lang="en-US" sz="2896" spc="-28">
                <a:solidFill>
                  <a:srgbClr val="FFFFFF">
                    <a:alpha val="80000"/>
                  </a:srgbClr>
                </a:solidFill>
                <a:latin typeface="Anantason Condensed"/>
                <a:ea typeface="Anantason Condensed"/>
                <a:cs typeface="Anantason Condensed"/>
                <a:sym typeface="Anantason Condensed"/>
              </a:rPr>
              <a:t>networks. Switch before the signal fails.</a:t>
            </a:r>
          </a:p>
        </p:txBody>
      </p:sp>
      <p:sp>
        <p:nvSpPr>
          <p:cNvPr name="Freeform 5" id="5"/>
          <p:cNvSpPr/>
          <p:nvPr/>
        </p:nvSpPr>
        <p:spPr>
          <a:xfrm flipH="false" flipV="false" rot="0">
            <a:off x="426574" y="5138034"/>
            <a:ext cx="8936182" cy="229572"/>
          </a:xfrm>
          <a:custGeom>
            <a:avLst/>
            <a:gdLst/>
            <a:ahLst/>
            <a:cxnLst/>
            <a:rect r="r" b="b" t="t" l="l"/>
            <a:pathLst>
              <a:path h="229572" w="8936182">
                <a:moveTo>
                  <a:pt x="0" y="0"/>
                </a:moveTo>
                <a:lnTo>
                  <a:pt x="8936182" y="0"/>
                </a:lnTo>
                <a:lnTo>
                  <a:pt x="8936182" y="229572"/>
                </a:lnTo>
                <a:lnTo>
                  <a:pt x="0" y="229572"/>
                </a:lnTo>
                <a:lnTo>
                  <a:pt x="0" y="0"/>
                </a:lnTo>
                <a:close/>
              </a:path>
            </a:pathLst>
          </a:custGeom>
          <a:blipFill>
            <a:blip r:embed="rId3"/>
            <a:stretch>
              <a:fillRect l="0" t="0" r="0" b="0"/>
            </a:stretch>
          </a:blipFill>
        </p:spPr>
        <p:txBody>
          <a:bodyPr/>
          <a:p/>
        </p:txBody>
      </p:sp>
      <p:sp>
        <p:nvSpPr>
          <p:cNvPr name="TextBox 6" id="6"/>
          <p:cNvSpPr txBox="true"/>
          <p:nvPr/>
        </p:nvSpPr>
        <p:spPr>
          <a:xfrm rot="0">
            <a:off x="557793" y="5662682"/>
            <a:ext cx="3156606" cy="491007"/>
          </a:xfrm>
          <a:prstGeom prst="rect">
            <a:avLst/>
          </a:prstGeom>
        </p:spPr>
        <p:txBody>
          <a:bodyPr anchor="t" rtlCol="false" tIns="0" lIns="0" bIns="0" rIns="0">
            <a:spAutoFit/>
          </a:bodyPr>
          <a:lstStyle/>
          <a:p>
            <a:pPr algn="l" marL="0" indent="0" lvl="0">
              <a:lnSpc>
                <a:spcPts val="4009"/>
              </a:lnSpc>
              <a:spcBef>
                <a:spcPct val="0"/>
              </a:spcBef>
            </a:pPr>
            <a:r>
              <a:rPr lang="en-US" b="true" sz="2970" spc="-29" strike="noStrike" u="none">
                <a:solidFill>
                  <a:srgbClr val="0F9FC4"/>
                </a:solidFill>
                <a:latin typeface="Anantason Condensed Bold"/>
                <a:ea typeface="Anantason Condensed Bold"/>
                <a:cs typeface="Anantason Condensed Bold"/>
                <a:sym typeface="Anantason Condensed Bold"/>
              </a:rPr>
              <a:t>TEAM TAROT CLUB</a:t>
            </a:r>
          </a:p>
        </p:txBody>
      </p:sp>
      <p:sp>
        <p:nvSpPr>
          <p:cNvPr name="TextBox 7" id="7"/>
          <p:cNvSpPr txBox="true"/>
          <p:nvPr/>
        </p:nvSpPr>
        <p:spPr>
          <a:xfrm rot="0">
            <a:off x="567455" y="6193854"/>
            <a:ext cx="2190414" cy="376625"/>
          </a:xfrm>
          <a:prstGeom prst="rect">
            <a:avLst/>
          </a:prstGeom>
        </p:spPr>
        <p:txBody>
          <a:bodyPr anchor="t" rtlCol="false" tIns="0" lIns="0" bIns="0" rIns="0">
            <a:spAutoFit/>
          </a:bodyPr>
          <a:lstStyle/>
          <a:p>
            <a:pPr algn="l" marL="0" indent="0" lvl="0">
              <a:lnSpc>
                <a:spcPts val="3173"/>
              </a:lnSpc>
              <a:spcBef>
                <a:spcPct val="0"/>
              </a:spcBef>
            </a:pPr>
            <a:r>
              <a:rPr lang="en-US" sz="2351" spc="-22" strike="noStrike" u="none">
                <a:solidFill>
                  <a:srgbClr val="FFFFFF">
                    <a:alpha val="80000"/>
                  </a:srgbClr>
                </a:solidFill>
                <a:latin typeface="Anantason Condensed"/>
                <a:ea typeface="Anantason Condensed"/>
                <a:cs typeface="Anantason Condensed"/>
                <a:sym typeface="Anantason Condensed"/>
              </a:rPr>
              <a:t>Al Ain University</a:t>
            </a:r>
          </a:p>
        </p:txBody>
      </p:sp>
      <p:sp>
        <p:nvSpPr>
          <p:cNvPr name="TextBox 8" id="8"/>
          <p:cNvSpPr txBox="true"/>
          <p:nvPr/>
        </p:nvSpPr>
        <p:spPr>
          <a:xfrm rot="0">
            <a:off x="589359" y="7042753"/>
            <a:ext cx="4286250" cy="385451"/>
          </a:xfrm>
          <a:prstGeom prst="rect">
            <a:avLst/>
          </a:prstGeom>
        </p:spPr>
        <p:txBody>
          <a:bodyPr anchor="t" rtlCol="false" tIns="0" lIns="0" bIns="0" rIns="0">
            <a:spAutoFit/>
          </a:bodyPr>
          <a:lstStyle/>
          <a:p>
            <a:pPr algn="l" marL="0" indent="0" lvl="0">
              <a:lnSpc>
                <a:spcPts val="3222"/>
              </a:lnSpc>
              <a:spcBef>
                <a:spcPct val="0"/>
              </a:spcBef>
            </a:pPr>
            <a:r>
              <a:rPr lang="en-US" b="true" sz="2387" spc="-23" strike="noStrike" u="none">
                <a:solidFill>
                  <a:srgbClr val="0F9FC4"/>
                </a:solidFill>
                <a:latin typeface="Anantason Condensed Bold"/>
                <a:ea typeface="Anantason Condensed Bold"/>
                <a:cs typeface="Anantason Condensed Bold"/>
                <a:sym typeface="Anantason Condensed Bold"/>
              </a:rPr>
              <a:t>EDGE GROUP CHALLENGE</a:t>
            </a:r>
          </a:p>
        </p:txBody>
      </p:sp>
      <p:sp>
        <p:nvSpPr>
          <p:cNvPr name="TextBox 9" id="9"/>
          <p:cNvSpPr txBox="true"/>
          <p:nvPr/>
        </p:nvSpPr>
        <p:spPr>
          <a:xfrm rot="0">
            <a:off x="589359" y="7463898"/>
            <a:ext cx="4286250" cy="778148"/>
          </a:xfrm>
          <a:prstGeom prst="rect">
            <a:avLst/>
          </a:prstGeom>
        </p:spPr>
        <p:txBody>
          <a:bodyPr anchor="t" rtlCol="false" tIns="0" lIns="0" bIns="0" rIns="0">
            <a:spAutoFit/>
          </a:bodyPr>
          <a:lstStyle/>
          <a:p>
            <a:pPr algn="l">
              <a:lnSpc>
                <a:spcPts val="3222"/>
              </a:lnSpc>
            </a:pPr>
            <a:r>
              <a:rPr lang="en-US" sz="2387" spc="-23">
                <a:solidFill>
                  <a:srgbClr val="FFFFFF">
                    <a:alpha val="80000"/>
                  </a:srgbClr>
                </a:solidFill>
                <a:latin typeface="Anantason Condensed"/>
                <a:ea typeface="Anantason Condensed"/>
                <a:cs typeface="Anantason Condensed"/>
                <a:sym typeface="Anantason Condensed"/>
              </a:rPr>
              <a:t>Advanced Technology</a:t>
            </a:r>
          </a:p>
          <a:p>
            <a:pPr algn="l">
              <a:lnSpc>
                <a:spcPts val="3222"/>
              </a:lnSpc>
            </a:pPr>
            <a:r>
              <a:rPr lang="en-US" sz="2387" spc="-23">
                <a:solidFill>
                  <a:srgbClr val="FFFFFF">
                    <a:alpha val="80000"/>
                  </a:srgbClr>
                </a:solidFill>
                <a:latin typeface="Anantason Condensed"/>
                <a:ea typeface="Anantason Condensed"/>
                <a:cs typeface="Anantason Condensed"/>
                <a:sym typeface="Anantason Condensed"/>
              </a:rPr>
              <a:t>Pioneers 2026</a:t>
            </a:r>
          </a:p>
        </p:txBody>
      </p:sp>
      <p:sp>
        <p:nvSpPr>
          <p:cNvPr name="Freeform 10" id="10"/>
          <p:cNvSpPr/>
          <p:nvPr/>
        </p:nvSpPr>
        <p:spPr>
          <a:xfrm flipH="false" flipV="false" rot="0">
            <a:off x="4353244" y="5564382"/>
            <a:ext cx="218756" cy="4296271"/>
          </a:xfrm>
          <a:custGeom>
            <a:avLst/>
            <a:gdLst/>
            <a:ahLst/>
            <a:cxnLst/>
            <a:rect r="r" b="b" t="t" l="l"/>
            <a:pathLst>
              <a:path h="4296271" w="218756">
                <a:moveTo>
                  <a:pt x="0" y="0"/>
                </a:moveTo>
                <a:lnTo>
                  <a:pt x="218756" y="0"/>
                </a:lnTo>
                <a:lnTo>
                  <a:pt x="218756" y="4296270"/>
                </a:lnTo>
                <a:lnTo>
                  <a:pt x="0" y="4296270"/>
                </a:lnTo>
                <a:lnTo>
                  <a:pt x="0" y="0"/>
                </a:lnTo>
                <a:close/>
              </a:path>
            </a:pathLst>
          </a:custGeom>
          <a:blipFill>
            <a:blip r:embed="rId4"/>
            <a:stretch>
              <a:fillRect l="0" t="0" r="0" b="0"/>
            </a:stretch>
          </a:blipFill>
        </p:spPr>
        <p:txBody>
          <a:bodyPr/>
          <a:p/>
        </p:txBody>
      </p:sp>
      <p:sp>
        <p:nvSpPr>
          <p:cNvPr name="TextBox 11" id="11"/>
          <p:cNvSpPr txBox="true"/>
          <p:nvPr/>
        </p:nvSpPr>
        <p:spPr>
          <a:xfrm rot="0">
            <a:off x="4940369" y="5630977"/>
            <a:ext cx="1560727" cy="303795"/>
          </a:xfrm>
          <a:prstGeom prst="rect">
            <a:avLst/>
          </a:prstGeom>
        </p:spPr>
        <p:txBody>
          <a:bodyPr anchor="t" rtlCol="false" tIns="0" lIns="0" bIns="0" rIns="0">
            <a:spAutoFit/>
          </a:bodyPr>
          <a:lstStyle/>
          <a:p>
            <a:pPr algn="l">
              <a:lnSpc>
                <a:spcPts val="2597"/>
              </a:lnSpc>
            </a:pPr>
            <a:r>
              <a:rPr lang="en-US" sz="1924" spc="-18" b="true">
                <a:solidFill>
                  <a:srgbClr val="0F9FC4"/>
                </a:solidFill>
                <a:latin typeface="Anantason Condensed Bold"/>
                <a:ea typeface="Anantason Condensed Bold"/>
                <a:cs typeface="Anantason Condensed Bold"/>
                <a:sym typeface="Anantason Condensed Bold"/>
              </a:rPr>
              <a:t>Fuad Ahamed</a:t>
            </a:r>
          </a:p>
        </p:txBody>
      </p:sp>
      <p:sp>
        <p:nvSpPr>
          <p:cNvPr name="TextBox 12" id="12"/>
          <p:cNvSpPr txBox="true"/>
          <p:nvPr/>
        </p:nvSpPr>
        <p:spPr>
          <a:xfrm rot="0">
            <a:off x="4913135" y="5963097"/>
            <a:ext cx="4284107" cy="271600"/>
          </a:xfrm>
          <a:prstGeom prst="rect">
            <a:avLst/>
          </a:prstGeom>
        </p:spPr>
        <p:txBody>
          <a:bodyPr anchor="t" rtlCol="false" tIns="0" lIns="0" bIns="0" rIns="0">
            <a:spAutoFit/>
          </a:bodyPr>
          <a:lstStyle/>
          <a:p>
            <a:pPr algn="l">
              <a:lnSpc>
                <a:spcPts val="2348"/>
              </a:lnSpc>
            </a:pPr>
            <a:r>
              <a:rPr lang="en-US" sz="1740" spc="-16">
                <a:solidFill>
                  <a:srgbClr val="FFFFFF">
                    <a:alpha val="80000"/>
                  </a:srgbClr>
                </a:solidFill>
                <a:latin typeface="Anantason Condensed"/>
                <a:ea typeface="Anantason Condensed"/>
                <a:cs typeface="Anantason Condensed"/>
                <a:sym typeface="Anantason Condensed"/>
              </a:rPr>
              <a:t>system architecture and software developer</a:t>
            </a:r>
          </a:p>
        </p:txBody>
      </p:sp>
      <p:sp>
        <p:nvSpPr>
          <p:cNvPr name="TextBox 13" id="13"/>
          <p:cNvSpPr txBox="true"/>
          <p:nvPr/>
        </p:nvSpPr>
        <p:spPr>
          <a:xfrm rot="0">
            <a:off x="4928582" y="6519566"/>
            <a:ext cx="2739473" cy="303795"/>
          </a:xfrm>
          <a:prstGeom prst="rect">
            <a:avLst/>
          </a:prstGeom>
        </p:spPr>
        <p:txBody>
          <a:bodyPr anchor="t" rtlCol="false" tIns="0" lIns="0" bIns="0" rIns="0">
            <a:spAutoFit/>
          </a:bodyPr>
          <a:lstStyle/>
          <a:p>
            <a:pPr algn="l">
              <a:lnSpc>
                <a:spcPts val="2597"/>
              </a:lnSpc>
            </a:pPr>
            <a:r>
              <a:rPr lang="en-US" sz="1924" spc="-18" b="true">
                <a:solidFill>
                  <a:srgbClr val="0F9FC4"/>
                </a:solidFill>
                <a:latin typeface="Anantason Condensed Bold"/>
                <a:ea typeface="Anantason Condensed Bold"/>
                <a:cs typeface="Anantason Condensed Bold"/>
                <a:sym typeface="Anantason Condensed Bold"/>
              </a:rPr>
              <a:t>Mohameden Sidi ahmed</a:t>
            </a:r>
          </a:p>
        </p:txBody>
      </p:sp>
      <p:sp>
        <p:nvSpPr>
          <p:cNvPr name="TextBox 14" id="14"/>
          <p:cNvSpPr txBox="true"/>
          <p:nvPr/>
        </p:nvSpPr>
        <p:spPr>
          <a:xfrm rot="0">
            <a:off x="4920836" y="6866371"/>
            <a:ext cx="3514054" cy="590562"/>
          </a:xfrm>
          <a:prstGeom prst="rect">
            <a:avLst/>
          </a:prstGeom>
        </p:spPr>
        <p:txBody>
          <a:bodyPr anchor="t" rtlCol="false" tIns="0" lIns="0" bIns="0" rIns="0">
            <a:spAutoFit/>
          </a:bodyPr>
          <a:lstStyle/>
          <a:p>
            <a:pPr algn="l">
              <a:lnSpc>
                <a:spcPts val="2514"/>
              </a:lnSpc>
            </a:pPr>
            <a:r>
              <a:rPr lang="en-US" sz="1863" spc="-18">
                <a:solidFill>
                  <a:srgbClr val="FFFFFF">
                    <a:alpha val="80000"/>
                  </a:srgbClr>
                </a:solidFill>
                <a:latin typeface="Anantason Condensed"/>
                <a:ea typeface="Anantason Condensed"/>
                <a:cs typeface="Anantason Condensed"/>
                <a:sym typeface="Anantason Condensed"/>
              </a:rPr>
              <a:t>networks and protocols research,</a:t>
            </a:r>
          </a:p>
          <a:p>
            <a:pPr algn="l">
              <a:lnSpc>
                <a:spcPts val="2514"/>
              </a:lnSpc>
            </a:pPr>
            <a:r>
              <a:rPr lang="en-US" sz="1863" spc="-18">
                <a:solidFill>
                  <a:srgbClr val="FFFFFF">
                    <a:alpha val="80000"/>
                  </a:srgbClr>
                </a:solidFill>
                <a:latin typeface="Anantason Condensed"/>
                <a:ea typeface="Anantason Condensed"/>
                <a:cs typeface="Anantason Condensed"/>
                <a:sym typeface="Anantason Condensed"/>
              </a:rPr>
              <a:t>QoS/QoE guidelines</a:t>
            </a:r>
          </a:p>
        </p:txBody>
      </p:sp>
      <p:sp>
        <p:nvSpPr>
          <p:cNvPr name="TextBox 15" id="15"/>
          <p:cNvSpPr txBox="true"/>
          <p:nvPr/>
        </p:nvSpPr>
        <p:spPr>
          <a:xfrm rot="0">
            <a:off x="4941157" y="7724434"/>
            <a:ext cx="1481978" cy="303795"/>
          </a:xfrm>
          <a:prstGeom prst="rect">
            <a:avLst/>
          </a:prstGeom>
        </p:spPr>
        <p:txBody>
          <a:bodyPr anchor="t" rtlCol="false" tIns="0" lIns="0" bIns="0" rIns="0">
            <a:spAutoFit/>
          </a:bodyPr>
          <a:lstStyle/>
          <a:p>
            <a:pPr algn="l">
              <a:lnSpc>
                <a:spcPts val="2597"/>
              </a:lnSpc>
            </a:pPr>
            <a:r>
              <a:rPr lang="en-US" sz="1924" spc="-18" b="true">
                <a:solidFill>
                  <a:srgbClr val="0F9FC4"/>
                </a:solidFill>
                <a:latin typeface="Anantason Condensed Bold"/>
                <a:ea typeface="Anantason Condensed Bold"/>
                <a:cs typeface="Anantason Condensed Bold"/>
                <a:sym typeface="Anantason Condensed Bold"/>
              </a:rPr>
              <a:t>Reema Awad</a:t>
            </a:r>
          </a:p>
        </p:txBody>
      </p:sp>
      <p:sp>
        <p:nvSpPr>
          <p:cNvPr name="TextBox 16" id="16"/>
          <p:cNvSpPr txBox="true"/>
          <p:nvPr/>
        </p:nvSpPr>
        <p:spPr>
          <a:xfrm rot="0">
            <a:off x="4925635" y="8055998"/>
            <a:ext cx="3034200" cy="271600"/>
          </a:xfrm>
          <a:prstGeom prst="rect">
            <a:avLst/>
          </a:prstGeom>
        </p:spPr>
        <p:txBody>
          <a:bodyPr anchor="t" rtlCol="false" tIns="0" lIns="0" bIns="0" rIns="0">
            <a:spAutoFit/>
          </a:bodyPr>
          <a:lstStyle/>
          <a:p>
            <a:pPr algn="l">
              <a:lnSpc>
                <a:spcPts val="2348"/>
              </a:lnSpc>
            </a:pPr>
            <a:r>
              <a:rPr lang="en-US" sz="1740" spc="-16">
                <a:solidFill>
                  <a:srgbClr val="FFFFFF">
                    <a:alpha val="80000"/>
                  </a:srgbClr>
                </a:solidFill>
                <a:latin typeface="Anantason Condensed"/>
                <a:ea typeface="Anantason Condensed"/>
                <a:cs typeface="Anantason Condensed"/>
                <a:sym typeface="Anantason Condensed"/>
              </a:rPr>
              <a:t>experiments and data analysis</a:t>
            </a:r>
          </a:p>
        </p:txBody>
      </p:sp>
      <p:sp>
        <p:nvSpPr>
          <p:cNvPr name="TextBox 17" id="17"/>
          <p:cNvSpPr txBox="true"/>
          <p:nvPr/>
        </p:nvSpPr>
        <p:spPr>
          <a:xfrm rot="0">
            <a:off x="4940270" y="8613023"/>
            <a:ext cx="1570615" cy="303795"/>
          </a:xfrm>
          <a:prstGeom prst="rect">
            <a:avLst/>
          </a:prstGeom>
        </p:spPr>
        <p:txBody>
          <a:bodyPr anchor="t" rtlCol="false" tIns="0" lIns="0" bIns="0" rIns="0">
            <a:spAutoFit/>
          </a:bodyPr>
          <a:lstStyle/>
          <a:p>
            <a:pPr algn="l">
              <a:lnSpc>
                <a:spcPts val="2597"/>
              </a:lnSpc>
            </a:pPr>
            <a:r>
              <a:rPr lang="en-US" sz="1924" spc="-18" b="true">
                <a:solidFill>
                  <a:srgbClr val="0F9FC4"/>
                </a:solidFill>
                <a:latin typeface="Anantason Condensed Bold"/>
                <a:ea typeface="Anantason Condensed Bold"/>
                <a:cs typeface="Anantason Condensed Bold"/>
                <a:sym typeface="Anantason Condensed Bold"/>
              </a:rPr>
              <a:t>Nazer Alzaabi</a:t>
            </a:r>
          </a:p>
        </p:txBody>
      </p:sp>
      <p:sp>
        <p:nvSpPr>
          <p:cNvPr name="TextBox 18" id="18"/>
          <p:cNvSpPr txBox="true"/>
          <p:nvPr/>
        </p:nvSpPr>
        <p:spPr>
          <a:xfrm rot="0">
            <a:off x="4924155" y="8944588"/>
            <a:ext cx="3182191" cy="271600"/>
          </a:xfrm>
          <a:prstGeom prst="rect">
            <a:avLst/>
          </a:prstGeom>
        </p:spPr>
        <p:txBody>
          <a:bodyPr anchor="t" rtlCol="false" tIns="0" lIns="0" bIns="0" rIns="0">
            <a:spAutoFit/>
          </a:bodyPr>
          <a:lstStyle/>
          <a:p>
            <a:pPr algn="l">
              <a:lnSpc>
                <a:spcPts val="2348"/>
              </a:lnSpc>
            </a:pPr>
            <a:r>
              <a:rPr lang="en-US" sz="1740" spc="-16">
                <a:solidFill>
                  <a:srgbClr val="FFFFFF">
                    <a:alpha val="80000"/>
                  </a:srgbClr>
                </a:solidFill>
                <a:latin typeface="Anantason Condensed"/>
                <a:ea typeface="Anantason Condensed"/>
                <a:cs typeface="Anantason Condensed"/>
                <a:sym typeface="Anantason Condensed"/>
              </a:rPr>
              <a:t>product, demo and presentation</a:t>
            </a:r>
          </a:p>
        </p:txBody>
      </p:sp>
      <p:sp>
        <p:nvSpPr>
          <p:cNvPr name="TextBox 19" id="19"/>
          <p:cNvSpPr txBox="true"/>
          <p:nvPr/>
        </p:nvSpPr>
        <p:spPr>
          <a:xfrm rot="0">
            <a:off x="4925776" y="9516900"/>
            <a:ext cx="3020083" cy="271600"/>
          </a:xfrm>
          <a:prstGeom prst="rect">
            <a:avLst/>
          </a:prstGeom>
        </p:spPr>
        <p:txBody>
          <a:bodyPr anchor="t" rtlCol="false" tIns="0" lIns="0" bIns="0" rIns="0">
            <a:spAutoFit/>
          </a:bodyPr>
          <a:lstStyle/>
          <a:p>
            <a:pPr algn="l">
              <a:lnSpc>
                <a:spcPts val="2348"/>
              </a:lnSpc>
            </a:pPr>
            <a:r>
              <a:rPr lang="en-US" sz="1740" spc="-16" b="true">
                <a:solidFill>
                  <a:srgbClr val="0F9FC4">
                    <a:alpha val="80000"/>
                  </a:srgbClr>
                </a:solidFill>
                <a:latin typeface="Anantason Condensed Bold"/>
                <a:ea typeface="Anantason Condensed Bold"/>
                <a:cs typeface="Anantason Condensed Bold"/>
                <a:sym typeface="Anantason Condensed Bold"/>
              </a:rPr>
              <a:t>All members:</a:t>
            </a:r>
            <a:r>
              <a:rPr lang="en-US" sz="1740" spc="-16">
                <a:solidFill>
                  <a:srgbClr val="FFFFFF">
                    <a:alpha val="80000"/>
                  </a:srgbClr>
                </a:solidFill>
                <a:latin typeface="Anantason Condensed"/>
                <a:ea typeface="Anantason Condensed"/>
                <a:cs typeface="Anantason Condensed"/>
                <a:sym typeface="Anantason Condensed"/>
              </a:rPr>
              <a:t> Al Ain University</a:t>
            </a:r>
          </a:p>
        </p:txBody>
      </p:sp>
      <p:sp>
        <p:nvSpPr>
          <p:cNvPr name="TextBox 20" id="20">
            <a:hlinkClick r:id="rId7"/>
          </p:cNvPr>
          <p:cNvSpPr txBox="true"/>
          <p:nvPr/>
        </p:nvSpPr>
        <p:spPr>
          <a:xfrm rot="0">
            <a:off x="563008" y="9085535"/>
            <a:ext cx="2635139" cy="376625"/>
          </a:xfrm>
          <a:prstGeom prst="rect">
            <a:avLst/>
          </a:prstGeom>
        </p:spPr>
        <p:txBody>
          <a:bodyPr anchor="t" rtlCol="false" tIns="0" lIns="0" bIns="0" rIns="0">
            <a:spAutoFit/>
          </a:bodyPr>
          <a:lstStyle/>
          <a:p>
            <a:pPr algn="l">
              <a:lnSpc>
                <a:spcPts val="3173"/>
              </a:lnSpc>
            </a:pPr>
            <a:r>
              <a:rPr lang="en-US" sz="2351" spc="-22">
                <a:solidFill>
                  <a:srgbClr val="FFFFFF">
                    <a:alpha val="80000"/>
                  </a:srgbClr>
                </a:solidFill>
                <a:latin typeface="Anantason Condensed"/>
                <a:ea typeface="Anantason Condensed"/>
                <a:cs typeface="Anantason Condensed"/>
                <a:sym typeface="Anantason Condensed"/>
                <a:hlinkClick r:id="rId7"/>
              </a:rPr>
              <a:t>flexipath.vercel.app</a:t>
            </a:r>
          </a:p>
        </p:txBody>
      </p:sp>
      <p:sp>
        <p:nvSpPr>
          <p:cNvPr name="TextBox 21" id="21"/>
          <p:cNvSpPr txBox="true"/>
          <p:nvPr/>
        </p:nvSpPr>
        <p:spPr>
          <a:xfrm rot="0">
            <a:off x="589359" y="8699445"/>
            <a:ext cx="4286250" cy="385451"/>
          </a:xfrm>
          <a:prstGeom prst="rect">
            <a:avLst/>
          </a:prstGeom>
        </p:spPr>
        <p:txBody>
          <a:bodyPr anchor="t" rtlCol="false" tIns="0" lIns="0" bIns="0" rIns="0">
            <a:spAutoFit/>
          </a:bodyPr>
          <a:lstStyle/>
          <a:p>
            <a:pPr algn="l">
              <a:lnSpc>
                <a:spcPts val="3222"/>
              </a:lnSpc>
            </a:pPr>
            <a:r>
              <a:rPr lang="en-US" b="true" sz="2387" spc="-23">
                <a:solidFill>
                  <a:srgbClr val="0F9FC4"/>
                </a:solidFill>
                <a:latin typeface="Anantason Condensed Bold"/>
                <a:ea typeface="Anantason Condensed Bold"/>
                <a:cs typeface="Anantason Condensed Bold"/>
                <a:sym typeface="Anantason Condensed Bold"/>
              </a:rPr>
              <a:t>LIVE PROTOTYPE</a:t>
            </a:r>
          </a:p>
        </p:txBody>
      </p:sp>
      <p:sp>
        <p:nvSpPr>
          <p:cNvPr id="22" name="CTA site">
            <a:hlinkClick r:id="rId7"/>
          </p:cNvPr>
          <p:cNvSpPr/>
          <p:nvPr/>
        </p:nvSpPr>
        <p:spPr>
          <a:xfrm>
            <a:off x="11493500" y="8026400"/>
            <a:ext cx="6096000" cy="1270000"/>
          </a:xfrm>
          <a:prstGeom prst="roundRect">
            <a:avLst>
              <a:gd name="adj" fmla="val 16000"/>
            </a:avLst>
          </a:prstGeom>
          <a:solidFill>
            <a:srgbClr val="0F9FC4"/>
          </a:solidFill>
          <a:ln w="19050">
            <a:solidFill>
              <a:srgbClr val="0F9FC4"/>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76200" bIns="76200"/>
          <a:lstStyle/>
          <a:p>
            <a:pPr algn="l"/>
            <a:r>
              <a:rPr sz="2200" b="1">
                <a:solidFill>
                  <a:srgbClr val="FFFFFF"/>
                </a:solidFill>
                <a:latin typeface="Anantason Condensed Bold"/>
              </a:rPr>
              <a:t>▶  TRY THE LIVE PROTOTYPE</a:t>
            </a:r>
          </a:p>
          <a:p>
            <a:pPr algn="l"/>
            <a:r>
              <a:rPr sz="2000" b="1">
                <a:solidFill>
                  <a:srgbClr val="FFFFFF"/>
                </a:solidFill>
                <a:latin typeface="Anantason Condensed Bold"/>
              </a:rPr>
              <a:t>flexipath.vercel.app</a:t>
            </a:r>
          </a:p>
          <a:p>
            <a:pPr algn="l"/>
            <a:r>
              <a:rPr sz="1400" b="0">
                <a:solidFill>
                  <a:srgbClr val="FFFFFF"/>
                </a:solidFill>
                <a:latin typeface="Anantason Condensed"/>
              </a:rPr>
              <a:t>guided demo, simulator and the 2-minute video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Freeform 3" id="3"/>
          <p:cNvSpPr/>
          <p:nvPr/>
        </p:nvSpPr>
        <p:spPr>
          <a:xfrm flipH="false" flipV="false" rot="0">
            <a:off x="11965952" y="0"/>
            <a:ext cx="6322048" cy="10287000"/>
          </a:xfrm>
          <a:custGeom>
            <a:avLst/>
            <a:gdLst/>
            <a:ahLst/>
            <a:cxnLst/>
            <a:rect r="r" b="b" t="t" l="l"/>
            <a:pathLst>
              <a:path h="10287000" w="6322048">
                <a:moveTo>
                  <a:pt x="0" y="0"/>
                </a:moveTo>
                <a:lnTo>
                  <a:pt x="6322048" y="0"/>
                </a:lnTo>
                <a:lnTo>
                  <a:pt x="6322048" y="10287000"/>
                </a:lnTo>
                <a:lnTo>
                  <a:pt x="0" y="10287000"/>
                </a:lnTo>
                <a:lnTo>
                  <a:pt x="0" y="0"/>
                </a:lnTo>
                <a:close/>
              </a:path>
            </a:pathLst>
          </a:custGeom>
          <a:blipFill>
            <a:blip r:embed="rId3"/>
            <a:stretch>
              <a:fillRect l="0" t="0" r="0" b="0"/>
            </a:stretch>
          </a:blipFill>
        </p:spPr>
        <p:txBody>
          <a:bodyPr/>
          <a:p/>
        </p:txBody>
      </p:sp>
      <p:sp>
        <p:nvSpPr>
          <p:cNvPr name="Freeform 4" id="4"/>
          <p:cNvSpPr/>
          <p:nvPr/>
        </p:nvSpPr>
        <p:spPr>
          <a:xfrm flipH="false" flipV="false" rot="0">
            <a:off x="426574" y="2142670"/>
            <a:ext cx="3281340" cy="1716322"/>
          </a:xfrm>
          <a:custGeom>
            <a:avLst/>
            <a:gdLst/>
            <a:ahLst/>
            <a:cxnLst/>
            <a:rect r="r" b="b" t="t" l="l"/>
            <a:pathLst>
              <a:path h="1716322" w="3281340">
                <a:moveTo>
                  <a:pt x="0" y="0"/>
                </a:moveTo>
                <a:lnTo>
                  <a:pt x="3281340" y="0"/>
                </a:lnTo>
                <a:lnTo>
                  <a:pt x="3281340" y="1716321"/>
                </a:lnTo>
                <a:lnTo>
                  <a:pt x="0" y="1716321"/>
                </a:lnTo>
                <a:lnTo>
                  <a:pt x="0" y="0"/>
                </a:lnTo>
                <a:close/>
              </a:path>
            </a:pathLst>
          </a:custGeom>
          <a:blipFill>
            <a:blip r:embed="rId4"/>
            <a:stretch>
              <a:fillRect l="0" t="0" r="0" b="0"/>
            </a:stretch>
          </a:blipFill>
        </p:spPr>
        <p:txBody>
          <a:bodyPr/>
          <a:p/>
        </p:txBody>
      </p:sp>
      <p:sp>
        <p:nvSpPr>
          <p:cNvPr name="Freeform 5" id="5"/>
          <p:cNvSpPr/>
          <p:nvPr/>
        </p:nvSpPr>
        <p:spPr>
          <a:xfrm flipH="false" flipV="false" rot="0">
            <a:off x="426574" y="3640352"/>
            <a:ext cx="3281340" cy="1727254"/>
          </a:xfrm>
          <a:custGeom>
            <a:avLst/>
            <a:gdLst/>
            <a:ahLst/>
            <a:cxnLst/>
            <a:rect r="r" b="b" t="t" l="l"/>
            <a:pathLst>
              <a:path h="1727254" w="3281340">
                <a:moveTo>
                  <a:pt x="0" y="0"/>
                </a:moveTo>
                <a:lnTo>
                  <a:pt x="3281340" y="0"/>
                </a:lnTo>
                <a:lnTo>
                  <a:pt x="3281340" y="1727254"/>
                </a:lnTo>
                <a:lnTo>
                  <a:pt x="0" y="1727254"/>
                </a:lnTo>
                <a:lnTo>
                  <a:pt x="0" y="0"/>
                </a:lnTo>
                <a:close/>
              </a:path>
            </a:pathLst>
          </a:custGeom>
          <a:blipFill>
            <a:blip r:embed="rId5"/>
            <a:stretch>
              <a:fillRect l="0" t="0" r="0" b="0"/>
            </a:stretch>
          </a:blipFill>
        </p:spPr>
        <p:txBody>
          <a:bodyPr/>
          <a:p/>
        </p:txBody>
      </p:sp>
      <p:sp>
        <p:nvSpPr>
          <p:cNvPr name="Freeform 6" id="6"/>
          <p:cNvSpPr/>
          <p:nvPr/>
        </p:nvSpPr>
        <p:spPr>
          <a:xfrm flipH="false" flipV="false" rot="0">
            <a:off x="426574" y="5138034"/>
            <a:ext cx="3281340" cy="2579949"/>
          </a:xfrm>
          <a:custGeom>
            <a:avLst/>
            <a:gdLst/>
            <a:ahLst/>
            <a:cxnLst/>
            <a:rect r="r" b="b" t="t" l="l"/>
            <a:pathLst>
              <a:path h="2579949" w="3281340">
                <a:moveTo>
                  <a:pt x="0" y="0"/>
                </a:moveTo>
                <a:lnTo>
                  <a:pt x="3281340" y="0"/>
                </a:lnTo>
                <a:lnTo>
                  <a:pt x="3281340" y="2579949"/>
                </a:lnTo>
                <a:lnTo>
                  <a:pt x="0" y="2579949"/>
                </a:lnTo>
                <a:lnTo>
                  <a:pt x="0" y="0"/>
                </a:lnTo>
                <a:close/>
              </a:path>
            </a:pathLst>
          </a:custGeom>
          <a:blipFill>
            <a:blip r:embed="rId6"/>
            <a:stretch>
              <a:fillRect l="0" t="0" r="0" b="0"/>
            </a:stretch>
          </a:blipFill>
        </p:spPr>
        <p:txBody>
          <a:bodyPr/>
          <a:p/>
        </p:txBody>
      </p:sp>
      <p:sp>
        <p:nvSpPr>
          <p:cNvPr name="Freeform 7" id="7"/>
          <p:cNvSpPr/>
          <p:nvPr/>
        </p:nvSpPr>
        <p:spPr>
          <a:xfrm flipH="false" flipV="false" rot="0">
            <a:off x="426574" y="7499343"/>
            <a:ext cx="3281340" cy="2579949"/>
          </a:xfrm>
          <a:custGeom>
            <a:avLst/>
            <a:gdLst/>
            <a:ahLst/>
            <a:cxnLst/>
            <a:rect r="r" b="b" t="t" l="l"/>
            <a:pathLst>
              <a:path h="2579949" w="3281340">
                <a:moveTo>
                  <a:pt x="0" y="0"/>
                </a:moveTo>
                <a:lnTo>
                  <a:pt x="3281340" y="0"/>
                </a:lnTo>
                <a:lnTo>
                  <a:pt x="3281340" y="2579949"/>
                </a:lnTo>
                <a:lnTo>
                  <a:pt x="0" y="2579949"/>
                </a:lnTo>
                <a:lnTo>
                  <a:pt x="0" y="0"/>
                </a:lnTo>
                <a:close/>
              </a:path>
            </a:pathLst>
          </a:custGeom>
          <a:blipFill>
            <a:blip r:embed="rId7"/>
            <a:stretch>
              <a:fillRect l="0" t="0" r="0" b="0"/>
            </a:stretch>
          </a:blipFill>
        </p:spPr>
        <p:txBody>
          <a:bodyPr/>
          <a:p/>
        </p:txBody>
      </p:sp>
      <p:sp>
        <p:nvSpPr>
          <p:cNvPr name="TextBox 8" id="8"/>
          <p:cNvSpPr txBox="true"/>
          <p:nvPr/>
        </p:nvSpPr>
        <p:spPr>
          <a:xfrm rot="0">
            <a:off x="482039" y="411851"/>
            <a:ext cx="8053129" cy="1049316"/>
          </a:xfrm>
          <a:prstGeom prst="rect">
            <a:avLst/>
          </a:prstGeom>
        </p:spPr>
        <p:txBody>
          <a:bodyPr anchor="t" rtlCol="false" tIns="0" lIns="0" bIns="0" rIns="0">
            <a:spAutoFit/>
          </a:bodyPr>
          <a:lstStyle/>
          <a:p>
            <a:pPr algn="l">
              <a:lnSpc>
                <a:spcPts val="7961"/>
              </a:lnSpc>
            </a:pPr>
            <a:r>
              <a:rPr lang="en-US" sz="7961" b="true">
                <a:solidFill>
                  <a:srgbClr val="FFFFFF">
                    <a:alpha val="89804"/>
                  </a:srgbClr>
                </a:solidFill>
                <a:latin typeface="Anantason Condensed Bold"/>
                <a:ea typeface="Anantason Condensed Bold"/>
                <a:cs typeface="Anantason Condensed Bold"/>
                <a:sym typeface="Anantason Condensed Bold"/>
              </a:rPr>
              <a:t>Executive summary</a:t>
            </a:r>
          </a:p>
        </p:txBody>
      </p:sp>
      <p:sp>
        <p:nvSpPr>
          <p:cNvPr name="TextBox 9" id="9"/>
          <p:cNvSpPr txBox="true"/>
          <p:nvPr/>
        </p:nvSpPr>
        <p:spPr>
          <a:xfrm rot="0">
            <a:off x="470375" y="1572172"/>
            <a:ext cx="14605000" cy="361584"/>
          </a:xfrm>
          <a:prstGeom prst="rect">
            <a:avLst/>
          </a:prstGeom>
        </p:spPr>
        <p:txBody>
          <a:bodyPr anchor="t" rtlCol="false" tIns="0" lIns="0" bIns="0" rIns="0">
            <a:spAutoFit/>
          </a:bodyPr>
          <a:lstStyle/>
          <a:p>
            <a:pPr algn="l">
              <a:lnSpc>
                <a:spcPts val="2759"/>
              </a:lnSpc>
            </a:pPr>
            <a:r>
              <a:rPr lang="en-US" sz="2759" b="true">
                <a:solidFill>
                  <a:srgbClr val="FFFFFF">
                    <a:alpha val="80000"/>
                  </a:srgbClr>
                </a:solidFill>
                <a:latin typeface="Anantason Condensed Medium"/>
                <a:ea typeface="Anantason Condensed Medium"/>
                <a:cs typeface="Anantason Condensed Medium"/>
                <a:sym typeface="Anantason Condensed Medium"/>
              </a:rPr>
              <a:t>FlexiPath keeps critical connections alive with little extra power</a:t>
            </a:r>
          </a:p>
        </p:txBody>
      </p:sp>
      <p:sp>
        <p:nvSpPr>
          <p:cNvPr name="TextBox 10" id="10"/>
          <p:cNvSpPr txBox="true"/>
          <p:nvPr/>
        </p:nvSpPr>
        <p:spPr>
          <a:xfrm rot="0">
            <a:off x="707793" y="2792100"/>
            <a:ext cx="1551167" cy="361584"/>
          </a:xfrm>
          <a:prstGeom prst="rect">
            <a:avLst/>
          </a:prstGeom>
        </p:spPr>
        <p:txBody>
          <a:bodyPr anchor="t" rtlCol="false" tIns="0" lIns="0" bIns="0" rIns="0">
            <a:spAutoFit/>
          </a:bodyPr>
          <a:lstStyle/>
          <a:p>
            <a:pPr algn="l">
              <a:lnSpc>
                <a:spcPts val="2759"/>
              </a:lnSpc>
            </a:pPr>
            <a:r>
              <a:rPr lang="en-US" sz="2759" b="true">
                <a:solidFill>
                  <a:srgbClr val="FFFFFF">
                    <a:alpha val="80000"/>
                  </a:srgbClr>
                </a:solidFill>
                <a:latin typeface="Anantason Condensed Bold"/>
                <a:ea typeface="Anantason Condensed Bold"/>
                <a:cs typeface="Anantason Condensed Bold"/>
                <a:sym typeface="Anantason Condensed Bold"/>
              </a:rPr>
              <a:t>PROBLEM</a:t>
            </a:r>
          </a:p>
        </p:txBody>
      </p:sp>
      <p:sp>
        <p:nvSpPr>
          <p:cNvPr name="TextBox 11" id="11"/>
          <p:cNvSpPr txBox="true"/>
          <p:nvPr/>
        </p:nvSpPr>
        <p:spPr>
          <a:xfrm rot="0">
            <a:off x="3802495" y="2502832"/>
            <a:ext cx="8191931" cy="910292"/>
          </a:xfrm>
          <a:prstGeom prst="rect">
            <a:avLst/>
          </a:prstGeom>
        </p:spPr>
        <p:txBody>
          <a:bodyPr anchor="t" rtlCol="false" tIns="0" lIns="0" bIns="0" rIns="0">
            <a:spAutoFit/>
          </a:bodyPr>
          <a:lstStyle/>
          <a:p>
            <a:pPr algn="l">
              <a:lnSpc>
                <a:spcPts val="2457"/>
              </a:lnSpc>
            </a:pPr>
            <a:r>
              <a:rPr lang="en-US" sz="2047" spc="-19">
                <a:solidFill>
                  <a:srgbClr val="FFFFFF">
                    <a:alpha val="80000"/>
                  </a:srgbClr>
                </a:solidFill>
                <a:latin typeface="Anantason Condensed"/>
                <a:ea typeface="Anantason Condensed"/>
                <a:cs typeface="Anantason Condensed"/>
                <a:sym typeface="Anantason Condensed"/>
              </a:rPr>
              <a:t>In our model, a legacy stack leaves one network before it joins the next. A moving</a:t>
            </a:r>
          </a:p>
          <a:p>
            <a:pPr algn="l">
              <a:lnSpc>
                <a:spcPts val="2457"/>
              </a:lnSpc>
            </a:pPr>
            <a:r>
              <a:rPr lang="en-US" sz="2047" spc="-19">
                <a:solidFill>
                  <a:srgbClr val="FFFFFF">
                    <a:alpha val="80000"/>
                  </a:srgbClr>
                </a:solidFill>
                <a:latin typeface="Anantason Condensed"/>
                <a:ea typeface="Anantason Condensed"/>
                <a:cs typeface="Anantason Condensed"/>
                <a:sym typeface="Anantason Condensed"/>
              </a:rPr>
              <a:t>user loses the connection. When the control link (C2) of a drone is silent</a:t>
            </a:r>
          </a:p>
          <a:p>
            <a:pPr algn="l">
              <a:lnSpc>
                <a:spcPts val="2457"/>
              </a:lnSpc>
            </a:pPr>
            <a:r>
              <a:rPr lang="en-US" sz="2047" spc="-19">
                <a:solidFill>
                  <a:srgbClr val="FFFFFF">
                    <a:alpha val="80000"/>
                  </a:srgbClr>
                </a:solidFill>
                <a:latin typeface="Anantason Condensed"/>
                <a:ea typeface="Anantason Condensed"/>
                <a:cs typeface="Anantason Condensed"/>
                <a:sym typeface="Anantason Condensed"/>
              </a:rPr>
              <a:t>for more than 300 ms, the drone must stop and hover (our piloted-flight rule).</a:t>
            </a:r>
            <a:r>
              <a:rPr lang="en-US" sz="2047" spc="-19" b="true">
                <a:solidFill>
                  <a:srgbClr val="24C2D4">
                    <a:alpha val="80000"/>
                  </a:srgbClr>
                </a:solidFill>
                <a:latin typeface="Anantason Condensed Bold"/>
                <a:ea typeface="Anantason Condensed Bold"/>
                <a:cs typeface="Anantason Condensed Bold"/>
                <a:sym typeface="Anantason Condensed Bold"/>
              </a:rPr>
              <a:t/>
            </a:r>
            <a:r>
              <a:rPr lang="en-US" sz="2047" spc="-19">
                <a:solidFill>
                  <a:srgbClr val="FFFFFF">
                    <a:alpha val="80000"/>
                  </a:srgbClr>
                </a:solidFill>
                <a:latin typeface="Anantason Condensed"/>
                <a:ea typeface="Anantason Condensed"/>
                <a:cs typeface="Anantason Condensed"/>
                <a:sym typeface="Anantason Condensed"/>
              </a:rPr>
              <a:t/>
            </a:r>
          </a:p>
        </p:txBody>
      </p:sp>
      <p:sp>
        <p:nvSpPr>
          <p:cNvPr name="TextBox 12" id="12"/>
          <p:cNvSpPr txBox="true"/>
          <p:nvPr/>
        </p:nvSpPr>
        <p:spPr>
          <a:xfrm rot="0">
            <a:off x="703866" y="4343367"/>
            <a:ext cx="1943877" cy="361584"/>
          </a:xfrm>
          <a:prstGeom prst="rect">
            <a:avLst/>
          </a:prstGeom>
        </p:spPr>
        <p:txBody>
          <a:bodyPr anchor="t" rtlCol="false" tIns="0" lIns="0" bIns="0" rIns="0">
            <a:spAutoFit/>
          </a:bodyPr>
          <a:lstStyle/>
          <a:p>
            <a:pPr algn="l">
              <a:lnSpc>
                <a:spcPts val="2759"/>
              </a:lnSpc>
            </a:pPr>
            <a:r>
              <a:rPr lang="en-US" sz="2759" b="true">
                <a:solidFill>
                  <a:srgbClr val="FFFFFF">
                    <a:alpha val="80000"/>
                  </a:srgbClr>
                </a:solidFill>
                <a:latin typeface="Anantason Condensed Bold"/>
                <a:ea typeface="Anantason Condensed Bold"/>
                <a:cs typeface="Anantason Condensed Bold"/>
                <a:sym typeface="Anantason Condensed Bold"/>
              </a:rPr>
              <a:t>MECHANISM</a:t>
            </a:r>
          </a:p>
        </p:txBody>
      </p:sp>
      <p:sp>
        <p:nvSpPr>
          <p:cNvPr name="TextBox 13" id="13"/>
          <p:cNvSpPr txBox="true"/>
          <p:nvPr/>
        </p:nvSpPr>
        <p:spPr>
          <a:xfrm rot="0">
            <a:off x="3805401" y="3933612"/>
            <a:ext cx="7901280" cy="1142342"/>
          </a:xfrm>
          <a:prstGeom prst="rect">
            <a:avLst/>
          </a:prstGeom>
        </p:spPr>
        <p:txBody>
          <a:bodyPr anchor="t" rtlCol="false" tIns="0" lIns="0" bIns="0" rIns="0">
            <a:spAutoFit/>
          </a:bodyPr>
          <a:lstStyle/>
          <a:p>
            <a:pPr algn="l">
              <a:lnSpc>
                <a:spcPts val="2383"/>
              </a:lnSpc>
            </a:pPr>
            <a:r>
              <a:rPr lang="en-US" sz="1986" spc="-19">
                <a:solidFill>
                  <a:srgbClr val="FFFFFF">
                    <a:alpha val="80000"/>
                  </a:srgbClr>
                </a:solidFill>
                <a:latin typeface="Anantason Condensed"/>
                <a:ea typeface="Anantason Condensed"/>
                <a:cs typeface="Anantason Condensed"/>
                <a:sym typeface="Anantason Condensed"/>
              </a:rPr>
              <a:t>FlexiPath finds a fading signal seconds early. It wakes the next network and tests it. For 0.4 s, it sends only the critical commands on both networks. Then it switches with no gap. An anchor relay keeps each connection open.</a:t>
            </a:r>
            <a:r>
              <a:rPr lang="en-US" sz="1986" spc="-19" b="true">
                <a:solidFill>
                  <a:srgbClr val="24C2D4">
                    <a:alpha val="80000"/>
                  </a:srgbClr>
                </a:solidFill>
                <a:latin typeface="Anantason Condensed Bold"/>
                <a:ea typeface="Anantason Condensed Bold"/>
                <a:cs typeface="Anantason Condensed Bold"/>
                <a:sym typeface="Anantason Condensed Bold"/>
              </a:rPr>
              <a:t/>
            </a:r>
            <a:r>
              <a:rPr lang="en-US" sz="1986" spc="-19">
                <a:solidFill>
                  <a:srgbClr val="FFFFFF">
                    <a:alpha val="80000"/>
                  </a:srgbClr>
                </a:solidFill>
                <a:latin typeface="Anantason Condensed"/>
                <a:ea typeface="Anantason Condensed"/>
                <a:cs typeface="Anantason Condensed"/>
                <a:sym typeface="Anantason Condensed"/>
              </a:rPr>
              <a:t/>
            </a:r>
            <a:r>
              <a:rPr lang="en-US" sz="1986" spc="-19" b="true">
                <a:solidFill>
                  <a:srgbClr val="24C2D4">
                    <a:alpha val="80000"/>
                  </a:srgbClr>
                </a:solidFill>
                <a:latin typeface="Anantason Condensed Bold"/>
                <a:ea typeface="Anantason Condensed Bold"/>
                <a:cs typeface="Anantason Condensed Bold"/>
                <a:sym typeface="Anantason Condensed Bold"/>
              </a:rPr>
              <a:t/>
            </a:r>
            <a:r>
              <a:rPr lang="en-US" sz="1986" spc="-19">
                <a:solidFill>
                  <a:srgbClr val="FFFFFF">
                    <a:alpha val="80000"/>
                  </a:srgbClr>
                </a:solidFill>
                <a:latin typeface="Anantason Condensed"/>
                <a:ea typeface="Anantason Condensed"/>
                <a:cs typeface="Anantason Condensed"/>
                <a:sym typeface="Anantason Condensed"/>
              </a:rPr>
              <a:t/>
            </a:r>
          </a:p>
          <a:p>
            <a:pPr algn="l">
              <a:lnSpc>
                <a:spcPts val="2383"/>
              </a:lnSpc>
            </a:pPr>
            <a:r>
              <a:rPr lang="en-US" sz="1986" spc="-19">
                <a:solidFill>
                  <a:srgbClr val="FFFFFF">
                    <a:alpha val="80000"/>
                  </a:srgbClr>
                </a:solidFill>
                <a:latin typeface="Anantason Condensed"/>
                <a:ea typeface="Anantason Condensed"/>
                <a:cs typeface="Anantason Condensed"/>
                <a:sym typeface="Anantason Condensed"/>
              </a:rPr>
              <a:t>Spare modems sleep at all other times to save power.</a:t>
            </a:r>
          </a:p>
        </p:txBody>
      </p:sp>
      <p:sp>
        <p:nvSpPr>
          <p:cNvPr name="TextBox 14" id="14"/>
          <p:cNvSpPr txBox="true"/>
          <p:nvPr/>
        </p:nvSpPr>
        <p:spPr>
          <a:xfrm rot="0">
            <a:off x="707502" y="6225972"/>
            <a:ext cx="1580311" cy="361584"/>
          </a:xfrm>
          <a:prstGeom prst="rect">
            <a:avLst/>
          </a:prstGeom>
        </p:spPr>
        <p:txBody>
          <a:bodyPr anchor="t" rtlCol="false" tIns="0" lIns="0" bIns="0" rIns="0">
            <a:spAutoFit/>
          </a:bodyPr>
          <a:lstStyle/>
          <a:p>
            <a:pPr algn="l">
              <a:lnSpc>
                <a:spcPts val="2759"/>
              </a:lnSpc>
            </a:pPr>
            <a:r>
              <a:rPr lang="en-US" sz="2759" b="true">
                <a:solidFill>
                  <a:srgbClr val="FFFFFF">
                    <a:alpha val="80000"/>
                  </a:srgbClr>
                </a:solidFill>
                <a:latin typeface="Anantason Condensed Bold"/>
                <a:ea typeface="Anantason Condensed Bold"/>
                <a:cs typeface="Anantason Condensed Bold"/>
                <a:sym typeface="Anantason Condensed Bold"/>
              </a:rPr>
              <a:t>EVIDENCE</a:t>
            </a:r>
          </a:p>
        </p:txBody>
      </p:sp>
      <p:sp>
        <p:nvSpPr>
          <p:cNvPr name="TextBox 15" id="15"/>
          <p:cNvSpPr txBox="true"/>
          <p:nvPr/>
        </p:nvSpPr>
        <p:spPr>
          <a:xfrm rot="0">
            <a:off x="3807769" y="5560183"/>
            <a:ext cx="7664548" cy="1713539"/>
          </a:xfrm>
          <a:prstGeom prst="rect">
            <a:avLst/>
          </a:prstGeom>
        </p:spPr>
        <p:txBody>
          <a:bodyPr anchor="t" rtlCol="false" tIns="0" lIns="0" bIns="0" rIns="0">
            <a:spAutoFit/>
          </a:bodyPr>
          <a:lstStyle/>
          <a:p>
            <a:pPr algn="l">
              <a:lnSpc>
                <a:spcPts val="2383"/>
              </a:lnSpc>
            </a:pPr>
            <a:r>
              <a:rPr lang="en-US" sz="1986" spc="-19">
                <a:solidFill>
                  <a:srgbClr val="FFFFFF">
                    <a:alpha val="80000"/>
                  </a:srgbClr>
                </a:solidFill>
                <a:latin typeface="Anantason Condensed"/>
                <a:ea typeface="Anantason Condensed"/>
                <a:cs typeface="Anantason Condensed"/>
                <a:sym typeface="Anantason Condensed"/>
              </a:rPr>
              <a:t>We run 160 paired simulated flights (8 scenarios, 5 seeds, 4 speeds) with a legacy stack and two existing methods. Reactive multipath (MPTCP/ATSSS) switches after failure. Always duplicate (PDCP duplication) sends twice.</a:t>
            </a:r>
            <a:r>
              <a:rPr lang="en-US" sz="1986" spc="-19" b="true">
                <a:solidFill>
                  <a:srgbClr val="24C2D4">
                    <a:alpha val="80000"/>
                  </a:srgbClr>
                </a:solidFill>
                <a:latin typeface="Anantason Condensed Bold"/>
                <a:ea typeface="Anantason Condensed Bold"/>
                <a:cs typeface="Anantason Condensed Bold"/>
                <a:sym typeface="Anantason Condensed Bold"/>
              </a:rPr>
              <a:t/>
            </a:r>
            <a:r>
              <a:rPr lang="en-US" sz="1986" spc="-19">
                <a:solidFill>
                  <a:srgbClr val="FFFFFF">
                    <a:alpha val="80000"/>
                  </a:srgbClr>
                </a:solidFill>
                <a:latin typeface="Anantason Condensed"/>
                <a:ea typeface="Anantason Condensed"/>
                <a:cs typeface="Anantason Condensed"/>
                <a:sym typeface="Anantason Condensed"/>
              </a:rPr>
              <a:t/>
            </a:r>
          </a:p>
          <a:p>
            <a:pPr algn="l">
              <a:lnSpc>
                <a:spcPts val="2383"/>
              </a:lnSpc>
            </a:pPr>
            <a:r>
              <a:rPr lang="en-US" sz="1986" spc="-19">
                <a:solidFill>
                  <a:srgbClr val="FFFFFF">
                    <a:alpha val="80000"/>
                  </a:srgbClr>
                </a:solidFill>
                <a:latin typeface="Anantason Condensed"/>
                <a:ea typeface="Anantason Condensed"/>
                <a:cs typeface="Anantason Condensed"/>
                <a:sym typeface="Anantason Condensed"/>
              </a:rPr>
              <a:t>With our 300 ms rule and 60 vs 250 ms outage detection, FlexiPath keeps C2 on 100 % of flights. A legacy stack keeps it on 0 %. Reactive multipath fails in three scenarios. Always duplicate uses 2.1–2.6× the power.</a:t>
            </a:r>
            <a:r>
              <a:rPr lang="en-US" sz="1986" spc="-19" b="true">
                <a:solidFill>
                  <a:srgbClr val="24C2D4">
                    <a:alpha val="80000"/>
                  </a:srgbClr>
                </a:solidFill>
                <a:latin typeface="Anantason Condensed Bold"/>
                <a:ea typeface="Anantason Condensed Bold"/>
                <a:cs typeface="Anantason Condensed Bold"/>
                <a:sym typeface="Anantason Condensed Bold"/>
              </a:rPr>
              <a:t/>
            </a:r>
            <a:r>
              <a:rPr lang="en-US" sz="1986" spc="-19">
                <a:solidFill>
                  <a:srgbClr val="FFFFFF">
                    <a:alpha val="80000"/>
                  </a:srgbClr>
                </a:solidFill>
                <a:latin typeface="Anantason Condensed"/>
                <a:ea typeface="Anantason Condensed"/>
                <a:cs typeface="Anantason Condensed"/>
                <a:sym typeface="Anantason Condensed"/>
              </a:rPr>
              <a:t/>
            </a:r>
            <a:r>
              <a:rPr lang="en-US" sz="1986" spc="-19" b="true">
                <a:solidFill>
                  <a:srgbClr val="24C2D4">
                    <a:alpha val="80000"/>
                  </a:srgbClr>
                </a:solidFill>
                <a:latin typeface="Anantason Condensed Bold"/>
                <a:ea typeface="Anantason Condensed Bold"/>
                <a:cs typeface="Anantason Condensed Bold"/>
                <a:sym typeface="Anantason Condensed Bold"/>
              </a:rPr>
              <a:t/>
            </a:r>
            <a:r>
              <a:rPr lang="en-US" sz="1986" spc="-19">
                <a:solidFill>
                  <a:srgbClr val="FFFFFF">
                    <a:alpha val="80000"/>
                  </a:srgbClr>
                </a:solidFill>
                <a:latin typeface="Anantason Condensed"/>
                <a:ea typeface="Anantason Condensed"/>
                <a:cs typeface="Anantason Condensed"/>
                <a:sym typeface="Anantason Condensed"/>
              </a:rPr>
              <a:t/>
            </a:r>
            <a:r>
              <a:rPr lang="en-US" sz="1986" spc="-19" b="true">
                <a:solidFill>
                  <a:srgbClr val="24C2D4">
                    <a:alpha val="80000"/>
                  </a:srgbClr>
                </a:solidFill>
                <a:latin typeface="Anantason Condensed Bold"/>
                <a:ea typeface="Anantason Condensed Bold"/>
                <a:cs typeface="Anantason Condensed Bold"/>
                <a:sym typeface="Anantason Condensed Bold"/>
              </a:rPr>
              <a:t/>
            </a:r>
            <a:r>
              <a:rPr lang="en-US" sz="1986" spc="-19">
                <a:solidFill>
                  <a:srgbClr val="FFFFFF">
                    <a:alpha val="80000"/>
                  </a:srgbClr>
                </a:solidFill>
                <a:latin typeface="Anantason Condensed"/>
                <a:ea typeface="Anantason Condensed"/>
                <a:cs typeface="Anantason Condensed"/>
                <a:sym typeface="Anantason Condensed"/>
              </a:rPr>
              <a:t/>
            </a:r>
          </a:p>
        </p:txBody>
      </p:sp>
      <p:sp>
        <p:nvSpPr>
          <p:cNvPr name="TextBox 16" id="16"/>
          <p:cNvSpPr txBox="true"/>
          <p:nvPr/>
        </p:nvSpPr>
        <p:spPr>
          <a:xfrm rot="0">
            <a:off x="705731" y="8560402"/>
            <a:ext cx="1757358" cy="361584"/>
          </a:xfrm>
          <a:prstGeom prst="rect">
            <a:avLst/>
          </a:prstGeom>
        </p:spPr>
        <p:txBody>
          <a:bodyPr anchor="t" rtlCol="false" tIns="0" lIns="0" bIns="0" rIns="0">
            <a:spAutoFit/>
          </a:bodyPr>
          <a:lstStyle/>
          <a:p>
            <a:pPr algn="l">
              <a:lnSpc>
                <a:spcPts val="2759"/>
              </a:lnSpc>
            </a:pPr>
            <a:r>
              <a:rPr lang="en-US" sz="2759" b="true">
                <a:solidFill>
                  <a:srgbClr val="FFFFFF">
                    <a:alpha val="80000"/>
                  </a:srgbClr>
                </a:solidFill>
                <a:latin typeface="Anantason Condensed Bold"/>
                <a:ea typeface="Anantason Condensed Bold"/>
                <a:cs typeface="Anantason Condensed Bold"/>
                <a:sym typeface="Anantason Condensed Bold"/>
              </a:rPr>
              <a:t>DELIVERED</a:t>
            </a:r>
          </a:p>
        </p:txBody>
      </p:sp>
      <p:sp>
        <p:nvSpPr>
          <p:cNvPr name="TextBox 17" id="17"/>
          <p:cNvSpPr txBox="true"/>
          <p:nvPr/>
        </p:nvSpPr>
        <p:spPr>
          <a:xfrm rot="0">
            <a:off x="3822939" y="7789188"/>
            <a:ext cx="6147531" cy="571146"/>
          </a:xfrm>
          <a:prstGeom prst="rect">
            <a:avLst/>
          </a:prstGeom>
        </p:spPr>
        <p:txBody>
          <a:bodyPr anchor="t" rtlCol="false" tIns="0" lIns="0" bIns="0" rIns="0">
            <a:spAutoFit/>
          </a:bodyPr>
          <a:lstStyle/>
          <a:p>
            <a:pPr algn="l">
              <a:lnSpc>
                <a:spcPts val="2383"/>
              </a:lnSpc>
            </a:pPr>
            <a:r>
              <a:rPr lang="en-US" sz="1986" spc="-19" b="true">
                <a:solidFill>
                  <a:srgbClr val="24C2D4">
                    <a:alpha val="80000"/>
                  </a:srgbClr>
                </a:solidFill>
                <a:latin typeface="Anantason Condensed Bold"/>
                <a:ea typeface="Anantason Condensed Bold"/>
                <a:cs typeface="Anantason Condensed Bold"/>
                <a:sym typeface="Anantason Condensed Bold"/>
              </a:rPr>
              <a:t>4–7 points more reliability per extra watt for FlexiPath</a:t>
            </a:r>
            <a:r>
              <a:rPr lang="en-US" sz="1986" spc="-19">
                <a:solidFill>
                  <a:srgbClr val="FFFFFF">
                    <a:alpha val="80000"/>
                  </a:srgbClr>
                </a:solidFill>
                <a:latin typeface="Anantason Condensed"/>
                <a:ea typeface="Anantason Condensed"/>
                <a:cs typeface="Anantason Condensed"/>
                <a:sym typeface="Anantason Condensed"/>
              </a:rPr>
              <a:t/>
            </a:r>
          </a:p>
          <a:p>
            <a:pPr algn="l">
              <a:lnSpc>
                <a:spcPts val="2383"/>
              </a:lnSpc>
            </a:pPr>
            <a:r>
              <a:rPr lang="en-US" sz="1986" spc="-19">
                <a:solidFill>
                  <a:srgbClr val="FFFFFF">
                    <a:alpha val="80000"/>
                  </a:srgbClr>
                </a:solidFill>
                <a:latin typeface="Anantason Condensed"/>
                <a:ea typeface="Anantason Condensed"/>
                <a:cs typeface="Anantason Condensed"/>
                <a:sym typeface="Anantason Condensed"/>
              </a:rPr>
              <a:t>versus 0.3–0.9 for always duplicate.</a:t>
            </a:r>
            <a:r>
              <a:rPr lang="en-US" sz="1986" spc="-19" b="true">
                <a:solidFill>
                  <a:srgbClr val="24C2D4">
                    <a:alpha val="80000"/>
                  </a:srgbClr>
                </a:solidFill>
                <a:latin typeface="Anantason Condensed Bold"/>
                <a:ea typeface="Anantason Condensed Bold"/>
                <a:cs typeface="Anantason Condensed Bold"/>
                <a:sym typeface="Anantason Condensed Bold"/>
              </a:rPr>
              <a:t/>
            </a:r>
            <a:r>
              <a:rPr lang="en-US" sz="1986" spc="-19">
                <a:solidFill>
                  <a:srgbClr val="FFFFFF">
                    <a:alpha val="80000"/>
                  </a:srgbClr>
                </a:solidFill>
                <a:latin typeface="Anantason Condensed"/>
                <a:ea typeface="Anantason Condensed"/>
                <a:cs typeface="Anantason Condensed"/>
                <a:sym typeface="Anantason Condensed"/>
              </a:rPr>
              <a:t/>
            </a:r>
          </a:p>
        </p:txBody>
      </p:sp>
      <p:sp>
        <p:nvSpPr>
          <p:cNvPr name="TextBox 18" id="18"/>
          <p:cNvSpPr txBox="true"/>
          <p:nvPr/>
        </p:nvSpPr>
        <p:spPr>
          <a:xfrm rot="0">
            <a:off x="3812831" y="8662716"/>
            <a:ext cx="7158352" cy="1142342"/>
          </a:xfrm>
          <a:prstGeom prst="rect">
            <a:avLst/>
          </a:prstGeom>
        </p:spPr>
        <p:txBody>
          <a:bodyPr anchor="t" rtlCol="false" tIns="0" lIns="0" bIns="0" rIns="0">
            <a:spAutoFit/>
          </a:bodyPr>
          <a:lstStyle/>
          <a:p>
            <a:pPr algn="l">
              <a:lnSpc>
                <a:spcPts val="2383"/>
              </a:lnSpc>
            </a:pPr>
            <a:r>
              <a:rPr lang="en-US" sz="1986" spc="-19">
                <a:solidFill>
                  <a:srgbClr val="FFFFFF">
                    <a:alpha val="80000"/>
                  </a:srgbClr>
                </a:solidFill>
                <a:latin typeface="Anantason Condensed"/>
                <a:ea typeface="Anantason Condensed"/>
                <a:cs typeface="Anantason Condensed"/>
                <a:sym typeface="Anantason Condensed"/>
              </a:rPr>
              <a:t>A working prototype (interactive 3D digital twin with a guided demo),</a:t>
            </a:r>
          </a:p>
          <a:p>
            <a:pPr algn="l">
              <a:lnSpc>
                <a:spcPts val="2383"/>
              </a:lnSpc>
            </a:pPr>
            <a:r>
              <a:rPr lang="en-US" sz="1986" spc="-19">
                <a:solidFill>
                  <a:srgbClr val="FFFFFF">
                    <a:alpha val="80000"/>
                  </a:srgbClr>
                </a:solidFill>
                <a:latin typeface="Anantason Condensed"/>
                <a:ea typeface="Anantason Condensed"/>
                <a:cs typeface="Anantason Condensed"/>
                <a:sym typeface="Anantason Condensed"/>
              </a:rPr>
              <a:t>a deterministic simulation with a headless benchmark, and a documented model. We check its parameters against published data.</a:t>
            </a:r>
          </a:p>
          <a:p>
            <a:pPr algn="l">
              <a:lnSpc>
                <a:spcPts val="2383"/>
              </a:lnSpc>
            </a:pPr>
            <a:r>
              <a:rPr lang="en-US" sz="1986" spc="-19">
                <a:solidFill>
                  <a:srgbClr val="FFFFFF">
                    <a:alpha val="80000"/>
                  </a:srgbClr>
                </a:solidFill>
                <a:latin typeface="Anantason Condensed"/>
                <a:ea typeface="Anantason Condensed"/>
                <a:cs typeface="Anantason Condensed"/>
                <a:sym typeface="Anantason Condensed"/>
              </a:rPr>
              <a:t>All results are from simulation; we claim no live-network measurements.</a:t>
            </a:r>
          </a:p>
        </p:txBody>
      </p:sp>
      <p:sp>
        <p:nvSpPr>
          <p:cNvPr name="Freeform 19" id="19"/>
          <p:cNvSpPr/>
          <p:nvPr/>
        </p:nvSpPr>
        <p:spPr>
          <a:xfrm flipH="false" flipV="false" rot="0">
            <a:off x="426574" y="2142670"/>
            <a:ext cx="11987828" cy="218640"/>
          </a:xfrm>
          <a:custGeom>
            <a:avLst/>
            <a:gdLst/>
            <a:ahLst/>
            <a:cxnLst/>
            <a:rect r="r" b="b" t="t" l="l"/>
            <a:pathLst>
              <a:path h="218640" w="11987828">
                <a:moveTo>
                  <a:pt x="0" y="0"/>
                </a:moveTo>
                <a:lnTo>
                  <a:pt x="11987828" y="0"/>
                </a:lnTo>
                <a:lnTo>
                  <a:pt x="11987828" y="218639"/>
                </a:lnTo>
                <a:lnTo>
                  <a:pt x="0" y="218639"/>
                </a:lnTo>
                <a:lnTo>
                  <a:pt x="0" y="0"/>
                </a:lnTo>
                <a:close/>
              </a:path>
            </a:pathLst>
          </a:custGeom>
          <a:blipFill>
            <a:blip r:embed="rId8"/>
            <a:stretch>
              <a:fillRect l="0" t="0" r="0" b="0"/>
            </a:stretch>
          </a:blipFill>
        </p:spPr>
        <p:txBody>
          <a:bodyPr/>
          <a:p/>
        </p:txBody>
      </p:sp>
      <p:sp>
        <p:nvSpPr>
          <p:cNvPr name="Freeform 20" id="20"/>
          <p:cNvSpPr/>
          <p:nvPr/>
        </p:nvSpPr>
        <p:spPr>
          <a:xfrm flipH="false" flipV="false" rot="0">
            <a:off x="426574" y="3640352"/>
            <a:ext cx="11987828" cy="218640"/>
          </a:xfrm>
          <a:custGeom>
            <a:avLst/>
            <a:gdLst/>
            <a:ahLst/>
            <a:cxnLst/>
            <a:rect r="r" b="b" t="t" l="l"/>
            <a:pathLst>
              <a:path h="218640" w="11987828">
                <a:moveTo>
                  <a:pt x="0" y="0"/>
                </a:moveTo>
                <a:lnTo>
                  <a:pt x="11987828" y="0"/>
                </a:lnTo>
                <a:lnTo>
                  <a:pt x="11987828" y="218639"/>
                </a:lnTo>
                <a:lnTo>
                  <a:pt x="0" y="218639"/>
                </a:lnTo>
                <a:lnTo>
                  <a:pt x="0" y="0"/>
                </a:lnTo>
                <a:close/>
              </a:path>
            </a:pathLst>
          </a:custGeom>
          <a:blipFill>
            <a:blip r:embed="rId9"/>
            <a:stretch>
              <a:fillRect l="0" t="0" r="0" b="0"/>
            </a:stretch>
          </a:blipFill>
        </p:spPr>
        <p:txBody>
          <a:bodyPr/>
          <a:p/>
        </p:txBody>
      </p:sp>
      <p:sp>
        <p:nvSpPr>
          <p:cNvPr name="Freeform 21" id="21"/>
          <p:cNvSpPr/>
          <p:nvPr/>
        </p:nvSpPr>
        <p:spPr>
          <a:xfrm flipH="false" flipV="false" rot="0">
            <a:off x="426574" y="5138034"/>
            <a:ext cx="11987828" cy="229572"/>
          </a:xfrm>
          <a:custGeom>
            <a:avLst/>
            <a:gdLst/>
            <a:ahLst/>
            <a:cxnLst/>
            <a:rect r="r" b="b" t="t" l="l"/>
            <a:pathLst>
              <a:path h="229572" w="11987828">
                <a:moveTo>
                  <a:pt x="0" y="0"/>
                </a:moveTo>
                <a:lnTo>
                  <a:pt x="11987828" y="0"/>
                </a:lnTo>
                <a:lnTo>
                  <a:pt x="11987828" y="229572"/>
                </a:lnTo>
                <a:lnTo>
                  <a:pt x="0" y="229572"/>
                </a:lnTo>
                <a:lnTo>
                  <a:pt x="0" y="0"/>
                </a:lnTo>
                <a:close/>
              </a:path>
            </a:pathLst>
          </a:custGeom>
          <a:blipFill>
            <a:blip r:embed="rId10"/>
            <a:stretch>
              <a:fillRect l="0" t="0" r="0" b="0"/>
            </a:stretch>
          </a:blipFill>
        </p:spPr>
        <p:txBody>
          <a:bodyPr/>
          <a:p/>
        </p:txBody>
      </p:sp>
      <p:sp>
        <p:nvSpPr>
          <p:cNvPr name="Freeform 22" id="22"/>
          <p:cNvSpPr/>
          <p:nvPr/>
        </p:nvSpPr>
        <p:spPr>
          <a:xfrm flipH="false" flipV="false" rot="0">
            <a:off x="426574" y="7499343"/>
            <a:ext cx="11987828" cy="218640"/>
          </a:xfrm>
          <a:custGeom>
            <a:avLst/>
            <a:gdLst/>
            <a:ahLst/>
            <a:cxnLst/>
            <a:rect r="r" b="b" t="t" l="l"/>
            <a:pathLst>
              <a:path h="218640" w="11987828">
                <a:moveTo>
                  <a:pt x="0" y="0"/>
                </a:moveTo>
                <a:lnTo>
                  <a:pt x="11987828" y="0"/>
                </a:lnTo>
                <a:lnTo>
                  <a:pt x="11987828" y="218640"/>
                </a:lnTo>
                <a:lnTo>
                  <a:pt x="0" y="218640"/>
                </a:lnTo>
                <a:lnTo>
                  <a:pt x="0" y="0"/>
                </a:lnTo>
                <a:close/>
              </a:path>
            </a:pathLst>
          </a:custGeom>
          <a:blipFill>
            <a:blip r:embed="rId11"/>
            <a:stretch>
              <a:fillRect l="0" t="0" r="0" b="0"/>
            </a:stretch>
          </a:blipFill>
        </p:spPr>
        <p:txBody>
          <a:body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Freeform 3" id="3"/>
          <p:cNvSpPr/>
          <p:nvPr/>
        </p:nvSpPr>
        <p:spPr>
          <a:xfrm flipH="false" flipV="false" rot="0">
            <a:off x="6956440" y="2142670"/>
            <a:ext cx="10248718" cy="4930326"/>
          </a:xfrm>
          <a:custGeom>
            <a:avLst/>
            <a:gdLst/>
            <a:ahLst/>
            <a:cxnLst/>
            <a:rect r="r" b="b" t="t" l="l"/>
            <a:pathLst>
              <a:path h="4930326" w="10248718">
                <a:moveTo>
                  <a:pt x="0" y="0"/>
                </a:moveTo>
                <a:lnTo>
                  <a:pt x="10248718" y="0"/>
                </a:lnTo>
                <a:lnTo>
                  <a:pt x="10248718" y="4930326"/>
                </a:lnTo>
                <a:lnTo>
                  <a:pt x="0" y="4930326"/>
                </a:lnTo>
                <a:lnTo>
                  <a:pt x="0" y="0"/>
                </a:lnTo>
                <a:close/>
              </a:path>
            </a:pathLst>
          </a:custGeom>
          <a:blipFill>
            <a:blip r:embed="rId3"/>
            <a:stretch>
              <a:fillRect l="0" t="0" r="0" b="0"/>
            </a:stretch>
          </a:blipFill>
        </p:spPr>
        <p:txBody>
          <a:bodyPr/>
          <a:p/>
        </p:txBody>
      </p:sp>
      <p:sp>
        <p:nvSpPr>
          <p:cNvPr name="Freeform 4" id="4"/>
          <p:cNvSpPr/>
          <p:nvPr/>
        </p:nvSpPr>
        <p:spPr>
          <a:xfrm flipH="false" flipV="false" rot="0">
            <a:off x="11101866" y="1497682"/>
            <a:ext cx="2832890" cy="1082267"/>
          </a:xfrm>
          <a:custGeom>
            <a:avLst/>
            <a:gdLst/>
            <a:ahLst/>
            <a:cxnLst/>
            <a:rect r="r" b="b" t="t" l="l"/>
            <a:pathLst>
              <a:path h="1082267" w="2832890">
                <a:moveTo>
                  <a:pt x="0" y="0"/>
                </a:moveTo>
                <a:lnTo>
                  <a:pt x="2832890" y="0"/>
                </a:lnTo>
                <a:lnTo>
                  <a:pt x="2832890" y="1082267"/>
                </a:lnTo>
                <a:lnTo>
                  <a:pt x="0" y="1082267"/>
                </a:lnTo>
                <a:lnTo>
                  <a:pt x="0" y="0"/>
                </a:lnTo>
                <a:close/>
              </a:path>
            </a:pathLst>
          </a:custGeom>
          <a:blipFill>
            <a:blip r:embed="rId4"/>
            <a:stretch>
              <a:fillRect l="0" t="0" r="0" b="0"/>
            </a:stretch>
          </a:blipFill>
        </p:spPr>
        <p:txBody>
          <a:bodyPr/>
          <a:p/>
        </p:txBody>
      </p:sp>
      <p:sp>
        <p:nvSpPr>
          <p:cNvPr name="Freeform 5" id="5"/>
          <p:cNvSpPr/>
          <p:nvPr/>
        </p:nvSpPr>
        <p:spPr>
          <a:xfrm flipH="false" flipV="false" rot="0">
            <a:off x="16319196" y="2142670"/>
            <a:ext cx="1542230" cy="1289974"/>
          </a:xfrm>
          <a:custGeom>
            <a:avLst/>
            <a:gdLst/>
            <a:ahLst/>
            <a:cxnLst/>
            <a:rect r="r" b="b" t="t" l="l"/>
            <a:pathLst>
              <a:path h="1289974" w="1542230">
                <a:moveTo>
                  <a:pt x="0" y="0"/>
                </a:moveTo>
                <a:lnTo>
                  <a:pt x="1542230" y="0"/>
                </a:lnTo>
                <a:lnTo>
                  <a:pt x="1542230" y="1289974"/>
                </a:lnTo>
                <a:lnTo>
                  <a:pt x="0" y="1289974"/>
                </a:lnTo>
                <a:lnTo>
                  <a:pt x="0" y="0"/>
                </a:lnTo>
                <a:close/>
              </a:path>
            </a:pathLst>
          </a:custGeom>
          <a:blipFill>
            <a:blip r:embed="rId5"/>
            <a:stretch>
              <a:fillRect l="0" t="0" r="0" b="0"/>
            </a:stretch>
          </a:blipFill>
        </p:spPr>
        <p:txBody>
          <a:bodyPr/>
          <a:p/>
        </p:txBody>
      </p:sp>
      <p:sp>
        <p:nvSpPr>
          <p:cNvPr name="TextBox 6" id="6"/>
          <p:cNvSpPr txBox="true"/>
          <p:nvPr/>
        </p:nvSpPr>
        <p:spPr>
          <a:xfrm rot="0">
            <a:off x="496548" y="510421"/>
            <a:ext cx="6602242" cy="1846913"/>
          </a:xfrm>
          <a:prstGeom prst="rect">
            <a:avLst/>
          </a:prstGeom>
        </p:spPr>
        <p:txBody>
          <a:bodyPr anchor="t" rtlCol="false" tIns="0" lIns="0" bIns="0" rIns="0">
            <a:spAutoFit/>
          </a:bodyPr>
          <a:lstStyle/>
          <a:p>
            <a:pPr algn="l">
              <a:lnSpc>
                <a:spcPts val="7278"/>
              </a:lnSpc>
            </a:pPr>
            <a:r>
              <a:rPr lang="en-US" sz="6800" spc="-66" b="true">
                <a:solidFill>
                  <a:srgbClr val="F6F6F6"/>
                </a:solidFill>
                <a:latin typeface="Anantason Condensed Bold"/>
                <a:ea typeface="Anantason Condensed Bold"/>
                <a:cs typeface="Anantason Condensed Bold"/>
                <a:sym typeface="Anantason Condensed Bold"/>
              </a:rPr>
              <a:t>The problem and why it matters</a:t>
            </a:r>
          </a:p>
        </p:txBody>
      </p:sp>
      <p:sp>
        <p:nvSpPr>
          <p:cNvPr name="TextBox 7" id="7"/>
          <p:cNvSpPr txBox="true"/>
          <p:nvPr/>
        </p:nvSpPr>
        <p:spPr>
          <a:xfrm rot="0">
            <a:off x="562703" y="2679567"/>
            <a:ext cx="5344582" cy="1165634"/>
          </a:xfrm>
          <a:prstGeom prst="rect">
            <a:avLst/>
          </a:prstGeom>
        </p:spPr>
        <p:txBody>
          <a:bodyPr anchor="t" rtlCol="false" tIns="0" lIns="0" bIns="0" rIns="0">
            <a:spAutoFit/>
          </a:bodyPr>
          <a:lstStyle/>
          <a:p>
            <a:pPr algn="l">
              <a:lnSpc>
                <a:spcPts val="3232"/>
              </a:lnSpc>
            </a:pPr>
            <a:r>
              <a:rPr lang="en-US" sz="2487" spc="-24">
                <a:solidFill>
                  <a:srgbClr val="F6F6F6">
                    <a:alpha val="89804"/>
                  </a:srgbClr>
                </a:solidFill>
                <a:latin typeface="Anantason Condensed"/>
                <a:ea typeface="Anantason Condensed"/>
                <a:cs typeface="Anantason Condensed"/>
                <a:sym typeface="Anantason Condensed"/>
              </a:rPr>
              <a:t>In our model, every network change costs a legacy stack 3.8 s of silence.</a:t>
            </a:r>
            <a:r>
              <a:rPr lang="en-US" sz="2487" spc="-24" b="true">
                <a:solidFill>
                  <a:srgbClr val="10B0C6">
                    <a:alpha val="89804"/>
                  </a:srgbClr>
                </a:solidFill>
                <a:latin typeface="Anantason Condensed Bold"/>
                <a:ea typeface="Anantason Condensed Bold"/>
                <a:cs typeface="Anantason Condensed Bold"/>
                <a:sym typeface="Anantason Condensed Bold"/>
              </a:rPr>
              <a:t/>
            </a:r>
            <a:r>
              <a:rPr lang="en-US" sz="2487" spc="-24">
                <a:solidFill>
                  <a:srgbClr val="F6F6F6">
                    <a:alpha val="89804"/>
                  </a:srgbClr>
                </a:solidFill>
                <a:latin typeface="Anantason Condensed"/>
                <a:ea typeface="Anantason Condensed"/>
                <a:cs typeface="Anantason Condensed"/>
                <a:sym typeface="Anantason Condensed"/>
              </a:rPr>
              <a:t/>
            </a:r>
          </a:p>
        </p:txBody>
      </p:sp>
      <p:sp>
        <p:nvSpPr>
          <p:cNvPr name="TextBox 8" id="8"/>
          <p:cNvSpPr txBox="true"/>
          <p:nvPr/>
        </p:nvSpPr>
        <p:spPr>
          <a:xfrm rot="0">
            <a:off x="562234" y="4110347"/>
            <a:ext cx="5391487" cy="772936"/>
          </a:xfrm>
          <a:prstGeom prst="rect">
            <a:avLst/>
          </a:prstGeom>
        </p:spPr>
        <p:txBody>
          <a:bodyPr anchor="t" rtlCol="false" tIns="0" lIns="0" bIns="0" rIns="0">
            <a:spAutoFit/>
          </a:bodyPr>
          <a:lstStyle/>
          <a:p>
            <a:pPr algn="l">
              <a:lnSpc>
                <a:spcPts val="3232"/>
              </a:lnSpc>
            </a:pPr>
            <a:r>
              <a:rPr lang="en-US" sz="2487" spc="-24">
                <a:solidFill>
                  <a:srgbClr val="F6F6F6">
                    <a:alpha val="89804"/>
                  </a:srgbClr>
                </a:solidFill>
                <a:latin typeface="Anantason Condensed"/>
                <a:ea typeface="Anantason Condensed"/>
                <a:cs typeface="Anantason Condensed"/>
                <a:sym typeface="Anantason Condensed"/>
              </a:rPr>
              <a:t>Dropped calls. Frozen streams.</a:t>
            </a:r>
          </a:p>
          <a:p>
            <a:pPr algn="l">
              <a:lnSpc>
                <a:spcPts val="3232"/>
              </a:lnSpc>
            </a:pPr>
            <a:r>
              <a:rPr lang="en-US" sz="2487" spc="-24" b="true">
                <a:solidFill>
                  <a:srgbClr val="10B0C6">
                    <a:alpha val="89804"/>
                  </a:srgbClr>
                </a:solidFill>
                <a:latin typeface="Anantason Condensed Bold"/>
                <a:ea typeface="Anantason Condensed Bold"/>
                <a:cs typeface="Anantason Condensed Bold"/>
                <a:sym typeface="Anantason Condensed Bold"/>
              </a:rPr>
              <a:t>300 ms</a:t>
            </a:r>
            <a:r>
              <a:rPr lang="en-US" sz="2487" spc="-24">
                <a:solidFill>
                  <a:srgbClr val="F6F6F6">
                    <a:alpha val="89804"/>
                  </a:srgbClr>
                </a:solidFill>
                <a:latin typeface="Anantason Condensed"/>
                <a:ea typeface="Anantason Condensed"/>
                <a:cs typeface="Anantason Condensed"/>
                <a:sym typeface="Anantason Condensed"/>
              </a:rPr>
              <a:t> of silence makes a drone hover.</a:t>
            </a:r>
          </a:p>
        </p:txBody>
      </p:sp>
      <p:sp>
        <p:nvSpPr>
          <p:cNvPr name="TextBox 9" id="9"/>
          <p:cNvSpPr txBox="true"/>
          <p:nvPr/>
        </p:nvSpPr>
        <p:spPr>
          <a:xfrm rot="0">
            <a:off x="554752" y="5164606"/>
            <a:ext cx="6139662" cy="772936"/>
          </a:xfrm>
          <a:prstGeom prst="rect">
            <a:avLst/>
          </a:prstGeom>
        </p:spPr>
        <p:txBody>
          <a:bodyPr anchor="t" rtlCol="false" tIns="0" lIns="0" bIns="0" rIns="0">
            <a:spAutoFit/>
          </a:bodyPr>
          <a:lstStyle/>
          <a:p>
            <a:pPr algn="l">
              <a:lnSpc>
                <a:spcPts val="3232"/>
              </a:lnSpc>
            </a:pPr>
            <a:r>
              <a:rPr lang="en-US" sz="2487" spc="-24">
                <a:solidFill>
                  <a:srgbClr val="F6F6F6">
                    <a:alpha val="89804"/>
                  </a:srgbClr>
                </a:solidFill>
                <a:latin typeface="Anantason Condensed"/>
                <a:ea typeface="Anantason Condensed"/>
                <a:cs typeface="Anantason Condensed"/>
                <a:sym typeface="Anantason Condensed"/>
              </a:rPr>
              <a:t>Emergency response, industrial automation, connected transport and defence cannot wait.</a:t>
            </a:r>
          </a:p>
        </p:txBody>
      </p:sp>
      <p:sp>
        <p:nvSpPr>
          <p:cNvPr name="TextBox 10" id="10"/>
          <p:cNvSpPr txBox="true"/>
          <p:nvPr/>
        </p:nvSpPr>
        <p:spPr>
          <a:xfrm rot="0">
            <a:off x="556625" y="6173682"/>
            <a:ext cx="5952344" cy="772936"/>
          </a:xfrm>
          <a:prstGeom prst="rect">
            <a:avLst/>
          </a:prstGeom>
        </p:spPr>
        <p:txBody>
          <a:bodyPr anchor="t" rtlCol="false" tIns="0" lIns="0" bIns="0" rIns="0">
            <a:spAutoFit/>
          </a:bodyPr>
          <a:lstStyle/>
          <a:p>
            <a:pPr algn="l">
              <a:lnSpc>
                <a:spcPts val="3232"/>
              </a:lnSpc>
            </a:pPr>
            <a:r>
              <a:rPr lang="en-US" sz="2487" spc="-24">
                <a:solidFill>
                  <a:srgbClr val="F6F6F6">
                    <a:alpha val="89804"/>
                  </a:srgbClr>
                </a:solidFill>
                <a:latin typeface="Anantason Condensed"/>
                <a:ea typeface="Anantason Condensed"/>
                <a:cs typeface="Anantason Condensed"/>
                <a:sym typeface="Anantason Condensed"/>
              </a:rPr>
              <a:t>Two drones, one route: Wi-Fi → 5G → satellite.</a:t>
            </a:r>
            <a:r>
              <a:rPr lang="en-US" sz="2487" spc="-24" b="true">
                <a:solidFill>
                  <a:srgbClr val="10B0C6">
                    <a:alpha val="89804"/>
                  </a:srgbClr>
                </a:solidFill>
                <a:latin typeface="Anantason Condensed Bold"/>
                <a:ea typeface="Anantason Condensed Bold"/>
                <a:cs typeface="Anantason Condensed Bold"/>
                <a:sym typeface="Anantason Condensed Bold"/>
              </a:rPr>
              <a:t/>
            </a:r>
          </a:p>
        </p:txBody>
      </p:sp>
      <p:sp>
        <p:nvSpPr>
          <p:cNvPr name="Freeform 11" id="11"/>
          <p:cNvSpPr/>
          <p:nvPr/>
        </p:nvSpPr>
        <p:spPr>
          <a:xfrm flipH="false" flipV="false" rot="0">
            <a:off x="426574" y="7280704"/>
            <a:ext cx="16778584" cy="229572"/>
          </a:xfrm>
          <a:custGeom>
            <a:avLst/>
            <a:gdLst/>
            <a:ahLst/>
            <a:cxnLst/>
            <a:rect r="r" b="b" t="t" l="l"/>
            <a:pathLst>
              <a:path h="229572" w="16778584">
                <a:moveTo>
                  <a:pt x="0" y="0"/>
                </a:moveTo>
                <a:lnTo>
                  <a:pt x="16778584" y="0"/>
                </a:lnTo>
                <a:lnTo>
                  <a:pt x="16778584" y="229571"/>
                </a:lnTo>
                <a:lnTo>
                  <a:pt x="0" y="229571"/>
                </a:lnTo>
                <a:lnTo>
                  <a:pt x="0" y="0"/>
                </a:lnTo>
                <a:close/>
              </a:path>
            </a:pathLst>
          </a:custGeom>
          <a:blipFill>
            <a:blip r:embed="rId6"/>
            <a:stretch>
              <a:fillRect l="0" t="0" r="0" b="0"/>
            </a:stretch>
          </a:blipFill>
        </p:spPr>
        <p:txBody>
          <a:bodyPr/>
          <a:p/>
        </p:txBody>
      </p:sp>
      <p:sp>
        <p:nvSpPr>
          <p:cNvPr name="Freeform 12" id="12"/>
          <p:cNvSpPr/>
          <p:nvPr/>
        </p:nvSpPr>
        <p:spPr>
          <a:xfrm flipH="false" flipV="false" rot="0">
            <a:off x="426574" y="7280704"/>
            <a:ext cx="448450" cy="437279"/>
          </a:xfrm>
          <a:custGeom>
            <a:avLst/>
            <a:gdLst/>
            <a:ahLst/>
            <a:cxnLst/>
            <a:rect r="r" b="b" t="t" l="l"/>
            <a:pathLst>
              <a:path h="437279" w="448450">
                <a:moveTo>
                  <a:pt x="0" y="0"/>
                </a:moveTo>
                <a:lnTo>
                  <a:pt x="448450" y="0"/>
                </a:lnTo>
                <a:lnTo>
                  <a:pt x="448450" y="437279"/>
                </a:lnTo>
                <a:lnTo>
                  <a:pt x="0" y="437279"/>
                </a:lnTo>
                <a:lnTo>
                  <a:pt x="0" y="0"/>
                </a:lnTo>
                <a:close/>
              </a:path>
            </a:pathLst>
          </a:custGeom>
          <a:blipFill>
            <a:blip r:embed="rId7"/>
            <a:stretch>
              <a:fillRect l="0" t="0" r="0" b="0"/>
            </a:stretch>
          </a:blipFill>
        </p:spPr>
        <p:txBody>
          <a:bodyPr/>
          <a:p/>
        </p:txBody>
      </p:sp>
      <p:sp>
        <p:nvSpPr>
          <p:cNvPr name="TextBox 13" id="13"/>
          <p:cNvSpPr txBox="true"/>
          <p:nvPr/>
        </p:nvSpPr>
        <p:spPr>
          <a:xfrm rot="0">
            <a:off x="948649" y="8025990"/>
            <a:ext cx="1575747" cy="567311"/>
          </a:xfrm>
          <a:prstGeom prst="rect">
            <a:avLst/>
          </a:prstGeom>
        </p:spPr>
        <p:txBody>
          <a:bodyPr anchor="t" rtlCol="false" tIns="0" lIns="0" bIns="0" rIns="0">
            <a:spAutoFit/>
          </a:bodyPr>
          <a:lstStyle/>
          <a:p>
            <a:pPr algn="l">
              <a:lnSpc>
                <a:spcPts val="2353"/>
              </a:lnSpc>
            </a:pPr>
            <a:r>
              <a:rPr lang="en-US" sz="1810" spc="-17">
                <a:solidFill>
                  <a:srgbClr val="F6F6F6">
                    <a:alpha val="89804"/>
                  </a:srgbClr>
                </a:solidFill>
                <a:latin typeface="Anantason Condensed"/>
                <a:ea typeface="Anantason Condensed"/>
                <a:cs typeface="Anantason Condensed"/>
                <a:sym typeface="Anantason Condensed"/>
              </a:rPr>
              <a:t>Stable baseline mission prep</a:t>
            </a:r>
          </a:p>
        </p:txBody>
      </p:sp>
      <p:sp>
        <p:nvSpPr>
          <p:cNvPr name="Freeform 14" id="14"/>
          <p:cNvSpPr/>
          <p:nvPr/>
        </p:nvSpPr>
        <p:spPr>
          <a:xfrm flipH="false" flipV="false" rot="0">
            <a:off x="4572000" y="7280704"/>
            <a:ext cx="437512" cy="437279"/>
          </a:xfrm>
          <a:custGeom>
            <a:avLst/>
            <a:gdLst/>
            <a:ahLst/>
            <a:cxnLst/>
            <a:rect r="r" b="b" t="t" l="l"/>
            <a:pathLst>
              <a:path h="437279" w="437512">
                <a:moveTo>
                  <a:pt x="0" y="0"/>
                </a:moveTo>
                <a:lnTo>
                  <a:pt x="437512" y="0"/>
                </a:lnTo>
                <a:lnTo>
                  <a:pt x="437512" y="437279"/>
                </a:lnTo>
                <a:lnTo>
                  <a:pt x="0" y="437279"/>
                </a:lnTo>
                <a:lnTo>
                  <a:pt x="0" y="0"/>
                </a:lnTo>
                <a:close/>
              </a:path>
            </a:pathLst>
          </a:custGeom>
          <a:blipFill>
            <a:blip r:embed="rId8"/>
            <a:stretch>
              <a:fillRect l="0" t="0" r="0" b="0"/>
            </a:stretch>
          </a:blipFill>
        </p:spPr>
        <p:txBody>
          <a:bodyPr/>
          <a:p/>
        </p:txBody>
      </p:sp>
      <p:sp>
        <p:nvSpPr>
          <p:cNvPr name="TextBox 15" id="15"/>
          <p:cNvSpPr txBox="true"/>
          <p:nvPr/>
        </p:nvSpPr>
        <p:spPr>
          <a:xfrm rot="0">
            <a:off x="4806287" y="8025990"/>
            <a:ext cx="1574469" cy="567311"/>
          </a:xfrm>
          <a:prstGeom prst="rect">
            <a:avLst/>
          </a:prstGeom>
        </p:spPr>
        <p:txBody>
          <a:bodyPr anchor="t" rtlCol="false" tIns="0" lIns="0" bIns="0" rIns="0">
            <a:spAutoFit/>
          </a:bodyPr>
          <a:lstStyle/>
          <a:p>
            <a:pPr algn="l">
              <a:lnSpc>
                <a:spcPts val="2353"/>
              </a:lnSpc>
            </a:pPr>
            <a:r>
              <a:rPr lang="en-US" sz="1810" spc="-17">
                <a:solidFill>
                  <a:srgbClr val="F6F6F6">
                    <a:alpha val="89804"/>
                  </a:srgbClr>
                </a:solidFill>
                <a:latin typeface="Anantason Condensed"/>
                <a:ea typeface="Anantason Condensed"/>
                <a:cs typeface="Anantason Condensed"/>
                <a:sym typeface="Anantason Condensed"/>
              </a:rPr>
              <a:t>Local coverage on the move</a:t>
            </a:r>
          </a:p>
        </p:txBody>
      </p:sp>
      <p:sp>
        <p:nvSpPr>
          <p:cNvPr name="Freeform 16" id="16"/>
          <p:cNvSpPr/>
          <p:nvPr/>
        </p:nvSpPr>
        <p:spPr>
          <a:xfrm flipH="false" flipV="false" rot="0">
            <a:off x="8487732" y="7280704"/>
            <a:ext cx="656268" cy="437279"/>
          </a:xfrm>
          <a:custGeom>
            <a:avLst/>
            <a:gdLst/>
            <a:ahLst/>
            <a:cxnLst/>
            <a:rect r="r" b="b" t="t" l="l"/>
            <a:pathLst>
              <a:path h="437279" w="656268">
                <a:moveTo>
                  <a:pt x="0" y="0"/>
                </a:moveTo>
                <a:lnTo>
                  <a:pt x="656268" y="0"/>
                </a:lnTo>
                <a:lnTo>
                  <a:pt x="656268" y="437279"/>
                </a:lnTo>
                <a:lnTo>
                  <a:pt x="0" y="437279"/>
                </a:lnTo>
                <a:lnTo>
                  <a:pt x="0" y="0"/>
                </a:lnTo>
                <a:close/>
              </a:path>
            </a:pathLst>
          </a:custGeom>
          <a:blipFill>
            <a:blip r:embed="rId9"/>
            <a:stretch>
              <a:fillRect l="0" t="0" r="0" b="0"/>
            </a:stretch>
          </a:blipFill>
        </p:spPr>
        <p:txBody>
          <a:bodyPr/>
          <a:p/>
        </p:txBody>
      </p:sp>
      <p:sp>
        <p:nvSpPr>
          <p:cNvPr name="TextBox 17" id="17"/>
          <p:cNvSpPr txBox="true"/>
          <p:nvPr/>
        </p:nvSpPr>
        <p:spPr>
          <a:xfrm rot="0">
            <a:off x="8927043" y="8025990"/>
            <a:ext cx="2050370" cy="567311"/>
          </a:xfrm>
          <a:prstGeom prst="rect">
            <a:avLst/>
          </a:prstGeom>
        </p:spPr>
        <p:txBody>
          <a:bodyPr anchor="t" rtlCol="false" tIns="0" lIns="0" bIns="0" rIns="0">
            <a:spAutoFit/>
          </a:bodyPr>
          <a:lstStyle/>
          <a:p>
            <a:pPr algn="l">
              <a:lnSpc>
                <a:spcPts val="2353"/>
              </a:lnSpc>
            </a:pPr>
            <a:r>
              <a:rPr lang="en-US" sz="1810" spc="-17">
                <a:solidFill>
                  <a:srgbClr val="F6F6F6">
                    <a:alpha val="89804"/>
                  </a:srgbClr>
                </a:solidFill>
                <a:latin typeface="Anantason Condensed"/>
                <a:ea typeface="Anantason Condensed"/>
                <a:cs typeface="Anantason Condensed"/>
                <a:sym typeface="Anantason Condensed"/>
              </a:rPr>
              <a:t>Wide-area coverage at speed</a:t>
            </a:r>
          </a:p>
        </p:txBody>
      </p:sp>
      <p:sp>
        <p:nvSpPr>
          <p:cNvPr name="Freeform 18" id="18"/>
          <p:cNvSpPr/>
          <p:nvPr/>
        </p:nvSpPr>
        <p:spPr>
          <a:xfrm flipH="false" flipV="false" rot="0">
            <a:off x="13497244" y="7280704"/>
            <a:ext cx="437512" cy="437279"/>
          </a:xfrm>
          <a:custGeom>
            <a:avLst/>
            <a:gdLst/>
            <a:ahLst/>
            <a:cxnLst/>
            <a:rect r="r" b="b" t="t" l="l"/>
            <a:pathLst>
              <a:path h="437279" w="437512">
                <a:moveTo>
                  <a:pt x="0" y="0"/>
                </a:moveTo>
                <a:lnTo>
                  <a:pt x="437512" y="0"/>
                </a:lnTo>
                <a:lnTo>
                  <a:pt x="437512" y="437279"/>
                </a:lnTo>
                <a:lnTo>
                  <a:pt x="0" y="437279"/>
                </a:lnTo>
                <a:lnTo>
                  <a:pt x="0" y="0"/>
                </a:lnTo>
                <a:close/>
              </a:path>
            </a:pathLst>
          </a:custGeom>
          <a:blipFill>
            <a:blip r:embed="rId10"/>
            <a:stretch>
              <a:fillRect l="0" t="0" r="0" b="0"/>
            </a:stretch>
          </a:blipFill>
        </p:spPr>
        <p:txBody>
          <a:bodyPr/>
          <a:p/>
        </p:txBody>
      </p:sp>
      <p:sp>
        <p:nvSpPr>
          <p:cNvPr name="TextBox 19" id="19"/>
          <p:cNvSpPr txBox="true"/>
          <p:nvPr/>
        </p:nvSpPr>
        <p:spPr>
          <a:xfrm rot="0">
            <a:off x="13749384" y="8025990"/>
            <a:ext cx="2019430" cy="567311"/>
          </a:xfrm>
          <a:prstGeom prst="rect">
            <a:avLst/>
          </a:prstGeom>
        </p:spPr>
        <p:txBody>
          <a:bodyPr anchor="t" rtlCol="false" tIns="0" lIns="0" bIns="0" rIns="0">
            <a:spAutoFit/>
          </a:bodyPr>
          <a:lstStyle/>
          <a:p>
            <a:pPr algn="l">
              <a:lnSpc>
                <a:spcPts val="2353"/>
              </a:lnSpc>
            </a:pPr>
            <a:r>
              <a:rPr lang="en-US" sz="1810" spc="-17">
                <a:solidFill>
                  <a:srgbClr val="F6F6F6">
                    <a:alpha val="89804"/>
                  </a:srgbClr>
                </a:solidFill>
                <a:latin typeface="Anantason Condensed"/>
                <a:ea typeface="Anantason Condensed"/>
                <a:cs typeface="Anantason Condensed"/>
                <a:sym typeface="Anantason Condensed"/>
              </a:rPr>
              <a:t>Global reach</a:t>
            </a:r>
          </a:p>
          <a:p>
            <a:pPr algn="l">
              <a:lnSpc>
                <a:spcPts val="2353"/>
              </a:lnSpc>
            </a:pPr>
            <a:r>
              <a:rPr lang="en-US" sz="1810" spc="-17">
                <a:solidFill>
                  <a:srgbClr val="F6F6F6">
                    <a:alpha val="89804"/>
                  </a:srgbClr>
                </a:solidFill>
                <a:latin typeface="Anantason Condensed"/>
                <a:ea typeface="Anantason Condensed"/>
                <a:cs typeface="Anantason Condensed"/>
                <a:sym typeface="Anantason Condensed"/>
              </a:rPr>
              <a:t>beyond line of sight</a:t>
            </a:r>
          </a:p>
        </p:txBody>
      </p:sp>
      <p:sp>
        <p:nvSpPr>
          <p:cNvPr name="Freeform 20" id="20"/>
          <p:cNvSpPr/>
          <p:nvPr/>
        </p:nvSpPr>
        <p:spPr>
          <a:xfrm flipH="false" flipV="false" rot="0">
            <a:off x="426574" y="8778386"/>
            <a:ext cx="16778584" cy="1300906"/>
          </a:xfrm>
          <a:custGeom>
            <a:avLst/>
            <a:gdLst/>
            <a:ahLst/>
            <a:cxnLst/>
            <a:rect r="r" b="b" t="t" l="l"/>
            <a:pathLst>
              <a:path h="1300906" w="16778584">
                <a:moveTo>
                  <a:pt x="0" y="0"/>
                </a:moveTo>
                <a:lnTo>
                  <a:pt x="16778584" y="0"/>
                </a:lnTo>
                <a:lnTo>
                  <a:pt x="16778584" y="1300906"/>
                </a:lnTo>
                <a:lnTo>
                  <a:pt x="0" y="1300906"/>
                </a:lnTo>
                <a:lnTo>
                  <a:pt x="0" y="0"/>
                </a:lnTo>
                <a:close/>
              </a:path>
            </a:pathLst>
          </a:custGeom>
          <a:blipFill>
            <a:blip r:embed="rId11"/>
            <a:stretch>
              <a:fillRect l="0" t="0" r="0" b="0"/>
            </a:stretch>
          </a:blipFill>
        </p:spPr>
        <p:txBody>
          <a:bodyPr/>
          <a:p/>
        </p:txBody>
      </p:sp>
      <p:sp>
        <p:nvSpPr>
          <p:cNvPr name="TextBox 21" id="21"/>
          <p:cNvSpPr txBox="true"/>
          <p:nvPr/>
        </p:nvSpPr>
        <p:spPr>
          <a:xfrm rot="0">
            <a:off x="2384227" y="9156215"/>
            <a:ext cx="2678906" cy="364490"/>
          </a:xfrm>
          <a:prstGeom prst="rect">
            <a:avLst/>
          </a:prstGeom>
        </p:spPr>
        <p:txBody>
          <a:bodyPr anchor="t" rtlCol="false" tIns="0" lIns="0" bIns="0" rIns="0">
            <a:spAutoFit/>
          </a:bodyPr>
          <a:lstStyle/>
          <a:p>
            <a:pPr algn="l">
              <a:lnSpc>
                <a:spcPts val="3017"/>
              </a:lnSpc>
            </a:pPr>
            <a:r>
              <a:rPr lang="en-US" b="true" sz="2321" spc="-22">
                <a:solidFill>
                  <a:srgbClr val="10B0C6">
                    <a:alpha val="89804"/>
                  </a:srgbClr>
                </a:solidFill>
                <a:latin typeface="Anantason Condensed Bold"/>
                <a:ea typeface="Anantason Condensed Bold"/>
                <a:cs typeface="Anantason Condensed Bold"/>
                <a:sym typeface="Anantason Condensed Bold"/>
              </a:rPr>
              <a:t>CONTROL LINK (C2)</a:t>
            </a:r>
          </a:p>
        </p:txBody>
      </p:sp>
      <p:sp>
        <p:nvSpPr>
          <p:cNvPr name="TextBox 22" id="22"/>
          <p:cNvSpPr txBox="true"/>
          <p:nvPr/>
        </p:nvSpPr>
        <p:spPr>
          <a:xfrm rot="0">
            <a:off x="2358330" y="9532207"/>
            <a:ext cx="2589676" cy="314406"/>
          </a:xfrm>
          <a:prstGeom prst="rect">
            <a:avLst/>
          </a:prstGeom>
        </p:spPr>
        <p:txBody>
          <a:bodyPr anchor="t" rtlCol="false" tIns="0" lIns="0" bIns="0" rIns="0">
            <a:spAutoFit/>
          </a:bodyPr>
          <a:lstStyle/>
          <a:p>
            <a:pPr algn="l">
              <a:lnSpc>
                <a:spcPts val="2661"/>
              </a:lnSpc>
            </a:pPr>
            <a:r>
              <a:rPr lang="en-US" sz="2047" spc="-19">
                <a:solidFill>
                  <a:srgbClr val="F6F6F6">
                    <a:alpha val="89804"/>
                  </a:srgbClr>
                </a:solidFill>
                <a:latin typeface="Anantason Condensed"/>
                <a:ea typeface="Anantason Condensed"/>
                <a:cs typeface="Anantason Condensed"/>
                <a:sym typeface="Anantason Condensed"/>
              </a:rPr>
              <a:t>Command and control</a:t>
            </a:r>
          </a:p>
        </p:txBody>
      </p:sp>
      <p:sp>
        <p:nvSpPr>
          <p:cNvPr name="Freeform 23" id="23"/>
          <p:cNvSpPr/>
          <p:nvPr/>
        </p:nvSpPr>
        <p:spPr>
          <a:xfrm flipH="false" flipV="false" rot="0">
            <a:off x="5654842" y="8997026"/>
            <a:ext cx="229694" cy="863627"/>
          </a:xfrm>
          <a:custGeom>
            <a:avLst/>
            <a:gdLst/>
            <a:ahLst/>
            <a:cxnLst/>
            <a:rect r="r" b="b" t="t" l="l"/>
            <a:pathLst>
              <a:path h="863627" w="229694">
                <a:moveTo>
                  <a:pt x="0" y="0"/>
                </a:moveTo>
                <a:lnTo>
                  <a:pt x="229694" y="0"/>
                </a:lnTo>
                <a:lnTo>
                  <a:pt x="229694" y="863626"/>
                </a:lnTo>
                <a:lnTo>
                  <a:pt x="0" y="863626"/>
                </a:lnTo>
                <a:lnTo>
                  <a:pt x="0" y="0"/>
                </a:lnTo>
                <a:close/>
              </a:path>
            </a:pathLst>
          </a:custGeom>
          <a:blipFill>
            <a:blip r:embed="rId12"/>
            <a:stretch>
              <a:fillRect l="0" t="0" r="0" b="0"/>
            </a:stretch>
          </a:blipFill>
        </p:spPr>
        <p:txBody>
          <a:bodyPr/>
          <a:p/>
        </p:txBody>
      </p:sp>
      <p:sp>
        <p:nvSpPr>
          <p:cNvPr name="TextBox 24" id="24"/>
          <p:cNvSpPr txBox="true"/>
          <p:nvPr/>
        </p:nvSpPr>
        <p:spPr>
          <a:xfrm rot="0">
            <a:off x="6322219" y="9156215"/>
            <a:ext cx="4554141" cy="364490"/>
          </a:xfrm>
          <a:prstGeom prst="rect">
            <a:avLst/>
          </a:prstGeom>
        </p:spPr>
        <p:txBody>
          <a:bodyPr anchor="t" rtlCol="false" tIns="0" lIns="0" bIns="0" rIns="0">
            <a:spAutoFit/>
          </a:bodyPr>
          <a:lstStyle/>
          <a:p>
            <a:pPr algn="l">
              <a:lnSpc>
                <a:spcPts val="3017"/>
              </a:lnSpc>
            </a:pPr>
            <a:r>
              <a:rPr lang="en-US" b="true" sz="2321" spc="-22">
                <a:solidFill>
                  <a:srgbClr val="10B0C6">
                    <a:alpha val="89804"/>
                  </a:srgbClr>
                </a:solidFill>
                <a:latin typeface="Anantason Condensed Bold"/>
                <a:ea typeface="Anantason Condensed Bold"/>
                <a:cs typeface="Anantason Condensed Bold"/>
                <a:sym typeface="Anantason Condensed Bold"/>
              </a:rPr>
              <a:t>PUSH-TO-TALK VOICE (REAL-TIME)</a:t>
            </a:r>
          </a:p>
        </p:txBody>
      </p:sp>
      <p:sp>
        <p:nvSpPr>
          <p:cNvPr name="TextBox 25" id="25"/>
          <p:cNvSpPr txBox="true"/>
          <p:nvPr/>
        </p:nvSpPr>
        <p:spPr>
          <a:xfrm rot="0">
            <a:off x="6496133" y="9532207"/>
            <a:ext cx="4039864" cy="314406"/>
          </a:xfrm>
          <a:prstGeom prst="rect">
            <a:avLst/>
          </a:prstGeom>
        </p:spPr>
        <p:txBody>
          <a:bodyPr anchor="t" rtlCol="false" tIns="0" lIns="0" bIns="0" rIns="0">
            <a:spAutoFit/>
          </a:bodyPr>
          <a:lstStyle/>
          <a:p>
            <a:pPr algn="l">
              <a:lnSpc>
                <a:spcPts val="2661"/>
              </a:lnSpc>
            </a:pPr>
            <a:r>
              <a:rPr lang="en-US" sz="2047" spc="-19">
                <a:solidFill>
                  <a:srgbClr val="F6F6F6">
                    <a:alpha val="89804"/>
                  </a:srgbClr>
                </a:solidFill>
                <a:latin typeface="Anantason Condensed"/>
                <a:ea typeface="Anantason Condensed"/>
                <a:cs typeface="Anantason Condensed"/>
                <a:sym typeface="Anantason Condensed"/>
              </a:rPr>
              <a:t>Clear, low-latency communications</a:t>
            </a:r>
          </a:p>
        </p:txBody>
      </p:sp>
      <p:sp>
        <p:nvSpPr>
          <p:cNvPr name="Freeform 26" id="26"/>
          <p:cNvSpPr/>
          <p:nvPr/>
        </p:nvSpPr>
        <p:spPr>
          <a:xfrm flipH="false" flipV="false" rot="0">
            <a:off x="11528440" y="8997026"/>
            <a:ext cx="229694" cy="863627"/>
          </a:xfrm>
          <a:custGeom>
            <a:avLst/>
            <a:gdLst/>
            <a:ahLst/>
            <a:cxnLst/>
            <a:rect r="r" b="b" t="t" l="l"/>
            <a:pathLst>
              <a:path h="863627" w="229694">
                <a:moveTo>
                  <a:pt x="0" y="0"/>
                </a:moveTo>
                <a:lnTo>
                  <a:pt x="229694" y="0"/>
                </a:lnTo>
                <a:lnTo>
                  <a:pt x="229694" y="863626"/>
                </a:lnTo>
                <a:lnTo>
                  <a:pt x="0" y="863626"/>
                </a:lnTo>
                <a:lnTo>
                  <a:pt x="0" y="0"/>
                </a:lnTo>
                <a:close/>
              </a:path>
            </a:pathLst>
          </a:custGeom>
          <a:blipFill>
            <a:blip r:embed="rId13"/>
            <a:stretch>
              <a:fillRect l="0" t="0" r="0" b="0"/>
            </a:stretch>
          </a:blipFill>
        </p:spPr>
        <p:txBody>
          <a:bodyPr/>
          <a:p/>
        </p:txBody>
      </p:sp>
      <p:sp>
        <p:nvSpPr>
          <p:cNvPr name="TextBox 27" id="27"/>
          <p:cNvSpPr txBox="true"/>
          <p:nvPr/>
        </p:nvSpPr>
        <p:spPr>
          <a:xfrm rot="0">
            <a:off x="12162234" y="9156215"/>
            <a:ext cx="4554141" cy="364490"/>
          </a:xfrm>
          <a:prstGeom prst="rect">
            <a:avLst/>
          </a:prstGeom>
        </p:spPr>
        <p:txBody>
          <a:bodyPr anchor="t" rtlCol="false" tIns="0" lIns="0" bIns="0" rIns="0">
            <a:spAutoFit/>
          </a:bodyPr>
          <a:lstStyle/>
          <a:p>
            <a:pPr algn="l">
              <a:lnSpc>
                <a:spcPts val="3017"/>
              </a:lnSpc>
            </a:pPr>
            <a:r>
              <a:rPr lang="en-US" b="true" sz="2321" spc="-22">
                <a:solidFill>
                  <a:srgbClr val="10B0C6">
                    <a:alpha val="89804"/>
                  </a:srgbClr>
                </a:solidFill>
                <a:latin typeface="Anantason Condensed Bold"/>
                <a:ea typeface="Anantason Condensed Bold"/>
                <a:cs typeface="Anantason Condensed Bold"/>
                <a:sym typeface="Anantason Condensed Bold"/>
              </a:rPr>
              <a:t>CAMERA UPLOADS (BULK)</a:t>
            </a:r>
          </a:p>
        </p:txBody>
      </p:sp>
      <p:sp>
        <p:nvSpPr>
          <p:cNvPr name="TextBox 28" id="28"/>
          <p:cNvSpPr txBox="true"/>
          <p:nvPr/>
        </p:nvSpPr>
        <p:spPr>
          <a:xfrm rot="0">
            <a:off x="12127852" y="9532207"/>
            <a:ext cx="3438206" cy="314406"/>
          </a:xfrm>
          <a:prstGeom prst="rect">
            <a:avLst/>
          </a:prstGeom>
        </p:spPr>
        <p:txBody>
          <a:bodyPr anchor="t" rtlCol="false" tIns="0" lIns="0" bIns="0" rIns="0">
            <a:spAutoFit/>
          </a:bodyPr>
          <a:lstStyle/>
          <a:p>
            <a:pPr algn="l">
              <a:lnSpc>
                <a:spcPts val="2661"/>
              </a:lnSpc>
            </a:pPr>
            <a:r>
              <a:rPr lang="en-US" sz="2047" spc="-19">
                <a:solidFill>
                  <a:srgbClr val="F6F6F6">
                    <a:alpha val="89804"/>
                  </a:srgbClr>
                </a:solidFill>
                <a:latin typeface="Anantason Condensed"/>
                <a:ea typeface="Anantason Condensed"/>
                <a:cs typeface="Anantason Condensed"/>
                <a:sym typeface="Anantason Condensed"/>
              </a:rPr>
              <a:t>High-throughput data transfer</a:t>
            </a:r>
          </a:p>
        </p:txBody>
      </p:sp>
      <p:sp>
        <p:nvSpPr>
          <p:cNvPr name="TextBox 29" id="29"/>
          <p:cNvSpPr txBox="true"/>
          <p:nvPr/>
        </p:nvSpPr>
        <p:spPr>
          <a:xfrm rot="0">
            <a:off x="13662422" y="7635070"/>
            <a:ext cx="2678906" cy="364490"/>
          </a:xfrm>
          <a:prstGeom prst="rect">
            <a:avLst/>
          </a:prstGeom>
        </p:spPr>
        <p:txBody>
          <a:bodyPr anchor="t" rtlCol="false" tIns="0" lIns="0" bIns="0" rIns="0">
            <a:spAutoFit/>
          </a:bodyPr>
          <a:lstStyle/>
          <a:p>
            <a:pPr algn="l">
              <a:lnSpc>
                <a:spcPts val="3017"/>
              </a:lnSpc>
            </a:pPr>
            <a:r>
              <a:rPr lang="en-US" b="true" sz="2321" spc="-22">
                <a:solidFill>
                  <a:srgbClr val="D1253B">
                    <a:alpha val="89804"/>
                  </a:srgbClr>
                </a:solidFill>
                <a:latin typeface="Anantason Condensed Bold"/>
                <a:ea typeface="Anantason Condensed Bold"/>
                <a:cs typeface="Anantason Condensed Bold"/>
                <a:sym typeface="Anantason Condensed Bold"/>
              </a:rPr>
              <a:t>4. LEO SATELLITE</a:t>
            </a:r>
          </a:p>
        </p:txBody>
      </p:sp>
      <p:sp>
        <p:nvSpPr>
          <p:cNvPr name="TextBox 30" id="30"/>
          <p:cNvSpPr txBox="true"/>
          <p:nvPr/>
        </p:nvSpPr>
        <p:spPr>
          <a:xfrm rot="0">
            <a:off x="776883" y="7635070"/>
            <a:ext cx="2678906" cy="364490"/>
          </a:xfrm>
          <a:prstGeom prst="rect">
            <a:avLst/>
          </a:prstGeom>
        </p:spPr>
        <p:txBody>
          <a:bodyPr anchor="t" rtlCol="false" tIns="0" lIns="0" bIns="0" rIns="0">
            <a:spAutoFit/>
          </a:bodyPr>
          <a:lstStyle/>
          <a:p>
            <a:pPr algn="l">
              <a:lnSpc>
                <a:spcPts val="3017"/>
              </a:lnSpc>
            </a:pPr>
            <a:r>
              <a:rPr lang="en-US" b="true" sz="2321" spc="-22">
                <a:solidFill>
                  <a:srgbClr val="10B0C6">
                    <a:alpha val="89804"/>
                  </a:srgbClr>
                </a:solidFill>
                <a:latin typeface="Anantason Condensed Bold"/>
                <a:ea typeface="Anantason Condensed Bold"/>
                <a:cs typeface="Anantason Condensed Bold"/>
                <a:sym typeface="Anantason Condensed Bold"/>
              </a:rPr>
              <a:t>1. DOCK (WIRED)</a:t>
            </a:r>
          </a:p>
        </p:txBody>
      </p:sp>
      <p:sp>
        <p:nvSpPr>
          <p:cNvPr name="TextBox 31" id="31"/>
          <p:cNvSpPr txBox="true"/>
          <p:nvPr/>
        </p:nvSpPr>
        <p:spPr>
          <a:xfrm rot="0">
            <a:off x="4741664" y="7635070"/>
            <a:ext cx="2678906" cy="364490"/>
          </a:xfrm>
          <a:prstGeom prst="rect">
            <a:avLst/>
          </a:prstGeom>
        </p:spPr>
        <p:txBody>
          <a:bodyPr anchor="t" rtlCol="false" tIns="0" lIns="0" bIns="0" rIns="0">
            <a:spAutoFit/>
          </a:bodyPr>
          <a:lstStyle/>
          <a:p>
            <a:pPr algn="l">
              <a:lnSpc>
                <a:spcPts val="3017"/>
              </a:lnSpc>
            </a:pPr>
            <a:r>
              <a:rPr lang="en-US" b="true" sz="2321" spc="-22">
                <a:solidFill>
                  <a:srgbClr val="10B0C6">
                    <a:alpha val="89804"/>
                  </a:srgbClr>
                </a:solidFill>
                <a:latin typeface="Anantason Condensed Bold"/>
                <a:ea typeface="Anantason Condensed Bold"/>
                <a:cs typeface="Anantason Condensed Bold"/>
                <a:sym typeface="Anantason Condensed Bold"/>
              </a:rPr>
              <a:t>2. WI-FI 6</a:t>
            </a:r>
          </a:p>
        </p:txBody>
      </p:sp>
      <p:sp>
        <p:nvSpPr>
          <p:cNvPr name="TextBox 32" id="32"/>
          <p:cNvSpPr txBox="true"/>
          <p:nvPr/>
        </p:nvSpPr>
        <p:spPr>
          <a:xfrm rot="0">
            <a:off x="8867180" y="7635070"/>
            <a:ext cx="2678906" cy="364490"/>
          </a:xfrm>
          <a:prstGeom prst="rect">
            <a:avLst/>
          </a:prstGeom>
        </p:spPr>
        <p:txBody>
          <a:bodyPr anchor="t" rtlCol="false" tIns="0" lIns="0" bIns="0" rIns="0">
            <a:spAutoFit/>
          </a:bodyPr>
          <a:lstStyle/>
          <a:p>
            <a:pPr algn="l">
              <a:lnSpc>
                <a:spcPts val="3017"/>
              </a:lnSpc>
            </a:pPr>
            <a:r>
              <a:rPr lang="en-US" b="true" sz="2321" spc="-22">
                <a:solidFill>
                  <a:srgbClr val="10B0C6">
                    <a:alpha val="89804"/>
                  </a:srgbClr>
                </a:solidFill>
                <a:latin typeface="Anantason Condensed Bold"/>
                <a:ea typeface="Anantason Condensed Bold"/>
                <a:cs typeface="Anantason Condensed Bold"/>
                <a:sym typeface="Anantason Condensed Bold"/>
              </a:rPr>
              <a:t>3. 5G SA</a:t>
            </a:r>
          </a:p>
        </p:txBody>
      </p:sp>
      <p:sp>
        <p:nvSpPr>
          <p:cNvPr id="33" name="Scenario justification"/>
          <p:cNvSpPr txBox="1"/>
          <p:nvPr/>
        </p:nvSpPr>
        <p:spPr>
          <a:xfrm>
            <a:off x="546100" y="6934200"/>
            <a:ext cx="7112000" cy="457200"/>
          </a:xfrm>
          <a:prstGeom prst="rect">
            <a:avLst/>
          </a:prstGeom>
          <a:noFill/>
        </p:spPr>
        <p:txBody>
          <a:bodyPr wrap="square" lIns="0" rIns="0" tIns="0" bIns="0">
            <a:spAutoFit/>
          </a:bodyPr>
          <a:lstStyle/>
          <a:p>
            <a:r>
              <a:rPr sz="1500" b="1">
                <a:solidFill>
                  <a:srgbClr val="F6F6F6"/>
                </a:solidFill>
                <a:latin typeface="Anantason Condensed"/>
              </a:rPr>
              <a:t>Why drones: we model a hover after 300 ms without C2 (our piloted-flight rule).</a:t>
            </a:r>
            <a:r>
              <a:rPr sz="1500" b="0">
                <a:solidFill>
                  <a:srgbClr val="F6F6F6"/>
                </a:solidFill>
                <a:latin typeface="Anantason Condensed"/>
              </a:rPr>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425332" y="437885"/>
            <a:ext cx="13723820" cy="1793266"/>
          </a:xfrm>
          <a:prstGeom prst="rect">
            <a:avLst/>
          </a:prstGeom>
        </p:spPr>
        <p:txBody>
          <a:bodyPr anchor="t" rtlCol="false" tIns="0" lIns="0" bIns="0" rIns="0">
            <a:spAutoFit/>
          </a:bodyPr>
          <a:lstStyle/>
          <a:p>
            <a:pPr algn="l">
              <a:lnSpc>
                <a:spcPts val="6985"/>
              </a:lnSpc>
            </a:pPr>
            <a:r>
              <a:rPr lang="en-US" sz="6985" spc="-68" b="true">
                <a:solidFill>
                  <a:srgbClr val="F6F6F6"/>
                </a:solidFill>
                <a:latin typeface="Anantason Condensed Bold"/>
                <a:ea typeface="Anantason Condensed Bold"/>
                <a:cs typeface="Anantason Condensed Bold"/>
                <a:sym typeface="Anantason Condensed Bold"/>
              </a:rPr>
              <a:t>Existing mechanisms we analysed (criterion 01)</a:t>
            </a:r>
          </a:p>
        </p:txBody>
      </p:sp>
      <p:sp>
        <p:nvSpPr>
          <p:cNvPr name="Freeform 4" id="4"/>
          <p:cNvSpPr/>
          <p:nvPr/>
        </p:nvSpPr>
        <p:spPr>
          <a:xfrm flipH="false" flipV="false" rot="0">
            <a:off x="426574" y="2569017"/>
            <a:ext cx="5239206" cy="863627"/>
          </a:xfrm>
          <a:custGeom>
            <a:avLst/>
            <a:gdLst/>
            <a:ahLst/>
            <a:cxnLst/>
            <a:rect r="r" b="b" t="t" l="l"/>
            <a:pathLst>
              <a:path h="863627" w="5239206">
                <a:moveTo>
                  <a:pt x="0" y="0"/>
                </a:moveTo>
                <a:lnTo>
                  <a:pt x="5239206" y="0"/>
                </a:lnTo>
                <a:lnTo>
                  <a:pt x="5239206" y="863627"/>
                </a:lnTo>
                <a:lnTo>
                  <a:pt x="0" y="863627"/>
                </a:lnTo>
                <a:lnTo>
                  <a:pt x="0" y="0"/>
                </a:lnTo>
                <a:close/>
              </a:path>
            </a:pathLst>
          </a:custGeom>
          <a:blipFill>
            <a:blip r:embed="rId3"/>
            <a:stretch>
              <a:fillRect l="0" t="0" r="0" b="0"/>
            </a:stretch>
          </a:blipFill>
        </p:spPr>
        <p:txBody>
          <a:bodyPr/>
          <a:p/>
        </p:txBody>
      </p:sp>
      <p:sp>
        <p:nvSpPr>
          <p:cNvPr name="TextBox 5" id="5"/>
          <p:cNvSpPr txBox="true"/>
          <p:nvPr/>
        </p:nvSpPr>
        <p:spPr>
          <a:xfrm rot="0">
            <a:off x="1364507" y="2793172"/>
            <a:ext cx="3259414" cy="332823"/>
          </a:xfrm>
          <a:prstGeom prst="rect">
            <a:avLst/>
          </a:prstGeom>
        </p:spPr>
        <p:txBody>
          <a:bodyPr anchor="t" rtlCol="false" tIns="0" lIns="0" bIns="0" rIns="0">
            <a:spAutoFit/>
          </a:bodyPr>
          <a:lstStyle/>
          <a:p>
            <a:pPr algn="ctr">
              <a:lnSpc>
                <a:spcPts val="2638"/>
              </a:lnSpc>
            </a:pPr>
            <a:r>
              <a:rPr lang="en-US" b="true" sz="2399" spc="-23">
                <a:solidFill>
                  <a:srgbClr val="F6F6F6"/>
                </a:solidFill>
                <a:latin typeface="Anantason Condensed Bold"/>
                <a:ea typeface="Anantason Condensed Bold"/>
                <a:cs typeface="Anantason Condensed Bold"/>
                <a:sym typeface="Anantason Condensed Bold"/>
              </a:rPr>
              <a:t>REACTIVE MULTIPATH</a:t>
            </a:r>
          </a:p>
        </p:txBody>
      </p:sp>
      <p:sp>
        <p:nvSpPr>
          <p:cNvPr name="TextBox 6" id="6"/>
          <p:cNvSpPr txBox="true"/>
          <p:nvPr/>
        </p:nvSpPr>
        <p:spPr>
          <a:xfrm rot="0">
            <a:off x="680714" y="3530748"/>
            <a:ext cx="4259021" cy="667981"/>
          </a:xfrm>
          <a:prstGeom prst="rect">
            <a:avLst/>
          </a:prstGeom>
        </p:spPr>
        <p:txBody>
          <a:bodyPr anchor="t" rtlCol="false" tIns="0" lIns="0" bIns="0" rIns="0">
            <a:spAutoFit/>
          </a:bodyPr>
          <a:lstStyle/>
          <a:p>
            <a:pPr algn="l">
              <a:lnSpc>
                <a:spcPts val="2763"/>
              </a:lnSpc>
            </a:pPr>
            <a:r>
              <a:rPr lang="en-US" sz="2047" spc="-19">
                <a:solidFill>
                  <a:srgbClr val="F6F6F6"/>
                </a:solidFill>
                <a:latin typeface="Anantason Condensed"/>
                <a:ea typeface="Anantason Condensed"/>
                <a:cs typeface="Anantason Condensed"/>
                <a:sym typeface="Anantason Condensed"/>
              </a:rPr>
              <a:t>MPTCP backup subflow (RFC 8684) and 3GPP ATSSS active-standby.</a:t>
            </a:r>
          </a:p>
        </p:txBody>
      </p:sp>
      <p:sp>
        <p:nvSpPr>
          <p:cNvPr name="TextBox 7" id="7"/>
          <p:cNvSpPr txBox="true"/>
          <p:nvPr/>
        </p:nvSpPr>
        <p:spPr>
          <a:xfrm rot="0">
            <a:off x="682142" y="4706824"/>
            <a:ext cx="4116248" cy="1007129"/>
          </a:xfrm>
          <a:prstGeom prst="rect">
            <a:avLst/>
          </a:prstGeom>
        </p:spPr>
        <p:txBody>
          <a:bodyPr anchor="t" rtlCol="false" tIns="0" lIns="0" bIns="0" rIns="0">
            <a:spAutoFit/>
          </a:bodyPr>
          <a:lstStyle/>
          <a:p>
            <a:pPr algn="l">
              <a:lnSpc>
                <a:spcPts val="2763"/>
              </a:lnSpc>
            </a:pPr>
            <a:r>
              <a:rPr lang="en-US" sz="2047" spc="-19">
                <a:solidFill>
                  <a:srgbClr val="F6F6F6"/>
                </a:solidFill>
                <a:latin typeface="Anantason Condensed"/>
                <a:ea typeface="Anantason Condensed"/>
                <a:cs typeface="Anantason Condensed"/>
                <a:sym typeface="Anantason Condensed"/>
              </a:rPr>
              <a:t>Keeps a backup network on standby. It moves only after it confirms losses and the spare modem wakes up.</a:t>
            </a:r>
          </a:p>
        </p:txBody>
      </p:sp>
      <p:sp>
        <p:nvSpPr>
          <p:cNvPr name="Freeform 8" id="8"/>
          <p:cNvSpPr/>
          <p:nvPr/>
        </p:nvSpPr>
        <p:spPr>
          <a:xfrm flipH="false" flipV="false" rot="0">
            <a:off x="645330" y="5990729"/>
            <a:ext cx="4582938" cy="229572"/>
          </a:xfrm>
          <a:custGeom>
            <a:avLst/>
            <a:gdLst/>
            <a:ahLst/>
            <a:cxnLst/>
            <a:rect r="r" b="b" t="t" l="l"/>
            <a:pathLst>
              <a:path h="229572" w="4582938">
                <a:moveTo>
                  <a:pt x="0" y="0"/>
                </a:moveTo>
                <a:lnTo>
                  <a:pt x="4582938" y="0"/>
                </a:lnTo>
                <a:lnTo>
                  <a:pt x="4582938" y="229572"/>
                </a:lnTo>
                <a:lnTo>
                  <a:pt x="0" y="229572"/>
                </a:lnTo>
                <a:lnTo>
                  <a:pt x="0" y="0"/>
                </a:lnTo>
                <a:close/>
              </a:path>
            </a:pathLst>
          </a:custGeom>
          <a:blipFill>
            <a:blip r:embed="rId4"/>
            <a:stretch>
              <a:fillRect l="0" t="0" r="0" b="0"/>
            </a:stretch>
          </a:blipFill>
        </p:spPr>
        <p:txBody>
          <a:bodyPr/>
          <a:p/>
        </p:txBody>
      </p:sp>
      <p:sp>
        <p:nvSpPr>
          <p:cNvPr name="TextBox 9" id="9"/>
          <p:cNvSpPr txBox="true"/>
          <p:nvPr/>
        </p:nvSpPr>
        <p:spPr>
          <a:xfrm rot="0">
            <a:off x="712053" y="6441873"/>
            <a:ext cx="1125166" cy="430672"/>
          </a:xfrm>
          <a:prstGeom prst="rect">
            <a:avLst/>
          </a:prstGeom>
        </p:spPr>
        <p:txBody>
          <a:bodyPr anchor="t" rtlCol="false" tIns="0" lIns="0" bIns="0" rIns="0">
            <a:spAutoFit/>
          </a:bodyPr>
          <a:lstStyle/>
          <a:p>
            <a:pPr algn="l">
              <a:lnSpc>
                <a:spcPts val="3484"/>
              </a:lnSpc>
            </a:pPr>
            <a:r>
              <a:rPr lang="en-US" sz="3168" spc="-30" b="true">
                <a:solidFill>
                  <a:srgbClr val="11A4BF"/>
                </a:solidFill>
                <a:latin typeface="Anantason Condensed Bold"/>
                <a:ea typeface="Anantason Condensed Bold"/>
                <a:cs typeface="Anantason Condensed Bold"/>
                <a:sym typeface="Anantason Condensed Bold"/>
              </a:rPr>
              <a:t>0.35 s</a:t>
            </a:r>
          </a:p>
        </p:txBody>
      </p:sp>
      <p:sp>
        <p:nvSpPr>
          <p:cNvPr name="TextBox 10" id="10"/>
          <p:cNvSpPr txBox="true"/>
          <p:nvPr/>
        </p:nvSpPr>
        <p:spPr>
          <a:xfrm rot="0">
            <a:off x="701619" y="6881253"/>
            <a:ext cx="2168549" cy="557199"/>
          </a:xfrm>
          <a:prstGeom prst="rect">
            <a:avLst/>
          </a:prstGeom>
        </p:spPr>
        <p:txBody>
          <a:bodyPr anchor="t" rtlCol="false" tIns="0" lIns="0" bIns="0" rIns="0">
            <a:spAutoFit/>
          </a:bodyPr>
          <a:lstStyle/>
          <a:p>
            <a:pPr algn="l">
              <a:lnSpc>
                <a:spcPts val="2348"/>
              </a:lnSpc>
            </a:pPr>
            <a:r>
              <a:rPr lang="en-US" sz="1740" spc="-16">
                <a:solidFill>
                  <a:srgbClr val="F6F6F6"/>
                </a:solidFill>
                <a:latin typeface="Anantason Condensed"/>
                <a:ea typeface="Anantason Condensed"/>
                <a:cs typeface="Anantason Condensed"/>
                <a:sym typeface="Anantason Condensed"/>
              </a:rPr>
              <a:t>gap, more than our</a:t>
            </a:r>
          </a:p>
          <a:p>
            <a:pPr algn="l">
              <a:lnSpc>
                <a:spcPts val="2348"/>
              </a:lnSpc>
            </a:pPr>
            <a:r>
              <a:rPr lang="en-US" sz="1740" spc="-16">
                <a:solidFill>
                  <a:srgbClr val="F6F6F6"/>
                </a:solidFill>
                <a:latin typeface="Anantason Condensed"/>
                <a:ea typeface="Anantason Condensed"/>
                <a:cs typeface="Anantason Condensed"/>
                <a:sym typeface="Anantason Condensed"/>
              </a:rPr>
              <a:t>300 ms C2 budget</a:t>
            </a:r>
          </a:p>
        </p:txBody>
      </p:sp>
      <p:sp>
        <p:nvSpPr>
          <p:cNvPr name="Freeform 11" id="11"/>
          <p:cNvSpPr/>
          <p:nvPr/>
        </p:nvSpPr>
        <p:spPr>
          <a:xfrm flipH="false" flipV="false" rot="0">
            <a:off x="3040708" y="6428009"/>
            <a:ext cx="229694" cy="1082267"/>
          </a:xfrm>
          <a:custGeom>
            <a:avLst/>
            <a:gdLst/>
            <a:ahLst/>
            <a:cxnLst/>
            <a:rect r="r" b="b" t="t" l="l"/>
            <a:pathLst>
              <a:path h="1082267" w="229694">
                <a:moveTo>
                  <a:pt x="0" y="0"/>
                </a:moveTo>
                <a:lnTo>
                  <a:pt x="229694" y="0"/>
                </a:lnTo>
                <a:lnTo>
                  <a:pt x="229694" y="1082266"/>
                </a:lnTo>
                <a:lnTo>
                  <a:pt x="0" y="1082266"/>
                </a:lnTo>
                <a:lnTo>
                  <a:pt x="0" y="0"/>
                </a:lnTo>
                <a:close/>
              </a:path>
            </a:pathLst>
          </a:custGeom>
          <a:blipFill>
            <a:blip r:embed="rId5"/>
            <a:stretch>
              <a:fillRect l="0" t="0" r="0" b="0"/>
            </a:stretch>
          </a:blipFill>
        </p:spPr>
        <p:txBody>
          <a:bodyPr/>
          <a:p/>
        </p:txBody>
      </p:sp>
      <p:sp>
        <p:nvSpPr>
          <p:cNvPr name="TextBox 12" id="12"/>
          <p:cNvSpPr txBox="true"/>
          <p:nvPr/>
        </p:nvSpPr>
        <p:spPr>
          <a:xfrm rot="0">
            <a:off x="3576990" y="6441873"/>
            <a:ext cx="1274434" cy="430672"/>
          </a:xfrm>
          <a:prstGeom prst="rect">
            <a:avLst/>
          </a:prstGeom>
        </p:spPr>
        <p:txBody>
          <a:bodyPr anchor="t" rtlCol="false" tIns="0" lIns="0" bIns="0" rIns="0">
            <a:spAutoFit/>
          </a:bodyPr>
          <a:lstStyle/>
          <a:p>
            <a:pPr algn="l">
              <a:lnSpc>
                <a:spcPts val="3484"/>
              </a:lnSpc>
            </a:pPr>
            <a:r>
              <a:rPr lang="en-US" b="true" sz="3168" spc="-30">
                <a:solidFill>
                  <a:srgbClr val="11A4BF"/>
                </a:solidFill>
                <a:latin typeface="Anantason Condensed Bold"/>
                <a:ea typeface="Anantason Condensed Bold"/>
                <a:cs typeface="Anantason Condensed Bold"/>
                <a:sym typeface="Anantason Condensed Bold"/>
              </a:rPr>
              <a:t>1.20 W</a:t>
            </a:r>
          </a:p>
        </p:txBody>
      </p:sp>
      <p:sp>
        <p:nvSpPr>
          <p:cNvPr name="TextBox 13" id="13"/>
          <p:cNvSpPr txBox="true"/>
          <p:nvPr/>
        </p:nvSpPr>
        <p:spPr>
          <a:xfrm rot="0">
            <a:off x="3576579" y="6881253"/>
            <a:ext cx="1315561" cy="557199"/>
          </a:xfrm>
          <a:prstGeom prst="rect">
            <a:avLst/>
          </a:prstGeom>
        </p:spPr>
        <p:txBody>
          <a:bodyPr anchor="t" rtlCol="false" tIns="0" lIns="0" bIns="0" rIns="0">
            <a:spAutoFit/>
          </a:bodyPr>
          <a:lstStyle/>
          <a:p>
            <a:pPr algn="l">
              <a:lnSpc>
                <a:spcPts val="2348"/>
              </a:lnSpc>
            </a:pPr>
            <a:r>
              <a:rPr lang="en-US" sz="1740" spc="-16">
                <a:solidFill>
                  <a:srgbClr val="F6F6F6"/>
                </a:solidFill>
                <a:latin typeface="Anantason Condensed"/>
                <a:ea typeface="Anantason Condensed"/>
                <a:cs typeface="Anantason Condensed"/>
                <a:sym typeface="Anantason Condensed"/>
              </a:rPr>
              <a:t>low power</a:t>
            </a:r>
          </a:p>
          <a:p>
            <a:pPr algn="l">
              <a:lnSpc>
                <a:spcPts val="2348"/>
              </a:lnSpc>
            </a:pPr>
            <a:r>
              <a:rPr lang="en-US" sz="1740" spc="-16">
                <a:solidFill>
                  <a:srgbClr val="F6F6F6"/>
                </a:solidFill>
                <a:latin typeface="Anantason Condensed"/>
                <a:ea typeface="Anantason Condensed"/>
                <a:cs typeface="Anantason Condensed"/>
                <a:sym typeface="Anantason Condensed"/>
              </a:rPr>
              <a:t>consumption</a:t>
            </a:r>
          </a:p>
        </p:txBody>
      </p:sp>
      <p:sp>
        <p:nvSpPr>
          <p:cNvPr name="Freeform 14" id="14"/>
          <p:cNvSpPr/>
          <p:nvPr/>
        </p:nvSpPr>
        <p:spPr>
          <a:xfrm flipH="false" flipV="false" rot="0">
            <a:off x="5436086" y="2569017"/>
            <a:ext cx="229694" cy="5575313"/>
          </a:xfrm>
          <a:custGeom>
            <a:avLst/>
            <a:gdLst/>
            <a:ahLst/>
            <a:cxnLst/>
            <a:rect r="r" b="b" t="t" l="l"/>
            <a:pathLst>
              <a:path h="5575313" w="229694">
                <a:moveTo>
                  <a:pt x="0" y="0"/>
                </a:moveTo>
                <a:lnTo>
                  <a:pt x="229694" y="0"/>
                </a:lnTo>
                <a:lnTo>
                  <a:pt x="229694" y="5575313"/>
                </a:lnTo>
                <a:lnTo>
                  <a:pt x="0" y="5575313"/>
                </a:lnTo>
                <a:lnTo>
                  <a:pt x="0" y="0"/>
                </a:lnTo>
                <a:close/>
              </a:path>
            </a:pathLst>
          </a:custGeom>
          <a:blipFill>
            <a:blip r:embed="rId6"/>
            <a:stretch>
              <a:fillRect l="0" t="0" r="0" b="0"/>
            </a:stretch>
          </a:blipFill>
        </p:spPr>
        <p:txBody>
          <a:bodyPr/>
          <a:p/>
        </p:txBody>
      </p:sp>
      <p:sp>
        <p:nvSpPr>
          <p:cNvPr name="Freeform 15" id="15"/>
          <p:cNvSpPr/>
          <p:nvPr/>
        </p:nvSpPr>
        <p:spPr>
          <a:xfrm flipH="false" flipV="false" rot="0">
            <a:off x="5654842" y="2569017"/>
            <a:ext cx="5239206" cy="863627"/>
          </a:xfrm>
          <a:custGeom>
            <a:avLst/>
            <a:gdLst/>
            <a:ahLst/>
            <a:cxnLst/>
            <a:rect r="r" b="b" t="t" l="l"/>
            <a:pathLst>
              <a:path h="863627" w="5239206">
                <a:moveTo>
                  <a:pt x="0" y="0"/>
                </a:moveTo>
                <a:lnTo>
                  <a:pt x="5239206" y="0"/>
                </a:lnTo>
                <a:lnTo>
                  <a:pt x="5239206" y="863627"/>
                </a:lnTo>
                <a:lnTo>
                  <a:pt x="0" y="863627"/>
                </a:lnTo>
                <a:lnTo>
                  <a:pt x="0" y="0"/>
                </a:lnTo>
                <a:close/>
              </a:path>
            </a:pathLst>
          </a:custGeom>
          <a:blipFill>
            <a:blip r:embed="rId7"/>
            <a:stretch>
              <a:fillRect l="0" t="0" r="0" b="0"/>
            </a:stretch>
          </a:blipFill>
        </p:spPr>
        <p:txBody>
          <a:bodyPr/>
          <a:p/>
        </p:txBody>
      </p:sp>
      <p:sp>
        <p:nvSpPr>
          <p:cNvPr name="TextBox 16" id="16"/>
          <p:cNvSpPr txBox="true"/>
          <p:nvPr/>
        </p:nvSpPr>
        <p:spPr>
          <a:xfrm rot="0">
            <a:off x="6848896" y="2793172"/>
            <a:ext cx="2952682" cy="332823"/>
          </a:xfrm>
          <a:prstGeom prst="rect">
            <a:avLst/>
          </a:prstGeom>
        </p:spPr>
        <p:txBody>
          <a:bodyPr anchor="t" rtlCol="false" tIns="0" lIns="0" bIns="0" rIns="0">
            <a:spAutoFit/>
          </a:bodyPr>
          <a:lstStyle/>
          <a:p>
            <a:pPr algn="ctr">
              <a:lnSpc>
                <a:spcPts val="2638"/>
              </a:lnSpc>
            </a:pPr>
            <a:r>
              <a:rPr lang="en-US" b="true" sz="2399" spc="-23">
                <a:solidFill>
                  <a:srgbClr val="F6F6F6"/>
                </a:solidFill>
                <a:latin typeface="Anantason Condensed Bold"/>
                <a:ea typeface="Anantason Condensed Bold"/>
                <a:cs typeface="Anantason Condensed Bold"/>
                <a:sym typeface="Anantason Condensed Bold"/>
              </a:rPr>
              <a:t>ALWAYS DUPLICATE</a:t>
            </a:r>
          </a:p>
        </p:txBody>
      </p:sp>
      <p:sp>
        <p:nvSpPr>
          <p:cNvPr name="TextBox 17" id="17"/>
          <p:cNvSpPr txBox="true"/>
          <p:nvPr/>
        </p:nvSpPr>
        <p:spPr>
          <a:xfrm rot="0">
            <a:off x="6018881" y="3513375"/>
            <a:ext cx="3544677" cy="701177"/>
          </a:xfrm>
          <a:prstGeom prst="rect">
            <a:avLst/>
          </a:prstGeom>
        </p:spPr>
        <p:txBody>
          <a:bodyPr anchor="t" rtlCol="false" tIns="0" lIns="0" bIns="0" rIns="0">
            <a:spAutoFit/>
          </a:bodyPr>
          <a:lstStyle/>
          <a:p>
            <a:pPr algn="l">
              <a:lnSpc>
                <a:spcPts val="2941"/>
              </a:lnSpc>
            </a:pPr>
            <a:r>
              <a:rPr lang="en-US" sz="2179" spc="-21">
                <a:solidFill>
                  <a:srgbClr val="F6F6F6"/>
                </a:solidFill>
                <a:latin typeface="Anantason Condensed"/>
                <a:ea typeface="Anantason Condensed"/>
                <a:cs typeface="Anantason Condensed"/>
                <a:sym typeface="Anantason Condensed"/>
              </a:rPr>
              <a:t>MPTCP redundant scheduler</a:t>
            </a:r>
          </a:p>
          <a:p>
            <a:pPr algn="l">
              <a:lnSpc>
                <a:spcPts val="2941"/>
              </a:lnSpc>
            </a:pPr>
            <a:r>
              <a:rPr lang="en-US" sz="2179" spc="-21">
                <a:solidFill>
                  <a:srgbClr val="F6F6F6"/>
                </a:solidFill>
                <a:latin typeface="Anantason Condensed"/>
                <a:ea typeface="Anantason Condensed"/>
                <a:cs typeface="Anantason Condensed"/>
                <a:sym typeface="Anantason Condensed"/>
              </a:rPr>
              <a:t>and PDCP duplication.</a:t>
            </a:r>
          </a:p>
        </p:txBody>
      </p:sp>
      <p:sp>
        <p:nvSpPr>
          <p:cNvPr name="TextBox 18" id="18"/>
          <p:cNvSpPr txBox="true"/>
          <p:nvPr/>
        </p:nvSpPr>
        <p:spPr>
          <a:xfrm rot="0">
            <a:off x="6013565" y="4537513"/>
            <a:ext cx="4076359" cy="701177"/>
          </a:xfrm>
          <a:prstGeom prst="rect">
            <a:avLst/>
          </a:prstGeom>
        </p:spPr>
        <p:txBody>
          <a:bodyPr anchor="t" rtlCol="false" tIns="0" lIns="0" bIns="0" rIns="0">
            <a:spAutoFit/>
          </a:bodyPr>
          <a:lstStyle/>
          <a:p>
            <a:pPr algn="l">
              <a:lnSpc>
                <a:spcPts val="2941"/>
              </a:lnSpc>
            </a:pPr>
            <a:r>
              <a:rPr lang="en-US" sz="2179" spc="-21">
                <a:solidFill>
                  <a:srgbClr val="F6F6F6"/>
                </a:solidFill>
                <a:latin typeface="Anantason Condensed"/>
                <a:ea typeface="Anantason Condensed"/>
                <a:cs typeface="Anantason Condensed"/>
                <a:sym typeface="Anantason Condensed"/>
              </a:rPr>
              <a:t>Sends every important packet on two networks, all the time.</a:t>
            </a:r>
          </a:p>
        </p:txBody>
      </p:sp>
      <p:sp>
        <p:nvSpPr>
          <p:cNvPr name="Freeform 19" id="19"/>
          <p:cNvSpPr/>
          <p:nvPr/>
        </p:nvSpPr>
        <p:spPr>
          <a:xfrm flipH="false" flipV="false" rot="0">
            <a:off x="5873598" y="5564382"/>
            <a:ext cx="4801694" cy="229572"/>
          </a:xfrm>
          <a:custGeom>
            <a:avLst/>
            <a:gdLst/>
            <a:ahLst/>
            <a:cxnLst/>
            <a:rect r="r" b="b" t="t" l="l"/>
            <a:pathLst>
              <a:path h="229572" w="4801694">
                <a:moveTo>
                  <a:pt x="0" y="0"/>
                </a:moveTo>
                <a:lnTo>
                  <a:pt x="4801694" y="0"/>
                </a:lnTo>
                <a:lnTo>
                  <a:pt x="4801694" y="229571"/>
                </a:lnTo>
                <a:lnTo>
                  <a:pt x="0" y="229571"/>
                </a:lnTo>
                <a:lnTo>
                  <a:pt x="0" y="0"/>
                </a:lnTo>
                <a:close/>
              </a:path>
            </a:pathLst>
          </a:custGeom>
          <a:blipFill>
            <a:blip r:embed="rId8"/>
            <a:stretch>
              <a:fillRect l="0" t="0" r="0" b="0"/>
            </a:stretch>
          </a:blipFill>
        </p:spPr>
        <p:txBody>
          <a:bodyPr/>
          <a:p/>
        </p:txBody>
      </p:sp>
      <p:sp>
        <p:nvSpPr>
          <p:cNvPr name="TextBox 20" id="20"/>
          <p:cNvSpPr txBox="true"/>
          <p:nvPr/>
        </p:nvSpPr>
        <p:spPr>
          <a:xfrm rot="0">
            <a:off x="6009273" y="5899683"/>
            <a:ext cx="1826601" cy="430672"/>
          </a:xfrm>
          <a:prstGeom prst="rect">
            <a:avLst/>
          </a:prstGeom>
        </p:spPr>
        <p:txBody>
          <a:bodyPr anchor="t" rtlCol="false" tIns="0" lIns="0" bIns="0" rIns="0">
            <a:spAutoFit/>
          </a:bodyPr>
          <a:lstStyle/>
          <a:p>
            <a:pPr algn="l">
              <a:lnSpc>
                <a:spcPts val="3484"/>
              </a:lnSpc>
            </a:pPr>
            <a:r>
              <a:rPr lang="en-US" b="true" sz="3168" spc="-30">
                <a:solidFill>
                  <a:srgbClr val="11A4BF"/>
                </a:solidFill>
                <a:latin typeface="Anantason Condensed Bold"/>
                <a:ea typeface="Anantason Condensed Bold"/>
                <a:cs typeface="Anantason Condensed Bold"/>
                <a:sym typeface="Anantason Condensed Bold"/>
              </a:rPr>
              <a:t>99–100 %</a:t>
            </a:r>
          </a:p>
        </p:txBody>
      </p:sp>
      <p:sp>
        <p:nvSpPr>
          <p:cNvPr name="TextBox 21" id="21"/>
          <p:cNvSpPr txBox="true"/>
          <p:nvPr/>
        </p:nvSpPr>
        <p:spPr>
          <a:xfrm rot="0">
            <a:off x="6012694" y="6339062"/>
            <a:ext cx="1484496" cy="557199"/>
          </a:xfrm>
          <a:prstGeom prst="rect">
            <a:avLst/>
          </a:prstGeom>
        </p:spPr>
        <p:txBody>
          <a:bodyPr anchor="t" rtlCol="false" tIns="0" lIns="0" bIns="0" rIns="0">
            <a:spAutoFit/>
          </a:bodyPr>
          <a:lstStyle/>
          <a:p>
            <a:pPr algn="l">
              <a:lnSpc>
                <a:spcPts val="2348"/>
              </a:lnSpc>
            </a:pPr>
            <a:r>
              <a:rPr lang="en-US" sz="1740" spc="-16">
                <a:solidFill>
                  <a:srgbClr val="F6F6F6"/>
                </a:solidFill>
                <a:latin typeface="Anantason Condensed"/>
                <a:ea typeface="Anantason Condensed"/>
                <a:cs typeface="Anantason Condensed"/>
                <a:sym typeface="Anantason Condensed"/>
              </a:rPr>
              <a:t>critical delivery</a:t>
            </a:r>
          </a:p>
          <a:p>
            <a:pPr algn="l">
              <a:lnSpc>
                <a:spcPts val="2348"/>
              </a:lnSpc>
            </a:pPr>
            <a:r>
              <a:rPr lang="en-US" sz="1740" spc="-16">
                <a:solidFill>
                  <a:srgbClr val="F6F6F6"/>
                </a:solidFill>
                <a:latin typeface="Anantason Condensed"/>
                <a:ea typeface="Anantason Condensed"/>
                <a:cs typeface="Anantason Condensed"/>
                <a:sym typeface="Anantason Condensed"/>
              </a:rPr>
              <a:t>(most reliable)</a:t>
            </a:r>
          </a:p>
        </p:txBody>
      </p:sp>
      <p:sp>
        <p:nvSpPr>
          <p:cNvPr name="Freeform 22" id="22"/>
          <p:cNvSpPr/>
          <p:nvPr/>
        </p:nvSpPr>
        <p:spPr>
          <a:xfrm flipH="false" flipV="false" rot="0">
            <a:off x="8050220" y="5783021"/>
            <a:ext cx="229694" cy="1508614"/>
          </a:xfrm>
          <a:custGeom>
            <a:avLst/>
            <a:gdLst/>
            <a:ahLst/>
            <a:cxnLst/>
            <a:rect r="r" b="b" t="t" l="l"/>
            <a:pathLst>
              <a:path h="1508614" w="229694">
                <a:moveTo>
                  <a:pt x="0" y="0"/>
                </a:moveTo>
                <a:lnTo>
                  <a:pt x="229694" y="0"/>
                </a:lnTo>
                <a:lnTo>
                  <a:pt x="229694" y="1508614"/>
                </a:lnTo>
                <a:lnTo>
                  <a:pt x="0" y="1508614"/>
                </a:lnTo>
                <a:lnTo>
                  <a:pt x="0" y="0"/>
                </a:lnTo>
                <a:close/>
              </a:path>
            </a:pathLst>
          </a:custGeom>
          <a:blipFill>
            <a:blip r:embed="rId9"/>
            <a:stretch>
              <a:fillRect l="0" t="0" r="0" b="0"/>
            </a:stretch>
          </a:blipFill>
        </p:spPr>
        <p:txBody>
          <a:bodyPr/>
          <a:p/>
        </p:txBody>
      </p:sp>
      <p:sp>
        <p:nvSpPr>
          <p:cNvPr name="TextBox 23" id="23"/>
          <p:cNvSpPr txBox="true"/>
          <p:nvPr/>
        </p:nvSpPr>
        <p:spPr>
          <a:xfrm rot="0">
            <a:off x="8307906" y="5899683"/>
            <a:ext cx="2349238" cy="430672"/>
          </a:xfrm>
          <a:prstGeom prst="rect">
            <a:avLst/>
          </a:prstGeom>
        </p:spPr>
        <p:txBody>
          <a:bodyPr anchor="t" rtlCol="false" tIns="0" lIns="0" bIns="0" rIns="0">
            <a:spAutoFit/>
          </a:bodyPr>
          <a:lstStyle/>
          <a:p>
            <a:pPr algn="l">
              <a:lnSpc>
                <a:spcPts val="3484"/>
              </a:lnSpc>
            </a:pPr>
            <a:r>
              <a:rPr lang="en-US" b="true" sz="3168" spc="-30">
                <a:solidFill>
                  <a:srgbClr val="11A4BF"/>
                </a:solidFill>
                <a:latin typeface="Anantason Condensed Bold"/>
                <a:ea typeface="Anantason Condensed Bold"/>
                <a:cs typeface="Anantason Condensed Bold"/>
                <a:sym typeface="Anantason Condensed Bold"/>
              </a:rPr>
              <a:t>2.65–3.39 W</a:t>
            </a:r>
          </a:p>
        </p:txBody>
      </p:sp>
      <p:sp>
        <p:nvSpPr>
          <p:cNvPr name="TextBox 24" id="24"/>
          <p:cNvSpPr txBox="true"/>
          <p:nvPr/>
        </p:nvSpPr>
        <p:spPr>
          <a:xfrm rot="0">
            <a:off x="8306670" y="6339063"/>
            <a:ext cx="2472823" cy="842797"/>
          </a:xfrm>
          <a:prstGeom prst="rect">
            <a:avLst/>
          </a:prstGeom>
        </p:spPr>
        <p:txBody>
          <a:bodyPr anchor="t" rtlCol="false" tIns="0" lIns="0" bIns="0" rIns="0">
            <a:spAutoFit/>
          </a:bodyPr>
          <a:lstStyle/>
          <a:p>
            <a:pPr algn="l">
              <a:lnSpc>
                <a:spcPts val="2348"/>
              </a:lnSpc>
            </a:pPr>
            <a:r>
              <a:rPr lang="en-US" sz="1740" spc="-16">
                <a:solidFill>
                  <a:srgbClr val="F6F6F6"/>
                </a:solidFill>
                <a:latin typeface="Anantason Condensed"/>
                <a:ea typeface="Anantason Condensed"/>
                <a:cs typeface="Anantason Condensed"/>
                <a:sym typeface="Anantason Condensed"/>
              </a:rPr>
              <a:t>high power consumption</a:t>
            </a:r>
          </a:p>
          <a:p>
            <a:pPr algn="l">
              <a:lnSpc>
                <a:spcPts val="2348"/>
              </a:lnSpc>
            </a:pPr>
            <a:r>
              <a:rPr lang="en-US" sz="1740" spc="-16">
                <a:solidFill>
                  <a:srgbClr val="F6F6F6"/>
                </a:solidFill>
                <a:latin typeface="Anantason Condensed"/>
                <a:ea typeface="Anantason Condensed"/>
                <a:cs typeface="Anantason Condensed"/>
                <a:sym typeface="Anantason Condensed"/>
              </a:rPr>
              <a:t>and copies 49–100 % of protected bytes</a:t>
            </a:r>
          </a:p>
        </p:txBody>
      </p:sp>
      <p:sp>
        <p:nvSpPr>
          <p:cNvPr name="TextBox 25" id="25"/>
          <p:cNvSpPr txBox="true"/>
          <p:nvPr/>
        </p:nvSpPr>
        <p:spPr>
          <a:xfrm rot="0">
            <a:off x="6016253" y="7528869"/>
            <a:ext cx="3807533" cy="557199"/>
          </a:xfrm>
          <a:prstGeom prst="rect">
            <a:avLst/>
          </a:prstGeom>
        </p:spPr>
        <p:txBody>
          <a:bodyPr anchor="t" rtlCol="false" tIns="0" lIns="0" bIns="0" rIns="0">
            <a:spAutoFit/>
          </a:bodyPr>
          <a:lstStyle/>
          <a:p>
            <a:pPr algn="l">
              <a:lnSpc>
                <a:spcPts val="2348"/>
              </a:lnSpc>
            </a:pPr>
            <a:r>
              <a:rPr lang="en-US" sz="1740" spc="-16">
                <a:solidFill>
                  <a:srgbClr val="F6F6F6"/>
                </a:solidFill>
                <a:latin typeface="Anantason Condensed"/>
                <a:ea typeface="Anantason Condensed"/>
                <a:cs typeface="Anantason Condensed"/>
                <a:sym typeface="Anantason Condensed"/>
              </a:rPr>
              <a:t>Still fails when both paths fail together</a:t>
            </a:r>
          </a:p>
          <a:p>
            <a:pPr algn="l">
              <a:lnSpc>
                <a:spcPts val="2348"/>
              </a:lnSpc>
            </a:pPr>
            <a:r>
              <a:rPr lang="en-US" sz="1740" spc="-16">
                <a:solidFill>
                  <a:srgbClr val="F6F6F6"/>
                </a:solidFill>
                <a:latin typeface="Anantason Condensed"/>
                <a:ea typeface="Anantason Condensed"/>
                <a:cs typeface="Anantason Condensed"/>
                <a:sym typeface="Anantason Condensed"/>
              </a:rPr>
              <a:t>(a shared radio shadow).</a:t>
            </a:r>
          </a:p>
        </p:txBody>
      </p:sp>
      <p:sp>
        <p:nvSpPr>
          <p:cNvPr name="Freeform 26" id="26"/>
          <p:cNvSpPr/>
          <p:nvPr/>
        </p:nvSpPr>
        <p:spPr>
          <a:xfrm flipH="false" flipV="false" rot="0">
            <a:off x="10883110" y="2569017"/>
            <a:ext cx="229694" cy="5575313"/>
          </a:xfrm>
          <a:custGeom>
            <a:avLst/>
            <a:gdLst/>
            <a:ahLst/>
            <a:cxnLst/>
            <a:rect r="r" b="b" t="t" l="l"/>
            <a:pathLst>
              <a:path h="5575313" w="229694">
                <a:moveTo>
                  <a:pt x="0" y="0"/>
                </a:moveTo>
                <a:lnTo>
                  <a:pt x="229694" y="0"/>
                </a:lnTo>
                <a:lnTo>
                  <a:pt x="229694" y="5575313"/>
                </a:lnTo>
                <a:lnTo>
                  <a:pt x="0" y="5575313"/>
                </a:lnTo>
                <a:lnTo>
                  <a:pt x="0" y="0"/>
                </a:lnTo>
                <a:close/>
              </a:path>
            </a:pathLst>
          </a:custGeom>
          <a:blipFill>
            <a:blip r:embed="rId10"/>
            <a:stretch>
              <a:fillRect l="0" t="0" r="0" b="0"/>
            </a:stretch>
          </a:blipFill>
        </p:spPr>
        <p:txBody>
          <a:bodyPr/>
          <a:p/>
        </p:txBody>
      </p:sp>
      <p:sp>
        <p:nvSpPr>
          <p:cNvPr name="Freeform 27" id="27"/>
          <p:cNvSpPr/>
          <p:nvPr/>
        </p:nvSpPr>
        <p:spPr>
          <a:xfrm flipH="false" flipV="false" rot="0">
            <a:off x="11101866" y="2569017"/>
            <a:ext cx="3489158" cy="863627"/>
          </a:xfrm>
          <a:custGeom>
            <a:avLst/>
            <a:gdLst/>
            <a:ahLst/>
            <a:cxnLst/>
            <a:rect r="r" b="b" t="t" l="l"/>
            <a:pathLst>
              <a:path h="863627" w="3489158">
                <a:moveTo>
                  <a:pt x="0" y="0"/>
                </a:moveTo>
                <a:lnTo>
                  <a:pt x="3489158" y="0"/>
                </a:lnTo>
                <a:lnTo>
                  <a:pt x="3489158" y="863627"/>
                </a:lnTo>
                <a:lnTo>
                  <a:pt x="0" y="863627"/>
                </a:lnTo>
                <a:lnTo>
                  <a:pt x="0" y="0"/>
                </a:lnTo>
                <a:close/>
              </a:path>
            </a:pathLst>
          </a:custGeom>
          <a:blipFill>
            <a:blip r:embed="rId11"/>
            <a:stretch>
              <a:fillRect l="0" t="0" r="0" b="0"/>
            </a:stretch>
          </a:blipFill>
        </p:spPr>
        <p:txBody>
          <a:bodyPr/>
          <a:p/>
        </p:txBody>
      </p:sp>
      <p:sp>
        <p:nvSpPr>
          <p:cNvPr name="TextBox 28" id="28"/>
          <p:cNvSpPr txBox="true"/>
          <p:nvPr/>
        </p:nvSpPr>
        <p:spPr>
          <a:xfrm rot="0">
            <a:off x="11169507" y="2823481"/>
            <a:ext cx="3271865" cy="274010"/>
          </a:xfrm>
          <a:prstGeom prst="rect">
            <a:avLst/>
          </a:prstGeom>
        </p:spPr>
        <p:txBody>
          <a:bodyPr anchor="t" rtlCol="false" tIns="0" lIns="0" bIns="0" rIns="0">
            <a:spAutoFit/>
          </a:bodyPr>
          <a:lstStyle/>
          <a:p>
            <a:pPr algn="ctr">
              <a:lnSpc>
                <a:spcPts val="2184"/>
              </a:lnSpc>
            </a:pPr>
            <a:r>
              <a:rPr lang="en-US" b="true" sz="1986" spc="-19">
                <a:solidFill>
                  <a:srgbClr val="F6F6F6"/>
                </a:solidFill>
                <a:latin typeface="Anantason Condensed Bold"/>
                <a:ea typeface="Anantason Condensed Bold"/>
                <a:cs typeface="Anantason Condensed Bold"/>
                <a:sym typeface="Anantason Condensed Bold"/>
              </a:rPr>
              <a:t>COMMON SHORTCOMINGS</a:t>
            </a:r>
          </a:p>
        </p:txBody>
      </p:sp>
      <p:sp>
        <p:nvSpPr>
          <p:cNvPr name="TextBox 29" id="29"/>
          <p:cNvSpPr txBox="true"/>
          <p:nvPr/>
        </p:nvSpPr>
        <p:spPr>
          <a:xfrm rot="0">
            <a:off x="11388034" y="3467930"/>
            <a:ext cx="2410707" cy="328833"/>
          </a:xfrm>
          <a:prstGeom prst="rect">
            <a:avLst/>
          </a:prstGeom>
        </p:spPr>
        <p:txBody>
          <a:bodyPr anchor="t" rtlCol="false" tIns="0" lIns="0" bIns="0" rIns="0">
            <a:spAutoFit/>
          </a:bodyPr>
          <a:lstStyle/>
          <a:p>
            <a:pPr algn="l">
              <a:lnSpc>
                <a:spcPts val="2763"/>
              </a:lnSpc>
            </a:pPr>
            <a:r>
              <a:rPr lang="en-US" sz="2047" spc="-19">
                <a:solidFill>
                  <a:srgbClr val="F6F6F6"/>
                </a:solidFill>
                <a:latin typeface="Anantason Condensed"/>
                <a:ea typeface="Anantason Condensed"/>
                <a:cs typeface="Anantason Condensed"/>
                <a:sym typeface="Anantason Condensed"/>
              </a:rPr>
              <a:t>Neither looks ahead.</a:t>
            </a:r>
          </a:p>
        </p:txBody>
      </p:sp>
      <p:sp>
        <p:nvSpPr>
          <p:cNvPr name="TextBox 30" id="30"/>
          <p:cNvSpPr txBox="true"/>
          <p:nvPr/>
        </p:nvSpPr>
        <p:spPr>
          <a:xfrm rot="0">
            <a:off x="11381886" y="4100832"/>
            <a:ext cx="3025436" cy="328833"/>
          </a:xfrm>
          <a:prstGeom prst="rect">
            <a:avLst/>
          </a:prstGeom>
        </p:spPr>
        <p:txBody>
          <a:bodyPr anchor="t" rtlCol="false" tIns="0" lIns="0" bIns="0" rIns="0">
            <a:spAutoFit/>
          </a:bodyPr>
          <a:lstStyle/>
          <a:p>
            <a:pPr algn="l">
              <a:lnSpc>
                <a:spcPts val="2763"/>
              </a:lnSpc>
            </a:pPr>
            <a:r>
              <a:rPr lang="en-US" sz="2047" spc="-19">
                <a:solidFill>
                  <a:srgbClr val="F6F6F6"/>
                </a:solidFill>
                <a:latin typeface="Anantason Condensed"/>
                <a:ea typeface="Anantason Condensed"/>
                <a:cs typeface="Anantason Condensed"/>
                <a:sym typeface="Anantason Condensed"/>
              </a:rPr>
              <a:t>Ignores the fading signal.</a:t>
            </a:r>
          </a:p>
        </p:txBody>
      </p:sp>
      <p:sp>
        <p:nvSpPr>
          <p:cNvPr name="TextBox 31" id="31"/>
          <p:cNvSpPr txBox="true"/>
          <p:nvPr/>
        </p:nvSpPr>
        <p:spPr>
          <a:xfrm rot="0">
            <a:off x="11384772" y="4757448"/>
            <a:ext cx="2736839" cy="625093"/>
          </a:xfrm>
          <a:prstGeom prst="rect">
            <a:avLst/>
          </a:prstGeom>
        </p:spPr>
        <p:txBody>
          <a:bodyPr anchor="t" rtlCol="false" tIns="0" lIns="0" bIns="0" rIns="0">
            <a:spAutoFit/>
          </a:bodyPr>
          <a:lstStyle/>
          <a:p>
            <a:pPr algn="l">
              <a:lnSpc>
                <a:spcPts val="2597"/>
              </a:lnSpc>
            </a:pPr>
            <a:r>
              <a:rPr lang="en-US" sz="1924" spc="-18">
                <a:solidFill>
                  <a:srgbClr val="F6F6F6"/>
                </a:solidFill>
                <a:latin typeface="Anantason Condensed"/>
                <a:ea typeface="Anantason Condensed"/>
                <a:cs typeface="Anantason Condensed"/>
                <a:sym typeface="Anantason Condensed"/>
              </a:rPr>
              <a:t>Ignores the known route.</a:t>
            </a:r>
          </a:p>
        </p:txBody>
      </p:sp>
      <p:sp>
        <p:nvSpPr>
          <p:cNvPr name="TextBox 32" id="32"/>
          <p:cNvSpPr txBox="true"/>
          <p:nvPr/>
        </p:nvSpPr>
        <p:spPr>
          <a:xfrm rot="0">
            <a:off x="11384516" y="5736403"/>
            <a:ext cx="2762503" cy="946391"/>
          </a:xfrm>
          <a:prstGeom prst="rect">
            <a:avLst/>
          </a:prstGeom>
        </p:spPr>
        <p:txBody>
          <a:bodyPr anchor="t" rtlCol="false" tIns="0" lIns="0" bIns="0" rIns="0">
            <a:spAutoFit/>
          </a:bodyPr>
          <a:lstStyle/>
          <a:p>
            <a:pPr algn="l">
              <a:lnSpc>
                <a:spcPts val="2597"/>
              </a:lnSpc>
            </a:pPr>
            <a:r>
              <a:rPr lang="en-US" sz="1924" spc="-18">
                <a:solidFill>
                  <a:srgbClr val="F6F6F6"/>
                </a:solidFill>
                <a:latin typeface="Anantason Condensed"/>
                <a:ea typeface="Anantason Condensed"/>
                <a:cs typeface="Anantason Condensed"/>
                <a:sym typeface="Anantason Condensed"/>
              </a:rPr>
              <a:t>Neither adds protection only at the moment a link fades.</a:t>
            </a:r>
          </a:p>
        </p:txBody>
      </p:sp>
      <p:sp>
        <p:nvSpPr>
          <p:cNvPr name="Freeform 33" id="33"/>
          <p:cNvSpPr/>
          <p:nvPr/>
        </p:nvSpPr>
        <p:spPr>
          <a:xfrm flipH="false" flipV="false" rot="0">
            <a:off x="426574" y="8352038"/>
            <a:ext cx="3062584" cy="1727254"/>
          </a:xfrm>
          <a:custGeom>
            <a:avLst/>
            <a:gdLst/>
            <a:ahLst/>
            <a:cxnLst/>
            <a:rect r="r" b="b" t="t" l="l"/>
            <a:pathLst>
              <a:path h="1727254" w="3062584">
                <a:moveTo>
                  <a:pt x="0" y="0"/>
                </a:moveTo>
                <a:lnTo>
                  <a:pt x="3062584" y="0"/>
                </a:lnTo>
                <a:lnTo>
                  <a:pt x="3062584" y="1727254"/>
                </a:lnTo>
                <a:lnTo>
                  <a:pt x="0" y="1727254"/>
                </a:lnTo>
                <a:lnTo>
                  <a:pt x="0" y="0"/>
                </a:lnTo>
                <a:close/>
              </a:path>
            </a:pathLst>
          </a:custGeom>
          <a:blipFill>
            <a:blip r:embed="rId12"/>
            <a:stretch>
              <a:fillRect l="0" t="0" r="0" b="0"/>
            </a:stretch>
          </a:blipFill>
        </p:spPr>
        <p:txBody>
          <a:bodyPr/>
          <a:p/>
        </p:txBody>
      </p:sp>
      <p:sp>
        <p:nvSpPr>
          <p:cNvPr name="TextBox 34" id="34"/>
          <p:cNvSpPr txBox="true"/>
          <p:nvPr/>
        </p:nvSpPr>
        <p:spPr>
          <a:xfrm rot="0">
            <a:off x="889270" y="8791205"/>
            <a:ext cx="2083371" cy="971377"/>
          </a:xfrm>
          <a:prstGeom prst="rect">
            <a:avLst/>
          </a:prstGeom>
        </p:spPr>
        <p:txBody>
          <a:bodyPr anchor="t" rtlCol="false" tIns="0" lIns="0" bIns="0" rIns="0">
            <a:spAutoFit/>
          </a:bodyPr>
          <a:lstStyle/>
          <a:p>
            <a:pPr algn="ctr">
              <a:lnSpc>
                <a:spcPts val="3933"/>
              </a:lnSpc>
            </a:pPr>
            <a:r>
              <a:rPr lang="en-US" b="true" sz="3577" spc="-34">
                <a:solidFill>
                  <a:srgbClr val="F6F6F6"/>
                </a:solidFill>
                <a:latin typeface="Anantason Condensed Bold"/>
                <a:ea typeface="Anantason Condensed Bold"/>
                <a:cs typeface="Anantason Condensed Bold"/>
                <a:sym typeface="Anantason Condensed Bold"/>
              </a:rPr>
              <a:t>WHAT WE ADAPT</a:t>
            </a:r>
          </a:p>
        </p:txBody>
      </p:sp>
      <p:sp>
        <p:nvSpPr>
          <p:cNvPr name="Freeform 35" id="35"/>
          <p:cNvSpPr/>
          <p:nvPr/>
        </p:nvSpPr>
        <p:spPr>
          <a:xfrm flipH="false" flipV="false" rot="0">
            <a:off x="3259464" y="8352038"/>
            <a:ext cx="11987828" cy="1727254"/>
          </a:xfrm>
          <a:custGeom>
            <a:avLst/>
            <a:gdLst/>
            <a:ahLst/>
            <a:cxnLst/>
            <a:rect r="r" b="b" t="t" l="l"/>
            <a:pathLst>
              <a:path h="1727254" w="11987828">
                <a:moveTo>
                  <a:pt x="0" y="0"/>
                </a:moveTo>
                <a:lnTo>
                  <a:pt x="11987828" y="0"/>
                </a:lnTo>
                <a:lnTo>
                  <a:pt x="11987828" y="1727254"/>
                </a:lnTo>
                <a:lnTo>
                  <a:pt x="0" y="1727254"/>
                </a:lnTo>
                <a:lnTo>
                  <a:pt x="0" y="0"/>
                </a:lnTo>
                <a:close/>
              </a:path>
            </a:pathLst>
          </a:custGeom>
          <a:blipFill>
            <a:blip r:embed="rId13"/>
            <a:stretch>
              <a:fillRect l="0" t="0" r="0" b="0"/>
            </a:stretch>
          </a:blipFill>
        </p:spPr>
        <p:txBody>
          <a:bodyPr/>
          <a:p/>
        </p:txBody>
      </p:sp>
      <p:sp>
        <p:nvSpPr>
          <p:cNvPr name="TextBox 36" id="36"/>
          <p:cNvSpPr txBox="true"/>
          <p:nvPr/>
        </p:nvSpPr>
        <p:spPr>
          <a:xfrm rot="0">
            <a:off x="3777258" y="8663599"/>
            <a:ext cx="11037094" cy="1119820"/>
          </a:xfrm>
          <a:prstGeom prst="rect">
            <a:avLst/>
          </a:prstGeom>
        </p:spPr>
        <p:txBody>
          <a:bodyPr anchor="t" rtlCol="false" tIns="0" lIns="0" bIns="0" rIns="0">
            <a:spAutoFit/>
          </a:bodyPr>
          <a:lstStyle/>
          <a:p>
            <a:pPr algn="l">
              <a:lnSpc>
                <a:spcPts val="3043"/>
              </a:lnSpc>
            </a:pPr>
            <a:r>
              <a:rPr lang="en-US" sz="2254" spc="-22">
                <a:solidFill>
                  <a:srgbClr val="F6F6F6"/>
                </a:solidFill>
                <a:latin typeface="Anantason Condensed"/>
                <a:ea typeface="Anantason Condensed"/>
                <a:cs typeface="Anantason Condensed"/>
                <a:sym typeface="Anantason Condensed"/>
              </a:rPr>
              <a:t>Keep the </a:t>
            </a:r>
            <a:r>
              <a:rPr lang="en-US" sz="2254" spc="-22" b="true">
                <a:solidFill>
                  <a:srgbClr val="11A4BF"/>
                </a:solidFill>
                <a:latin typeface="Anantason Condensed Bold"/>
                <a:ea typeface="Anantason Condensed Bold"/>
                <a:cs typeface="Anantason Condensed Bold"/>
                <a:sym typeface="Anantason Condensed Bold"/>
              </a:rPr>
              <a:t>anchored session</a:t>
            </a:r>
            <a:r>
              <a:rPr lang="en-US" sz="2254" spc="-22">
                <a:solidFill>
                  <a:srgbClr val="F6F6F6"/>
                </a:solidFill>
                <a:latin typeface="Anantason Condensed"/>
                <a:ea typeface="Anantason Condensed"/>
                <a:cs typeface="Anantason Condensed"/>
                <a:sym typeface="Anantason Condensed"/>
              </a:rPr>
              <a:t> (from multipath).</a:t>
            </a:r>
          </a:p>
          <a:p>
            <a:pPr algn="l">
              <a:lnSpc>
                <a:spcPts val="3043"/>
              </a:lnSpc>
            </a:pPr>
            <a:r>
              <a:rPr lang="en-US" sz="2254" spc="-22">
                <a:solidFill>
                  <a:srgbClr val="F6F6F6"/>
                </a:solidFill>
                <a:latin typeface="Anantason Condensed"/>
                <a:ea typeface="Anantason Condensed"/>
                <a:cs typeface="Anantason Condensed"/>
                <a:sym typeface="Anantason Condensed"/>
              </a:rPr>
              <a:t>Keep the </a:t>
            </a:r>
            <a:r>
              <a:rPr lang="en-US" sz="2254" spc="-22" b="true">
                <a:solidFill>
                  <a:srgbClr val="11A4BF"/>
                </a:solidFill>
                <a:latin typeface="Anantason Condensed Bold"/>
                <a:ea typeface="Anantason Condensed Bold"/>
                <a:cs typeface="Anantason Condensed Bold"/>
                <a:sym typeface="Anantason Condensed Bold"/>
              </a:rPr>
              <a:t>duplication</a:t>
            </a:r>
            <a:r>
              <a:rPr lang="en-US" sz="2254" spc="-22">
                <a:solidFill>
                  <a:srgbClr val="F6F6F6"/>
                </a:solidFill>
                <a:latin typeface="Anantason Condensed"/>
                <a:ea typeface="Anantason Condensed"/>
                <a:cs typeface="Anantason Condensed"/>
                <a:sym typeface="Anantason Condensed"/>
              </a:rPr>
              <a:t> (from PDCP), but use it only in a </a:t>
            </a:r>
            <a:r>
              <a:rPr lang="en-US" sz="2254" spc="-22" b="true">
                <a:solidFill>
                  <a:srgbClr val="11A4BF"/>
                </a:solidFill>
                <a:latin typeface="Anantason Condensed Bold"/>
                <a:ea typeface="Anantason Condensed Bold"/>
                <a:cs typeface="Anantason Condensed Bold"/>
                <a:sym typeface="Anantason Condensed Bold"/>
              </a:rPr>
              <a:t>400 ms</a:t>
            </a:r>
            <a:r>
              <a:rPr lang="en-US" sz="2254" spc="-22">
                <a:solidFill>
                  <a:srgbClr val="F6F6F6"/>
                </a:solidFill>
                <a:latin typeface="Anantason Condensed"/>
                <a:ea typeface="Anantason Condensed"/>
                <a:cs typeface="Anantason Condensed"/>
                <a:sym typeface="Anantason Condensed"/>
              </a:rPr>
              <a:t> burst around a predicted failure.</a:t>
            </a:r>
          </a:p>
          <a:p>
            <a:pPr algn="l">
              <a:lnSpc>
                <a:spcPts val="3043"/>
              </a:lnSpc>
            </a:pPr>
            <a:r>
              <a:rPr lang="en-US" sz="2254" spc="-22">
                <a:solidFill>
                  <a:srgbClr val="F6F6F6"/>
                </a:solidFill>
                <a:latin typeface="Anantason Condensed"/>
                <a:ea typeface="Anantason Condensed"/>
                <a:cs typeface="Anantason Condensed"/>
                <a:sym typeface="Anantason Condensed"/>
              </a:rPr>
              <a:t>New in combination: </a:t>
            </a:r>
            <a:r>
              <a:rPr lang="en-US" sz="2254" spc="-22" b="true">
                <a:solidFill>
                  <a:srgbClr val="11A4BF"/>
                </a:solidFill>
                <a:latin typeface="Anantason Condensed Bold"/>
                <a:ea typeface="Anantason Condensed Bold"/>
                <a:cs typeface="Anantason Condensed Bold"/>
                <a:sym typeface="Anantason Condensed Bold"/>
              </a:rPr>
              <a:t>prediction</a:t>
            </a:r>
            <a:r>
              <a:rPr lang="en-US" sz="2254" spc="-22">
                <a:solidFill>
                  <a:srgbClr val="F6F6F6"/>
                </a:solidFill>
                <a:latin typeface="Anantason Condensed"/>
                <a:ea typeface="Anantason Condensed"/>
                <a:cs typeface="Anantason Condensed"/>
                <a:sym typeface="Anantason Condensed"/>
              </a:rPr>
              <a:t>, </a:t>
            </a:r>
            <a:r>
              <a:rPr lang="en-US" sz="2254" spc="-22" b="true">
                <a:solidFill>
                  <a:srgbClr val="11A4BF"/>
                </a:solidFill>
                <a:latin typeface="Anantason Condensed Bold"/>
                <a:ea typeface="Anantason Condensed Bold"/>
                <a:cs typeface="Anantason Condensed Bold"/>
                <a:sym typeface="Anantason Condensed Bold"/>
              </a:rPr>
              <a:t>route knowledge</a:t>
            </a:r>
            <a:r>
              <a:rPr lang="en-US" sz="2254" spc="-22">
                <a:solidFill>
                  <a:srgbClr val="F6F6F6"/>
                </a:solidFill>
                <a:latin typeface="Anantason Condensed"/>
                <a:ea typeface="Anantason Condensed"/>
                <a:cs typeface="Anantason Condensed"/>
                <a:sym typeface="Anantason Condensed"/>
              </a:rPr>
              <a:t> and </a:t>
            </a:r>
            <a:r>
              <a:rPr lang="en-US" sz="2254" spc="-22" b="true">
                <a:solidFill>
                  <a:srgbClr val="11A4BF"/>
                </a:solidFill>
                <a:latin typeface="Anantason Condensed Bold"/>
                <a:ea typeface="Anantason Condensed Bold"/>
                <a:cs typeface="Anantason Condensed Bold"/>
                <a:sym typeface="Anantason Condensed Bold"/>
              </a:rPr>
              <a:t>traffic classes</a:t>
            </a:r>
            <a:r>
              <a:rPr lang="en-US" sz="2254" spc="-22">
                <a:solidFill>
                  <a:srgbClr val="F6F6F6"/>
                </a:solidFill>
                <a:latin typeface="Anantason Condensed"/>
                <a:ea typeface="Anantason Condensed"/>
                <a:cs typeface="Anantason Condensed"/>
                <a:sym typeface="Anantason Condensed"/>
              </a:rPr>
              <a:t>.</a:t>
            </a:r>
          </a:p>
        </p:txBody>
      </p:sp>
      <p:sp>
        <p:nvSpPr>
          <p:cNvPr id="37" name="References"/>
          <p:cNvSpPr txBox="1"/>
          <p:nvPr/>
        </p:nvSpPr>
        <p:spPr>
          <a:xfrm>
            <a:off x="635000" y="9867900"/>
            <a:ext cx="14986000" cy="254000"/>
          </a:xfrm>
          <a:prstGeom prst="rect">
            <a:avLst/>
          </a:prstGeom>
          <a:noFill/>
        </p:spPr>
        <p:txBody>
          <a:bodyPr wrap="square" lIns="0" rIns="0" tIns="0" bIns="0">
            <a:spAutoFit/>
          </a:bodyPr>
          <a:lstStyle/>
          <a:p>
            <a:r>
              <a:rPr sz="1300" b="1">
                <a:solidFill>
                  <a:srgbClr val="C9D6E2"/>
                </a:solidFill>
                <a:latin typeface="Anantason Condensed"/>
              </a:rPr>
              <a:t>References: </a:t>
            </a:r>
            <a:r>
              <a:rPr sz="1300" b="0">
                <a:solidFill>
                  <a:srgbClr val="C9D6E2"/>
                </a:solidFill>
                <a:latin typeface="Anantason Condensed"/>
              </a:rPr>
              <a:t>RFC 8684, Multipath TCP v1 (IETF, 2020) · 3GPP TS 23.501 §5.32, ATSSS · 3GPP TS 38.323, PDCP duplication · 3GPP TS 22.125 §7.2, UAV C2 KPIs · Related products: Elsight Halo, Peplink SpeedFusion, uAvionix muLTElink</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598060" y="289988"/>
            <a:ext cx="9845526" cy="918478"/>
          </a:xfrm>
          <a:prstGeom prst="rect">
            <a:avLst/>
          </a:prstGeom>
        </p:spPr>
        <p:txBody>
          <a:bodyPr anchor="t" rtlCol="false" tIns="0" lIns="0" bIns="0" rIns="0">
            <a:spAutoFit/>
          </a:bodyPr>
          <a:lstStyle/>
          <a:p>
            <a:pPr algn="l">
              <a:lnSpc>
                <a:spcPts val="7277"/>
              </a:lnSpc>
            </a:pPr>
            <a:r>
              <a:rPr lang="en-US" sz="6618" spc="-64" b="true">
                <a:solidFill>
                  <a:srgbClr val="FFFFFF">
                    <a:alpha val="94902"/>
                  </a:srgbClr>
                </a:solidFill>
                <a:latin typeface="Anantason Condensed Bold"/>
                <a:ea typeface="Anantason Condensed Bold"/>
                <a:cs typeface="Anantason Condensed Bold"/>
                <a:sym typeface="Anantason Condensed Bold"/>
              </a:rPr>
              <a:t>The FlexiPath mechanism</a:t>
            </a:r>
          </a:p>
        </p:txBody>
      </p:sp>
      <p:sp>
        <p:nvSpPr>
          <p:cNvPr name="TextBox 4" id="4"/>
          <p:cNvSpPr txBox="true"/>
          <p:nvPr/>
        </p:nvSpPr>
        <p:spPr>
          <a:xfrm rot="0">
            <a:off x="669573" y="1170473"/>
            <a:ext cx="2694214" cy="469844"/>
          </a:xfrm>
          <a:prstGeom prst="rect">
            <a:avLst/>
          </a:prstGeom>
        </p:spPr>
        <p:txBody>
          <a:bodyPr anchor="t" rtlCol="false" tIns="0" lIns="0" bIns="0" rIns="0">
            <a:spAutoFit/>
          </a:bodyPr>
          <a:lstStyle/>
          <a:p>
            <a:pPr algn="l">
              <a:lnSpc>
                <a:spcPts val="3783"/>
              </a:lnSpc>
            </a:pPr>
            <a:r>
              <a:rPr lang="en-US" sz="3440" spc="33" b="true">
                <a:solidFill>
                  <a:srgbClr val="FFFFFF">
                    <a:alpha val="94902"/>
                  </a:srgbClr>
                </a:solidFill>
                <a:latin typeface="Anantason Condensed Bold"/>
                <a:ea typeface="Anantason Condensed Bold"/>
                <a:cs typeface="Anantason Condensed Bold"/>
                <a:sym typeface="Anantason Condensed Bold"/>
              </a:rPr>
              <a:t>(criterion 02)</a:t>
            </a:r>
          </a:p>
        </p:txBody>
      </p:sp>
      <p:sp>
        <p:nvSpPr>
          <p:cNvPr name="TextBox 5" id="5"/>
          <p:cNvSpPr txBox="true"/>
          <p:nvPr/>
        </p:nvSpPr>
        <p:spPr>
          <a:xfrm rot="0">
            <a:off x="7570327" y="3791005"/>
            <a:ext cx="2498873" cy="1453323"/>
          </a:xfrm>
          <a:prstGeom prst="rect">
            <a:avLst/>
          </a:prstGeom>
        </p:spPr>
        <p:txBody>
          <a:bodyPr anchor="t" rtlCol="false" tIns="0" lIns="0" bIns="0" rIns="0">
            <a:spAutoFit/>
          </a:bodyPr>
          <a:lstStyle/>
          <a:p>
            <a:pPr algn="ctr">
              <a:lnSpc>
                <a:spcPts val="3933"/>
              </a:lnSpc>
            </a:pPr>
            <a:r>
              <a:rPr lang="en-US" sz="3577" b="true">
                <a:solidFill>
                  <a:srgbClr val="FFFFFF">
                    <a:alpha val="94902"/>
                  </a:srgbClr>
                </a:solidFill>
                <a:latin typeface="Anantason Condensed Bold"/>
                <a:ea typeface="Anantason Condensed Bold"/>
                <a:cs typeface="Anantason Condensed Bold"/>
                <a:sym typeface="Anantason Condensed Bold"/>
              </a:rPr>
              <a:t>Continuous, zero-gap resilience</a:t>
            </a:r>
          </a:p>
        </p:txBody>
      </p:sp>
      <p:sp>
        <p:nvSpPr>
          <p:cNvPr name="Freeform 6" id="6"/>
          <p:cNvSpPr/>
          <p:nvPr/>
        </p:nvSpPr>
        <p:spPr>
          <a:xfrm flipH="false" flipV="false" rot="0">
            <a:off x="6748622" y="1924030"/>
            <a:ext cx="1531292" cy="1082267"/>
          </a:xfrm>
          <a:custGeom>
            <a:avLst/>
            <a:gdLst/>
            <a:ahLst/>
            <a:cxnLst/>
            <a:rect r="r" b="b" t="t" l="l"/>
            <a:pathLst>
              <a:path h="1082267" w="1531292">
                <a:moveTo>
                  <a:pt x="0" y="0"/>
                </a:moveTo>
                <a:lnTo>
                  <a:pt x="1531292" y="0"/>
                </a:lnTo>
                <a:lnTo>
                  <a:pt x="1531292" y="1082266"/>
                </a:lnTo>
                <a:lnTo>
                  <a:pt x="0" y="1082266"/>
                </a:lnTo>
                <a:lnTo>
                  <a:pt x="0" y="0"/>
                </a:lnTo>
                <a:close/>
              </a:path>
            </a:pathLst>
          </a:custGeom>
          <a:blipFill>
            <a:blip r:embed="rId3"/>
            <a:stretch>
              <a:fillRect l="0" t="0" r="0" b="0"/>
            </a:stretch>
          </a:blipFill>
        </p:spPr>
        <p:txBody>
          <a:bodyPr/>
          <a:p/>
        </p:txBody>
      </p:sp>
      <p:sp>
        <p:nvSpPr>
          <p:cNvPr name="Freeform 7" id="7"/>
          <p:cNvSpPr/>
          <p:nvPr/>
        </p:nvSpPr>
        <p:spPr>
          <a:xfrm flipH="false" flipV="false" rot="0">
            <a:off x="9351818" y="1924030"/>
            <a:ext cx="1760986" cy="1082267"/>
          </a:xfrm>
          <a:custGeom>
            <a:avLst/>
            <a:gdLst/>
            <a:ahLst/>
            <a:cxnLst/>
            <a:rect r="r" b="b" t="t" l="l"/>
            <a:pathLst>
              <a:path h="1082267" w="1760986">
                <a:moveTo>
                  <a:pt x="0" y="0"/>
                </a:moveTo>
                <a:lnTo>
                  <a:pt x="1760986" y="0"/>
                </a:lnTo>
                <a:lnTo>
                  <a:pt x="1760986" y="1082266"/>
                </a:lnTo>
                <a:lnTo>
                  <a:pt x="0" y="1082266"/>
                </a:lnTo>
                <a:lnTo>
                  <a:pt x="0" y="0"/>
                </a:lnTo>
                <a:close/>
              </a:path>
            </a:pathLst>
          </a:custGeom>
          <a:blipFill>
            <a:blip r:embed="rId4"/>
            <a:stretch>
              <a:fillRect l="0" t="0" r="0" b="0"/>
            </a:stretch>
          </a:blipFill>
        </p:spPr>
        <p:txBody>
          <a:bodyPr/>
          <a:p/>
        </p:txBody>
      </p:sp>
      <p:sp>
        <p:nvSpPr>
          <p:cNvPr name="TextBox 8" id="8"/>
          <p:cNvSpPr txBox="true"/>
          <p:nvPr/>
        </p:nvSpPr>
        <p:spPr>
          <a:xfrm rot="0">
            <a:off x="12077700" y="1943100"/>
            <a:ext cx="3143250" cy="1329169"/>
          </a:xfrm>
          <a:prstGeom prst="rect">
            <a:avLst/>
          </a:prstGeom>
        </p:spPr>
        <p:txBody>
          <a:bodyPr anchor="t" rtlCol="false" tIns="0" lIns="0" bIns="0" rIns="0">
            <a:spAutoFit/>
          </a:bodyPr>
          <a:lstStyle/>
          <a:p>
            <a:pPr algn="l">
              <a:lnSpc>
                <a:spcPts val="2236"/>
              </a:lnSpc>
            </a:pPr>
            <a:r>
              <a:rPr lang="en-US" sz="1863">
                <a:solidFill>
                  <a:srgbClr val="FFFFFF"/>
                </a:solidFill>
                <a:latin typeface="Anantason Condensed"/>
                <a:ea typeface="Anantason Condensed"/>
                <a:cs typeface="Anantason Condensed"/>
                <a:sym typeface="Anantason Condensed"/>
              </a:rPr>
              <a:t>Measure the primary link ten times a second.</a:t>
            </a:r>
          </a:p>
          <a:p>
            <a:pPr algn="l">
              <a:lnSpc>
                <a:spcPts val="2236"/>
              </a:lnSpc>
            </a:pPr>
            <a:r>
              <a:rPr lang="en-US" sz="1863">
                <a:solidFill>
                  <a:srgbClr val="FFFFFF"/>
                </a:solidFill>
                <a:latin typeface="Anantason Condensed"/>
                <a:ea typeface="Anantason Condensed"/>
                <a:cs typeface="Anantason Condensed"/>
                <a:sym typeface="Anantason Condensed"/>
              </a:rPr>
              <a:t>Spare modems sleep in DRX at</a:t>
            </a:r>
          </a:p>
          <a:p>
            <a:pPr algn="l">
              <a:lnSpc>
                <a:spcPts val="2236"/>
              </a:lnSpc>
            </a:pPr>
            <a:r>
              <a:rPr lang="en-US" sz="1863">
                <a:solidFill>
                  <a:srgbClr val="FFFFFF"/>
                </a:solidFill>
                <a:latin typeface="Anantason Condensed"/>
                <a:ea typeface="Anantason Condensed"/>
                <a:cs typeface="Anantason Condensed"/>
                <a:sym typeface="Anantason Condensed"/>
              </a:rPr>
              <a:t>    1.2 W and report signal once</a:t>
            </a:r>
          </a:p>
          <a:p>
            <a:pPr algn="l">
              <a:lnSpc>
                <a:spcPts val="2236"/>
              </a:lnSpc>
            </a:pPr>
            <a:r>
              <a:rPr lang="en-US" sz="1863">
                <a:solidFill>
                  <a:srgbClr val="FFFFFF"/>
                </a:solidFill>
                <a:latin typeface="Anantason Condensed"/>
                <a:ea typeface="Anantason Condensed"/>
                <a:cs typeface="Anantason Condensed"/>
                <a:sym typeface="Anantason Condensed"/>
              </a:rPr>
              <a:t>    per cycle.</a:t>
            </a:r>
          </a:p>
        </p:txBody>
      </p:sp>
      <p:sp>
        <p:nvSpPr>
          <p:cNvPr name="Freeform 9" id="9"/>
          <p:cNvSpPr/>
          <p:nvPr/>
        </p:nvSpPr>
        <p:spPr>
          <a:xfrm flipH="false" flipV="false" rot="0">
            <a:off x="11320622" y="4066699"/>
            <a:ext cx="656268" cy="1082267"/>
          </a:xfrm>
          <a:custGeom>
            <a:avLst/>
            <a:gdLst/>
            <a:ahLst/>
            <a:cxnLst/>
            <a:rect r="r" b="b" t="t" l="l"/>
            <a:pathLst>
              <a:path h="1082267" w="656268">
                <a:moveTo>
                  <a:pt x="0" y="0"/>
                </a:moveTo>
                <a:lnTo>
                  <a:pt x="656268" y="0"/>
                </a:lnTo>
                <a:lnTo>
                  <a:pt x="656268" y="1082267"/>
                </a:lnTo>
                <a:lnTo>
                  <a:pt x="0" y="1082267"/>
                </a:lnTo>
                <a:lnTo>
                  <a:pt x="0" y="0"/>
                </a:lnTo>
                <a:close/>
              </a:path>
            </a:pathLst>
          </a:custGeom>
          <a:blipFill>
            <a:blip r:embed="rId5"/>
            <a:stretch>
              <a:fillRect l="0" t="0" r="0" b="0"/>
            </a:stretch>
          </a:blipFill>
        </p:spPr>
        <p:txBody>
          <a:bodyPr/>
          <a:p/>
        </p:txBody>
      </p:sp>
      <p:sp>
        <p:nvSpPr>
          <p:cNvPr name="TextBox 10" id="10"/>
          <p:cNvSpPr txBox="true"/>
          <p:nvPr/>
        </p:nvSpPr>
        <p:spPr>
          <a:xfrm rot="0">
            <a:off x="12421545" y="4175830"/>
            <a:ext cx="3536888" cy="1803969"/>
          </a:xfrm>
          <a:prstGeom prst="rect">
            <a:avLst/>
          </a:prstGeom>
        </p:spPr>
        <p:txBody>
          <a:bodyPr anchor="t" rtlCol="false" tIns="0" lIns="0" bIns="0" rIns="0">
            <a:spAutoFit/>
          </a:bodyPr>
          <a:lstStyle/>
          <a:p>
            <a:pPr algn="l">
              <a:lnSpc>
                <a:spcPts val="2497"/>
              </a:lnSpc>
            </a:pPr>
            <a:r>
              <a:rPr lang="en-US" sz="1784">
                <a:solidFill>
                  <a:srgbClr val="FFFFFF"/>
                </a:solidFill>
                <a:latin typeface="Anantason Condensed"/>
                <a:ea typeface="Anantason Condensed"/>
                <a:cs typeface="Anantason Condensed"/>
                <a:sym typeface="Anantason Condensed"/>
              </a:rPr>
              <a:t>Extend the signal trend to find where packet loss reaches 15 %.</a:t>
            </a:r>
          </a:p>
          <a:p>
            <a:pPr algn="l">
              <a:lnSpc>
                <a:spcPts val="2497"/>
              </a:lnSpc>
            </a:pPr>
            <a:r>
              <a:rPr lang="en-US" sz="1784">
                <a:solidFill>
                  <a:srgbClr val="FFFFFF"/>
                </a:solidFill>
                <a:latin typeface="Anantason Condensed"/>
                <a:ea typeface="Anantason Condensed"/>
                <a:cs typeface="Anantason Condensed"/>
                <a:sym typeface="Anantason Condensed"/>
              </a:rPr>
              <a:t>Watch from 8 s to failure; act under 3 s.</a:t>
            </a:r>
          </a:p>
          <a:p>
            <a:pPr algn="l">
              <a:lnSpc>
                <a:spcPts val="2497"/>
              </a:lnSpc>
            </a:pPr>
            <a:r>
              <a:rPr lang="en-US" sz="1784">
                <a:solidFill>
                  <a:srgbClr val="FFFFFF"/>
                </a:solidFill>
                <a:latin typeface="Anantason Condensed"/>
                <a:ea typeface="Anantason Condensed"/>
                <a:cs typeface="Anantason Condensed"/>
                <a:sym typeface="Anantason Condensed"/>
              </a:rPr>
              <a:t>The coverage map warns 8 s before a known shadow.</a:t>
            </a:r>
          </a:p>
        </p:txBody>
      </p:sp>
      <p:sp>
        <p:nvSpPr>
          <p:cNvPr name="Freeform 11" id="11"/>
          <p:cNvSpPr/>
          <p:nvPr/>
        </p:nvSpPr>
        <p:spPr>
          <a:xfrm flipH="false" flipV="false" rot="0">
            <a:off x="9351818" y="5990729"/>
            <a:ext cx="1760986" cy="874559"/>
          </a:xfrm>
          <a:custGeom>
            <a:avLst/>
            <a:gdLst/>
            <a:ahLst/>
            <a:cxnLst/>
            <a:rect r="r" b="b" t="t" l="l"/>
            <a:pathLst>
              <a:path h="874559" w="1760986">
                <a:moveTo>
                  <a:pt x="0" y="0"/>
                </a:moveTo>
                <a:lnTo>
                  <a:pt x="1760986" y="0"/>
                </a:lnTo>
                <a:lnTo>
                  <a:pt x="1760986" y="874559"/>
                </a:lnTo>
                <a:lnTo>
                  <a:pt x="0" y="874559"/>
                </a:lnTo>
                <a:lnTo>
                  <a:pt x="0" y="0"/>
                </a:lnTo>
                <a:close/>
              </a:path>
            </a:pathLst>
          </a:custGeom>
          <a:blipFill>
            <a:blip r:embed="rId6"/>
            <a:stretch>
              <a:fillRect l="0" t="0" r="0" b="0"/>
            </a:stretch>
          </a:blipFill>
        </p:spPr>
        <p:txBody>
          <a:bodyPr/>
          <a:p/>
        </p:txBody>
      </p:sp>
      <p:sp>
        <p:nvSpPr>
          <p:cNvPr name="TextBox 12" id="12"/>
          <p:cNvSpPr txBox="true"/>
          <p:nvPr/>
        </p:nvSpPr>
        <p:spPr>
          <a:xfrm rot="0">
            <a:off x="11751374" y="6871720"/>
            <a:ext cx="3581369" cy="1500521"/>
          </a:xfrm>
          <a:prstGeom prst="rect">
            <a:avLst/>
          </a:prstGeom>
        </p:spPr>
        <p:txBody>
          <a:bodyPr anchor="t" rtlCol="false" tIns="0" lIns="0" bIns="0" rIns="0">
            <a:spAutoFit/>
          </a:bodyPr>
          <a:lstStyle/>
          <a:p>
            <a:pPr algn="l">
              <a:lnSpc>
                <a:spcPts val="2497"/>
              </a:lnSpc>
            </a:pPr>
            <a:r>
              <a:rPr lang="en-US" sz="1784">
                <a:solidFill>
                  <a:srgbClr val="FFFFFF"/>
                </a:solidFill>
                <a:latin typeface="Anantason Condensed"/>
                <a:ea typeface="Anantason Condensed"/>
                <a:cs typeface="Anantason Condensed"/>
                <a:sym typeface="Anantason Condensed"/>
              </a:rPr>
              <a:t>Wake the best spare modem (1.8 W) and test it with small 64-byte heartbeats.</a:t>
            </a:r>
          </a:p>
          <a:p>
            <a:pPr algn="l">
              <a:lnSpc>
                <a:spcPts val="2497"/>
              </a:lnSpc>
            </a:pPr>
            <a:r>
              <a:rPr lang="en-US" sz="1784">
                <a:solidFill>
                  <a:srgbClr val="FFFFFF"/>
                </a:solidFill>
                <a:latin typeface="Anantason Condensed"/>
                <a:ea typeface="Anantason Condensed"/>
                <a:cs typeface="Anantason Condensed"/>
                <a:sym typeface="Anantason Condensed"/>
              </a:rPr>
              <a:t>Check its delay and loss before it carries anything.</a:t>
            </a:r>
          </a:p>
        </p:txBody>
      </p:sp>
      <p:sp>
        <p:nvSpPr>
          <p:cNvPr name="Freeform 13" id="13"/>
          <p:cNvSpPr/>
          <p:nvPr/>
        </p:nvSpPr>
        <p:spPr>
          <a:xfrm flipH="false" flipV="false" rot="0">
            <a:off x="6529866" y="5783021"/>
            <a:ext cx="1750048" cy="1082267"/>
          </a:xfrm>
          <a:custGeom>
            <a:avLst/>
            <a:gdLst/>
            <a:ahLst/>
            <a:cxnLst/>
            <a:rect r="r" b="b" t="t" l="l"/>
            <a:pathLst>
              <a:path h="1082267" w="1750048">
                <a:moveTo>
                  <a:pt x="0" y="0"/>
                </a:moveTo>
                <a:lnTo>
                  <a:pt x="1750048" y="0"/>
                </a:lnTo>
                <a:lnTo>
                  <a:pt x="1750048" y="1082267"/>
                </a:lnTo>
                <a:lnTo>
                  <a:pt x="0" y="1082267"/>
                </a:lnTo>
                <a:lnTo>
                  <a:pt x="0" y="0"/>
                </a:lnTo>
                <a:close/>
              </a:path>
            </a:pathLst>
          </a:custGeom>
          <a:blipFill>
            <a:blip r:embed="rId7"/>
            <a:stretch>
              <a:fillRect l="0" t="0" r="0" b="0"/>
            </a:stretch>
          </a:blipFill>
        </p:spPr>
        <p:txBody>
          <a:bodyPr/>
          <a:p/>
        </p:txBody>
      </p:sp>
      <p:sp>
        <p:nvSpPr>
          <p:cNvPr name="TextBox 14" id="14"/>
          <p:cNvSpPr txBox="true"/>
          <p:nvPr/>
        </p:nvSpPr>
        <p:spPr>
          <a:xfrm rot="0">
            <a:off x="6404299" y="8053877"/>
            <a:ext cx="4644477" cy="1699101"/>
          </a:xfrm>
          <a:prstGeom prst="rect">
            <a:avLst/>
          </a:prstGeom>
        </p:spPr>
        <p:txBody>
          <a:bodyPr anchor="t" rtlCol="false" tIns="0" lIns="0" bIns="0" rIns="0">
            <a:spAutoFit/>
          </a:bodyPr>
          <a:lstStyle/>
          <a:p>
            <a:pPr algn="ctr">
              <a:lnSpc>
                <a:spcPts val="2374"/>
              </a:lnSpc>
            </a:pPr>
            <a:r>
              <a:rPr lang="en-US" sz="1696">
                <a:solidFill>
                  <a:srgbClr val="FFFFFF"/>
                </a:solidFill>
                <a:latin typeface="Anantason Condensed"/>
                <a:ea typeface="Anantason Condensed"/>
                <a:cs typeface="Anantason Condensed"/>
                <a:sym typeface="Anantason Condensed"/>
              </a:rPr>
              <a:t>For a 400 ms burst (3.4 W), send critical traffic on both paths. Add real-time traffic if its loss is over budget.</a:t>
            </a:r>
          </a:p>
          <a:p>
            <a:pPr algn="ctr">
              <a:lnSpc>
                <a:spcPts val="2374"/>
              </a:lnSpc>
            </a:pPr>
            <a:r>
              <a:rPr lang="en-US" sz="1696">
                <a:solidFill>
                  <a:srgbClr val="FFFFFF"/>
                </a:solidFill>
                <a:latin typeface="Anantason Condensed"/>
                <a:ea typeface="Anantason Condensed"/>
                <a:cs typeface="Anantason Condensed"/>
                <a:sym typeface="Anantason Condensed"/>
              </a:rPr>
              <a:t>The receiver keeps the first copy of each sequence number and discards the late duplicate, so head-of-line delay is 0 ms.</a:t>
            </a:r>
          </a:p>
          <a:p>
            <a:pPr algn="ctr">
              <a:lnSpc>
                <a:spcPts val="2374"/>
              </a:lnSpc>
            </a:pPr>
            <a:r>
              <a:rPr lang="en-US" sz="1696">
                <a:solidFill>
                  <a:srgbClr val="FFFFFF"/>
                </a:solidFill>
                <a:latin typeface="Anantason Condensed"/>
                <a:ea typeface="Anantason Condensed"/>
                <a:cs typeface="Anantason Condensed"/>
                <a:sym typeface="Anantason Condensed"/>
              </a:rPr>
              <a:t>Never copy bulk traffic; only pace it.</a:t>
            </a:r>
          </a:p>
        </p:txBody>
      </p:sp>
      <p:sp>
        <p:nvSpPr>
          <p:cNvPr name="Freeform 15" id="15"/>
          <p:cNvSpPr/>
          <p:nvPr/>
        </p:nvSpPr>
        <p:spPr>
          <a:xfrm flipH="false" flipV="false" rot="0">
            <a:off x="5654842" y="2776725"/>
            <a:ext cx="1531292" cy="1519546"/>
          </a:xfrm>
          <a:custGeom>
            <a:avLst/>
            <a:gdLst/>
            <a:ahLst/>
            <a:cxnLst/>
            <a:rect r="r" b="b" t="t" l="l"/>
            <a:pathLst>
              <a:path h="1519546" w="1531292">
                <a:moveTo>
                  <a:pt x="0" y="0"/>
                </a:moveTo>
                <a:lnTo>
                  <a:pt x="1531292" y="0"/>
                </a:lnTo>
                <a:lnTo>
                  <a:pt x="1531292" y="1519546"/>
                </a:lnTo>
                <a:lnTo>
                  <a:pt x="0" y="1519546"/>
                </a:lnTo>
                <a:lnTo>
                  <a:pt x="0" y="0"/>
                </a:lnTo>
                <a:close/>
              </a:path>
            </a:pathLst>
          </a:custGeom>
          <a:blipFill>
            <a:blip r:embed="rId8"/>
            <a:stretch>
              <a:fillRect l="0" t="0" r="0" b="0"/>
            </a:stretch>
          </a:blipFill>
        </p:spPr>
        <p:txBody>
          <a:bodyPr/>
          <a:p/>
        </p:txBody>
      </p:sp>
      <p:sp>
        <p:nvSpPr>
          <p:cNvPr name="TextBox 16" id="16"/>
          <p:cNvSpPr txBox="true"/>
          <p:nvPr/>
        </p:nvSpPr>
        <p:spPr>
          <a:xfrm rot="0">
            <a:off x="2350708" y="2548797"/>
            <a:ext cx="2949806" cy="1328047"/>
          </a:xfrm>
          <a:prstGeom prst="rect">
            <a:avLst/>
          </a:prstGeom>
        </p:spPr>
        <p:txBody>
          <a:bodyPr anchor="t" rtlCol="false" tIns="0" lIns="0" bIns="0" rIns="0">
            <a:spAutoFit/>
          </a:bodyPr>
          <a:lstStyle/>
          <a:p>
            <a:pPr algn="r">
              <a:lnSpc>
                <a:spcPts val="2165"/>
              </a:lnSpc>
            </a:pPr>
            <a:r>
              <a:rPr lang="en-US" sz="1546">
                <a:solidFill>
                  <a:srgbClr val="FFFFFF"/>
                </a:solidFill>
                <a:latin typeface="Anantason Condensed"/>
                <a:ea typeface="Anantason Condensed"/>
                <a:cs typeface="Anantason Condensed"/>
                <a:sym typeface="Anantason Condensed"/>
              </a:rPr>
              <a:t>Make the tested network the main one with a 0 ms gap. Put the old radio back to sleep.</a:t>
            </a:r>
          </a:p>
          <a:p>
            <a:pPr algn="r">
              <a:lnSpc>
                <a:spcPts val="2165"/>
              </a:lnSpc>
            </a:pPr>
            <a:r>
              <a:rPr lang="en-US" sz="1546">
                <a:solidFill>
                  <a:srgbClr val="FFFFFF"/>
                </a:solidFill>
                <a:latin typeface="Anantason Condensed"/>
                <a:ea typeface="Anantason Condensed"/>
                <a:cs typeface="Anantason Condensed"/>
                <a:sym typeface="Anantason Condensed"/>
              </a:rPr>
              <a:t>Connections stay open in a tunnel to the anchor relay.</a:t>
            </a:r>
          </a:p>
        </p:txBody>
      </p:sp>
      <p:sp>
        <p:nvSpPr>
          <p:cNvPr name="Freeform 17" id="17"/>
          <p:cNvSpPr/>
          <p:nvPr/>
        </p:nvSpPr>
        <p:spPr>
          <a:xfrm flipH="false" flipV="false" rot="0">
            <a:off x="5873598" y="4066699"/>
            <a:ext cx="448450" cy="1300906"/>
          </a:xfrm>
          <a:custGeom>
            <a:avLst/>
            <a:gdLst/>
            <a:ahLst/>
            <a:cxnLst/>
            <a:rect r="r" b="b" t="t" l="l"/>
            <a:pathLst>
              <a:path h="1300906" w="448450">
                <a:moveTo>
                  <a:pt x="0" y="0"/>
                </a:moveTo>
                <a:lnTo>
                  <a:pt x="448450" y="0"/>
                </a:lnTo>
                <a:lnTo>
                  <a:pt x="448450" y="1300907"/>
                </a:lnTo>
                <a:lnTo>
                  <a:pt x="0" y="1300907"/>
                </a:lnTo>
                <a:lnTo>
                  <a:pt x="0" y="0"/>
                </a:lnTo>
                <a:close/>
              </a:path>
            </a:pathLst>
          </a:custGeom>
          <a:blipFill>
            <a:blip r:embed="rId9"/>
            <a:stretch>
              <a:fillRect l="0" t="0" r="0" b="0"/>
            </a:stretch>
          </a:blipFill>
        </p:spPr>
        <p:txBody>
          <a:bodyPr/>
          <a:p/>
        </p:txBody>
      </p:sp>
      <p:sp>
        <p:nvSpPr>
          <p:cNvPr name="TextBox 18" id="18"/>
          <p:cNvSpPr txBox="true"/>
          <p:nvPr/>
        </p:nvSpPr>
        <p:spPr>
          <a:xfrm rot="0">
            <a:off x="2304424" y="5852967"/>
            <a:ext cx="2810929" cy="1493758"/>
          </a:xfrm>
          <a:prstGeom prst="rect">
            <a:avLst/>
          </a:prstGeom>
        </p:spPr>
        <p:txBody>
          <a:bodyPr anchor="t" rtlCol="false" tIns="0" lIns="0" bIns="0" rIns="0">
            <a:spAutoFit/>
          </a:bodyPr>
          <a:lstStyle/>
          <a:p>
            <a:pPr algn="r">
              <a:lnSpc>
                <a:spcPts val="2425"/>
              </a:lnSpc>
            </a:pPr>
            <a:r>
              <a:rPr lang="en-US" sz="1617">
                <a:solidFill>
                  <a:srgbClr val="FFFFFF"/>
                </a:solidFill>
                <a:latin typeface="Anantason Condensed"/>
                <a:ea typeface="Anantason Condensed"/>
                <a:cs typeface="Anantason Condensed"/>
                <a:sym typeface="Anantason Condensed"/>
              </a:rPr>
              <a:t>A reversed trend cancels the prediction at no cost.</a:t>
            </a:r>
          </a:p>
          <a:p>
            <a:pPr algn="r">
              <a:lnSpc>
                <a:spcPts val="2425"/>
              </a:lnSpc>
            </a:pPr>
            <a:r>
              <a:rPr lang="en-US" sz="1617">
                <a:solidFill>
                  <a:srgbClr val="FFFFFF"/>
                </a:solidFill>
                <a:latin typeface="Anantason Condensed"/>
                <a:ea typeface="Anantason Condensed"/>
                <a:cs typeface="Anantason Condensed"/>
                <a:sym typeface="Anantason Condensed"/>
              </a:rPr>
              <a:t>If an outage comes with no warning, use a fast failover (160 ms in our model).</a:t>
            </a:r>
          </a:p>
        </p:txBody>
      </p:sp>
      <p:sp>
        <p:nvSpPr>
          <p:cNvPr name="Freeform 19" id="19"/>
          <p:cNvSpPr/>
          <p:nvPr/>
        </p:nvSpPr>
        <p:spPr>
          <a:xfrm flipH="false" flipV="false" rot="0">
            <a:off x="8050220" y="1279043"/>
            <a:ext cx="1531292" cy="1508614"/>
          </a:xfrm>
          <a:custGeom>
            <a:avLst/>
            <a:gdLst/>
            <a:ahLst/>
            <a:cxnLst/>
            <a:rect r="r" b="b" t="t" l="l"/>
            <a:pathLst>
              <a:path h="1508614" w="1531292">
                <a:moveTo>
                  <a:pt x="0" y="0"/>
                </a:moveTo>
                <a:lnTo>
                  <a:pt x="1531292" y="0"/>
                </a:lnTo>
                <a:lnTo>
                  <a:pt x="1531292" y="1508614"/>
                </a:lnTo>
                <a:lnTo>
                  <a:pt x="0" y="1508614"/>
                </a:lnTo>
                <a:lnTo>
                  <a:pt x="0" y="0"/>
                </a:lnTo>
                <a:close/>
              </a:path>
            </a:pathLst>
          </a:custGeom>
          <a:blipFill>
            <a:blip r:embed="rId10"/>
            <a:stretch>
              <a:fillRect l="0" t="0" r="0" b="0"/>
            </a:stretch>
          </a:blipFill>
        </p:spPr>
        <p:txBody>
          <a:bodyPr/>
          <a:p/>
        </p:txBody>
      </p:sp>
      <p:sp>
        <p:nvSpPr>
          <p:cNvPr name="TextBox 20" id="20"/>
          <p:cNvSpPr txBox="true"/>
          <p:nvPr/>
        </p:nvSpPr>
        <p:spPr>
          <a:xfrm rot="0">
            <a:off x="8486978" y="1737372"/>
            <a:ext cx="766297" cy="732785"/>
          </a:xfrm>
          <a:prstGeom prst="rect">
            <a:avLst/>
          </a:prstGeom>
        </p:spPr>
        <p:txBody>
          <a:bodyPr anchor="t" rtlCol="false" tIns="0" lIns="0" bIns="0" rIns="0">
            <a:spAutoFit/>
          </a:bodyPr>
          <a:lstStyle/>
          <a:p>
            <a:pPr algn="ctr">
              <a:lnSpc>
                <a:spcPts val="5731"/>
              </a:lnSpc>
            </a:pPr>
            <a:r>
              <a:rPr lang="en-US" b="true" sz="5211" spc="-50">
                <a:solidFill>
                  <a:srgbClr val="13D5EA"/>
                </a:solidFill>
                <a:latin typeface="Anantason Condensed Bold"/>
                <a:ea typeface="Anantason Condensed Bold"/>
                <a:cs typeface="Anantason Condensed Bold"/>
                <a:sym typeface="Anantason Condensed Bold"/>
              </a:rPr>
              <a:t>01</a:t>
            </a:r>
          </a:p>
        </p:txBody>
      </p:sp>
      <p:sp>
        <p:nvSpPr>
          <p:cNvPr name="Freeform 21" id="21"/>
          <p:cNvSpPr/>
          <p:nvPr/>
        </p:nvSpPr>
        <p:spPr>
          <a:xfrm flipH="false" flipV="false" rot="0">
            <a:off x="10445598" y="2776725"/>
            <a:ext cx="1531292" cy="1519546"/>
          </a:xfrm>
          <a:custGeom>
            <a:avLst/>
            <a:gdLst/>
            <a:ahLst/>
            <a:cxnLst/>
            <a:rect r="r" b="b" t="t" l="l"/>
            <a:pathLst>
              <a:path h="1519546" w="1531292">
                <a:moveTo>
                  <a:pt x="0" y="0"/>
                </a:moveTo>
                <a:lnTo>
                  <a:pt x="1531292" y="0"/>
                </a:lnTo>
                <a:lnTo>
                  <a:pt x="1531292" y="1519546"/>
                </a:lnTo>
                <a:lnTo>
                  <a:pt x="0" y="1519546"/>
                </a:lnTo>
                <a:lnTo>
                  <a:pt x="0" y="0"/>
                </a:lnTo>
                <a:close/>
              </a:path>
            </a:pathLst>
          </a:custGeom>
          <a:blipFill>
            <a:blip r:embed="rId11"/>
            <a:stretch>
              <a:fillRect l="0" t="0" r="0" b="0"/>
            </a:stretch>
          </a:blipFill>
        </p:spPr>
        <p:txBody>
          <a:bodyPr/>
          <a:p/>
        </p:txBody>
      </p:sp>
      <p:sp>
        <p:nvSpPr>
          <p:cNvPr name="TextBox 22" id="22"/>
          <p:cNvSpPr txBox="true"/>
          <p:nvPr/>
        </p:nvSpPr>
        <p:spPr>
          <a:xfrm rot="0">
            <a:off x="10897994" y="3168152"/>
            <a:ext cx="766297" cy="732785"/>
          </a:xfrm>
          <a:prstGeom prst="rect">
            <a:avLst/>
          </a:prstGeom>
        </p:spPr>
        <p:txBody>
          <a:bodyPr anchor="t" rtlCol="false" tIns="0" lIns="0" bIns="0" rIns="0">
            <a:spAutoFit/>
          </a:bodyPr>
          <a:lstStyle/>
          <a:p>
            <a:pPr algn="ctr">
              <a:lnSpc>
                <a:spcPts val="5731"/>
              </a:lnSpc>
            </a:pPr>
            <a:r>
              <a:rPr lang="en-US" b="true" sz="5211" spc="-50">
                <a:solidFill>
                  <a:srgbClr val="13D5EA"/>
                </a:solidFill>
                <a:latin typeface="Anantason Condensed Bold"/>
                <a:ea typeface="Anantason Condensed Bold"/>
                <a:cs typeface="Anantason Condensed Bold"/>
                <a:sym typeface="Anantason Condensed Bold"/>
              </a:rPr>
              <a:t>02</a:t>
            </a:r>
          </a:p>
        </p:txBody>
      </p:sp>
      <p:sp>
        <p:nvSpPr>
          <p:cNvPr name="Freeform 23" id="23"/>
          <p:cNvSpPr/>
          <p:nvPr/>
        </p:nvSpPr>
        <p:spPr>
          <a:xfrm flipH="false" flipV="false" rot="0">
            <a:off x="5217330" y="5138034"/>
            <a:ext cx="1542230" cy="1300906"/>
          </a:xfrm>
          <a:custGeom>
            <a:avLst/>
            <a:gdLst/>
            <a:ahLst/>
            <a:cxnLst/>
            <a:rect r="r" b="b" t="t" l="l"/>
            <a:pathLst>
              <a:path h="1300906" w="1542230">
                <a:moveTo>
                  <a:pt x="0" y="0"/>
                </a:moveTo>
                <a:lnTo>
                  <a:pt x="1542230" y="0"/>
                </a:lnTo>
                <a:lnTo>
                  <a:pt x="1542230" y="1300906"/>
                </a:lnTo>
                <a:lnTo>
                  <a:pt x="0" y="1300906"/>
                </a:lnTo>
                <a:lnTo>
                  <a:pt x="0" y="0"/>
                </a:lnTo>
                <a:close/>
              </a:path>
            </a:pathLst>
          </a:custGeom>
          <a:blipFill>
            <a:blip r:embed="rId12"/>
            <a:stretch>
              <a:fillRect l="0" t="0" r="0" b="0"/>
            </a:stretch>
          </a:blipFill>
        </p:spPr>
        <p:txBody>
          <a:bodyPr/>
          <a:p/>
        </p:txBody>
      </p:sp>
      <p:sp>
        <p:nvSpPr>
          <p:cNvPr name="TextBox 24" id="24"/>
          <p:cNvSpPr txBox="true"/>
          <p:nvPr/>
        </p:nvSpPr>
        <p:spPr>
          <a:xfrm rot="0">
            <a:off x="5674127" y="5457400"/>
            <a:ext cx="766297" cy="732785"/>
          </a:xfrm>
          <a:prstGeom prst="rect">
            <a:avLst/>
          </a:prstGeom>
        </p:spPr>
        <p:txBody>
          <a:bodyPr anchor="t" rtlCol="false" tIns="0" lIns="0" bIns="0" rIns="0">
            <a:spAutoFit/>
          </a:bodyPr>
          <a:lstStyle/>
          <a:p>
            <a:pPr algn="ctr">
              <a:lnSpc>
                <a:spcPts val="5731"/>
              </a:lnSpc>
            </a:pPr>
            <a:r>
              <a:rPr lang="en-US" b="true" sz="5211" spc="-50">
                <a:solidFill>
                  <a:srgbClr val="13D5EA"/>
                </a:solidFill>
                <a:latin typeface="Anantason Condensed Bold"/>
                <a:ea typeface="Anantason Condensed Bold"/>
                <a:cs typeface="Anantason Condensed Bold"/>
                <a:sym typeface="Anantason Condensed Bold"/>
              </a:rPr>
              <a:t>05</a:t>
            </a:r>
          </a:p>
        </p:txBody>
      </p:sp>
      <p:sp>
        <p:nvSpPr>
          <p:cNvPr name="Freeform 25" id="25"/>
          <p:cNvSpPr/>
          <p:nvPr/>
        </p:nvSpPr>
        <p:spPr>
          <a:xfrm flipH="false" flipV="false" rot="0">
            <a:off x="8050220" y="5990729"/>
            <a:ext cx="1531292" cy="1519546"/>
          </a:xfrm>
          <a:custGeom>
            <a:avLst/>
            <a:gdLst/>
            <a:ahLst/>
            <a:cxnLst/>
            <a:rect r="r" b="b" t="t" l="l"/>
            <a:pathLst>
              <a:path h="1519546" w="1531292">
                <a:moveTo>
                  <a:pt x="0" y="0"/>
                </a:moveTo>
                <a:lnTo>
                  <a:pt x="1531292" y="0"/>
                </a:lnTo>
                <a:lnTo>
                  <a:pt x="1531292" y="1519546"/>
                </a:lnTo>
                <a:lnTo>
                  <a:pt x="0" y="1519546"/>
                </a:lnTo>
                <a:lnTo>
                  <a:pt x="0" y="0"/>
                </a:lnTo>
                <a:close/>
              </a:path>
            </a:pathLst>
          </a:custGeom>
          <a:blipFill>
            <a:blip r:embed="rId13"/>
            <a:stretch>
              <a:fillRect l="0" t="0" r="0" b="0"/>
            </a:stretch>
          </a:blipFill>
        </p:spPr>
        <p:txBody>
          <a:bodyPr/>
          <a:p/>
        </p:txBody>
      </p:sp>
      <p:sp>
        <p:nvSpPr>
          <p:cNvPr name="TextBox 26" id="26"/>
          <p:cNvSpPr txBox="true"/>
          <p:nvPr/>
        </p:nvSpPr>
        <p:spPr>
          <a:xfrm rot="0">
            <a:off x="8406611" y="6466476"/>
            <a:ext cx="766297" cy="732785"/>
          </a:xfrm>
          <a:prstGeom prst="rect">
            <a:avLst/>
          </a:prstGeom>
        </p:spPr>
        <p:txBody>
          <a:bodyPr anchor="t" rtlCol="false" tIns="0" lIns="0" bIns="0" rIns="0">
            <a:spAutoFit/>
          </a:bodyPr>
          <a:lstStyle/>
          <a:p>
            <a:pPr algn="ctr">
              <a:lnSpc>
                <a:spcPts val="5731"/>
              </a:lnSpc>
            </a:pPr>
            <a:r>
              <a:rPr lang="en-US" b="true" sz="5211" spc="-50">
                <a:solidFill>
                  <a:srgbClr val="13D5EA"/>
                </a:solidFill>
                <a:latin typeface="Anantason Condensed Bold"/>
                <a:ea typeface="Anantason Condensed Bold"/>
                <a:cs typeface="Anantason Condensed Bold"/>
                <a:sym typeface="Anantason Condensed Bold"/>
              </a:rPr>
              <a:t>04</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505541" y="401866"/>
            <a:ext cx="5702980" cy="1037449"/>
          </a:xfrm>
          <a:prstGeom prst="rect">
            <a:avLst/>
          </a:prstGeom>
        </p:spPr>
        <p:txBody>
          <a:bodyPr anchor="t" rtlCol="false" tIns="0" lIns="0" bIns="0" rIns="0">
            <a:spAutoFit/>
          </a:bodyPr>
          <a:lstStyle/>
          <a:p>
            <a:pPr algn="l">
              <a:lnSpc>
                <a:spcPts val="7822"/>
              </a:lnSpc>
            </a:pPr>
            <a:r>
              <a:rPr lang="en-US" sz="7822" spc="-156" b="true">
                <a:solidFill>
                  <a:srgbClr val="F6F6F6"/>
                </a:solidFill>
                <a:latin typeface="Anantason Condensed Bold"/>
                <a:ea typeface="Anantason Condensed Bold"/>
                <a:cs typeface="Anantason Condensed Bold"/>
                <a:sym typeface="Anantason Condensed Bold"/>
              </a:rPr>
              <a:t>System design</a:t>
            </a:r>
          </a:p>
        </p:txBody>
      </p:sp>
      <p:sp>
        <p:nvSpPr>
          <p:cNvPr name="TextBox 4" id="4"/>
          <p:cNvSpPr txBox="true"/>
          <p:nvPr/>
        </p:nvSpPr>
        <p:spPr>
          <a:xfrm rot="0">
            <a:off x="520978" y="1587233"/>
            <a:ext cx="6838178" cy="361584"/>
          </a:xfrm>
          <a:prstGeom prst="rect">
            <a:avLst/>
          </a:prstGeom>
        </p:spPr>
        <p:txBody>
          <a:bodyPr anchor="t" rtlCol="false" tIns="0" lIns="0" bIns="0" rIns="0">
            <a:spAutoFit/>
          </a:bodyPr>
          <a:lstStyle/>
          <a:p>
            <a:pPr algn="l">
              <a:lnSpc>
                <a:spcPts val="2759"/>
              </a:lnSpc>
            </a:pPr>
            <a:r>
              <a:rPr lang="en-US" sz="2759" spc="-55">
                <a:solidFill>
                  <a:srgbClr val="F6F6F6">
                    <a:alpha val="84706"/>
                  </a:srgbClr>
                </a:solidFill>
                <a:latin typeface="Anantason Condensed"/>
                <a:ea typeface="Anantason Condensed"/>
                <a:cs typeface="Anantason Condensed"/>
                <a:sym typeface="Anantason Condensed"/>
              </a:rPr>
              <a:t>One engine. Multiple radios. Continuous sessions.</a:t>
            </a:r>
          </a:p>
        </p:txBody>
      </p:sp>
      <p:sp>
        <p:nvSpPr>
          <p:cNvPr name="Freeform 5" id="5"/>
          <p:cNvSpPr/>
          <p:nvPr/>
        </p:nvSpPr>
        <p:spPr>
          <a:xfrm flipH="false" flipV="false" rot="0">
            <a:off x="426574" y="2142670"/>
            <a:ext cx="2843828" cy="5148966"/>
          </a:xfrm>
          <a:custGeom>
            <a:avLst/>
            <a:gdLst/>
            <a:ahLst/>
            <a:cxnLst/>
            <a:rect r="r" b="b" t="t" l="l"/>
            <a:pathLst>
              <a:path h="5148966" w="2843828">
                <a:moveTo>
                  <a:pt x="0" y="0"/>
                </a:moveTo>
                <a:lnTo>
                  <a:pt x="2843828" y="0"/>
                </a:lnTo>
                <a:lnTo>
                  <a:pt x="2843828" y="5148965"/>
                </a:lnTo>
                <a:lnTo>
                  <a:pt x="0" y="5148965"/>
                </a:lnTo>
                <a:lnTo>
                  <a:pt x="0" y="0"/>
                </a:lnTo>
                <a:close/>
              </a:path>
            </a:pathLst>
          </a:custGeom>
          <a:blipFill>
            <a:blip r:embed="rId3"/>
            <a:stretch>
              <a:fillRect l="0" t="0" r="0" b="0"/>
            </a:stretch>
          </a:blipFill>
        </p:spPr>
        <p:txBody>
          <a:bodyPr/>
          <a:p/>
        </p:txBody>
      </p:sp>
      <p:sp>
        <p:nvSpPr>
          <p:cNvPr name="TextBox 6" id="6"/>
          <p:cNvSpPr txBox="true"/>
          <p:nvPr/>
        </p:nvSpPr>
        <p:spPr>
          <a:xfrm rot="0">
            <a:off x="988918" y="2362951"/>
            <a:ext cx="1676192" cy="331477"/>
          </a:xfrm>
          <a:prstGeom prst="rect">
            <a:avLst/>
          </a:prstGeom>
        </p:spPr>
        <p:txBody>
          <a:bodyPr anchor="t" rtlCol="false" tIns="0" lIns="0" bIns="0" rIns="0">
            <a:spAutoFit/>
          </a:bodyPr>
          <a:lstStyle/>
          <a:p>
            <a:pPr algn="ctr">
              <a:lnSpc>
                <a:spcPts val="2741"/>
              </a:lnSpc>
            </a:pPr>
            <a:r>
              <a:rPr lang="en-US" b="true" sz="2109" spc="-42">
                <a:solidFill>
                  <a:srgbClr val="13A4C8"/>
                </a:solidFill>
                <a:latin typeface="Anantason Condensed Bold"/>
                <a:ea typeface="Anantason Condensed Bold"/>
                <a:cs typeface="Anantason Condensed Bold"/>
                <a:sym typeface="Anantason Condensed Bold"/>
              </a:rPr>
              <a:t>APPLICATIONS</a:t>
            </a:r>
          </a:p>
        </p:txBody>
      </p:sp>
      <p:sp>
        <p:nvSpPr>
          <p:cNvPr name="Freeform 7" id="7"/>
          <p:cNvSpPr/>
          <p:nvPr/>
        </p:nvSpPr>
        <p:spPr>
          <a:xfrm flipH="false" flipV="false" rot="0">
            <a:off x="645330" y="2776725"/>
            <a:ext cx="2406316" cy="1519546"/>
          </a:xfrm>
          <a:custGeom>
            <a:avLst/>
            <a:gdLst/>
            <a:ahLst/>
            <a:cxnLst/>
            <a:rect r="r" b="b" t="t" l="l"/>
            <a:pathLst>
              <a:path h="1519546" w="2406316">
                <a:moveTo>
                  <a:pt x="0" y="0"/>
                </a:moveTo>
                <a:lnTo>
                  <a:pt x="2406316" y="0"/>
                </a:lnTo>
                <a:lnTo>
                  <a:pt x="2406316" y="1519546"/>
                </a:lnTo>
                <a:lnTo>
                  <a:pt x="0" y="1519546"/>
                </a:lnTo>
                <a:lnTo>
                  <a:pt x="0" y="0"/>
                </a:lnTo>
                <a:close/>
              </a:path>
            </a:pathLst>
          </a:custGeom>
          <a:blipFill>
            <a:blip r:embed="rId4"/>
            <a:stretch>
              <a:fillRect l="0" t="0" r="0" b="0"/>
            </a:stretch>
          </a:blipFill>
        </p:spPr>
        <p:txBody>
          <a:bodyPr/>
          <a:p/>
        </p:txBody>
      </p:sp>
      <p:sp>
        <p:nvSpPr>
          <p:cNvPr name="TextBox 8" id="8"/>
          <p:cNvSpPr txBox="true"/>
          <p:nvPr/>
        </p:nvSpPr>
        <p:spPr>
          <a:xfrm rot="0">
            <a:off x="1433766" y="3146115"/>
            <a:ext cx="874900" cy="670624"/>
          </a:xfrm>
          <a:prstGeom prst="rect">
            <a:avLst/>
          </a:prstGeom>
        </p:spPr>
        <p:txBody>
          <a:bodyPr anchor="t" rtlCol="false" tIns="0" lIns="0" bIns="0" rIns="0">
            <a:spAutoFit/>
          </a:bodyPr>
          <a:lstStyle/>
          <a:p>
            <a:pPr algn="ctr">
              <a:lnSpc>
                <a:spcPts val="2741"/>
              </a:lnSpc>
            </a:pPr>
            <a:r>
              <a:rPr lang="en-US" sz="2109" spc="-42">
                <a:solidFill>
                  <a:srgbClr val="F6F6F6">
                    <a:alpha val="84706"/>
                  </a:srgbClr>
                </a:solidFill>
                <a:latin typeface="Anantason Condensed"/>
                <a:ea typeface="Anantason Condensed"/>
                <a:cs typeface="Anantason Condensed"/>
                <a:sym typeface="Anantason Condensed"/>
              </a:rPr>
              <a:t>C2 link</a:t>
            </a:r>
          </a:p>
          <a:p>
            <a:pPr algn="ctr">
              <a:lnSpc>
                <a:spcPts val="2741"/>
              </a:lnSpc>
            </a:pPr>
            <a:r>
              <a:rPr lang="en-US" sz="2109" spc="-42">
                <a:solidFill>
                  <a:srgbClr val="F6F6F6">
                    <a:alpha val="84706"/>
                  </a:srgbClr>
                </a:solidFill>
                <a:latin typeface="Anantason Condensed"/>
                <a:ea typeface="Anantason Condensed"/>
                <a:cs typeface="Anantason Condensed"/>
                <a:sym typeface="Anantason Condensed"/>
              </a:rPr>
              <a:t>(critical)</a:t>
            </a:r>
          </a:p>
        </p:txBody>
      </p:sp>
      <p:sp>
        <p:nvSpPr>
          <p:cNvPr name="Freeform 9" id="9"/>
          <p:cNvSpPr/>
          <p:nvPr/>
        </p:nvSpPr>
        <p:spPr>
          <a:xfrm flipH="false" flipV="false" rot="0">
            <a:off x="645330" y="4066699"/>
            <a:ext cx="2406316" cy="1727254"/>
          </a:xfrm>
          <a:custGeom>
            <a:avLst/>
            <a:gdLst/>
            <a:ahLst/>
            <a:cxnLst/>
            <a:rect r="r" b="b" t="t" l="l"/>
            <a:pathLst>
              <a:path h="1727254" w="2406316">
                <a:moveTo>
                  <a:pt x="0" y="0"/>
                </a:moveTo>
                <a:lnTo>
                  <a:pt x="2406316" y="0"/>
                </a:lnTo>
                <a:lnTo>
                  <a:pt x="2406316" y="1727254"/>
                </a:lnTo>
                <a:lnTo>
                  <a:pt x="0" y="1727254"/>
                </a:lnTo>
                <a:lnTo>
                  <a:pt x="0" y="0"/>
                </a:lnTo>
                <a:close/>
              </a:path>
            </a:pathLst>
          </a:custGeom>
          <a:blipFill>
            <a:blip r:embed="rId5"/>
            <a:stretch>
              <a:fillRect l="0" t="0" r="0" b="0"/>
            </a:stretch>
          </a:blipFill>
        </p:spPr>
        <p:txBody>
          <a:bodyPr/>
          <a:p/>
        </p:txBody>
      </p:sp>
      <p:sp>
        <p:nvSpPr>
          <p:cNvPr name="TextBox 10" id="10"/>
          <p:cNvSpPr txBox="true"/>
          <p:nvPr/>
        </p:nvSpPr>
        <p:spPr>
          <a:xfrm rot="0">
            <a:off x="899284" y="4591956"/>
            <a:ext cx="1855460" cy="670624"/>
          </a:xfrm>
          <a:prstGeom prst="rect">
            <a:avLst/>
          </a:prstGeom>
        </p:spPr>
        <p:txBody>
          <a:bodyPr anchor="t" rtlCol="false" tIns="0" lIns="0" bIns="0" rIns="0">
            <a:spAutoFit/>
          </a:bodyPr>
          <a:lstStyle/>
          <a:p>
            <a:pPr algn="ctr">
              <a:lnSpc>
                <a:spcPts val="2741"/>
              </a:lnSpc>
            </a:pPr>
            <a:r>
              <a:rPr lang="en-US" sz="2109" spc="-42">
                <a:solidFill>
                  <a:srgbClr val="F6F6F6">
                    <a:alpha val="84706"/>
                  </a:srgbClr>
                </a:solidFill>
                <a:latin typeface="Anantason Condensed"/>
                <a:ea typeface="Anantason Condensed"/>
                <a:cs typeface="Anantason Condensed"/>
                <a:sym typeface="Anantason Condensed"/>
              </a:rPr>
              <a:t>push-to-talk voice</a:t>
            </a:r>
          </a:p>
          <a:p>
            <a:pPr algn="ctr">
              <a:lnSpc>
                <a:spcPts val="2741"/>
              </a:lnSpc>
            </a:pPr>
            <a:r>
              <a:rPr lang="en-US" sz="2109" spc="-42">
                <a:solidFill>
                  <a:srgbClr val="F6F6F6">
                    <a:alpha val="84706"/>
                  </a:srgbClr>
                </a:solidFill>
                <a:latin typeface="Anantason Condensed"/>
                <a:ea typeface="Anantason Condensed"/>
                <a:cs typeface="Anantason Condensed"/>
                <a:sym typeface="Anantason Condensed"/>
              </a:rPr>
              <a:t>(real-time)</a:t>
            </a:r>
          </a:p>
        </p:txBody>
      </p:sp>
      <p:sp>
        <p:nvSpPr>
          <p:cNvPr name="Freeform 11" id="11"/>
          <p:cNvSpPr/>
          <p:nvPr/>
        </p:nvSpPr>
        <p:spPr>
          <a:xfrm flipH="false" flipV="false" rot="0">
            <a:off x="645330" y="5564382"/>
            <a:ext cx="2406316" cy="1508614"/>
          </a:xfrm>
          <a:custGeom>
            <a:avLst/>
            <a:gdLst/>
            <a:ahLst/>
            <a:cxnLst/>
            <a:rect r="r" b="b" t="t" l="l"/>
            <a:pathLst>
              <a:path h="1508614" w="2406316">
                <a:moveTo>
                  <a:pt x="0" y="0"/>
                </a:moveTo>
                <a:lnTo>
                  <a:pt x="2406316" y="0"/>
                </a:lnTo>
                <a:lnTo>
                  <a:pt x="2406316" y="1508614"/>
                </a:lnTo>
                <a:lnTo>
                  <a:pt x="0" y="1508614"/>
                </a:lnTo>
                <a:lnTo>
                  <a:pt x="0" y="0"/>
                </a:lnTo>
                <a:close/>
              </a:path>
            </a:pathLst>
          </a:custGeom>
          <a:blipFill>
            <a:blip r:embed="rId6"/>
            <a:stretch>
              <a:fillRect l="0" t="0" r="0" b="0"/>
            </a:stretch>
          </a:blipFill>
        </p:spPr>
        <p:txBody>
          <a:bodyPr/>
          <a:p/>
        </p:txBody>
      </p:sp>
      <p:sp>
        <p:nvSpPr>
          <p:cNvPr name="TextBox 12" id="12"/>
          <p:cNvSpPr txBox="true"/>
          <p:nvPr/>
        </p:nvSpPr>
        <p:spPr>
          <a:xfrm rot="0">
            <a:off x="835234" y="6022735"/>
            <a:ext cx="1983560" cy="670624"/>
          </a:xfrm>
          <a:prstGeom prst="rect">
            <a:avLst/>
          </a:prstGeom>
        </p:spPr>
        <p:txBody>
          <a:bodyPr anchor="t" rtlCol="false" tIns="0" lIns="0" bIns="0" rIns="0">
            <a:spAutoFit/>
          </a:bodyPr>
          <a:lstStyle/>
          <a:p>
            <a:pPr algn="ctr">
              <a:lnSpc>
                <a:spcPts val="2741"/>
              </a:lnSpc>
            </a:pPr>
            <a:r>
              <a:rPr lang="en-US" sz="2109" spc="-42">
                <a:solidFill>
                  <a:srgbClr val="F6F6F6">
                    <a:alpha val="84706"/>
                  </a:srgbClr>
                </a:solidFill>
                <a:latin typeface="Anantason Condensed"/>
                <a:ea typeface="Anantason Condensed"/>
                <a:cs typeface="Anantason Condensed"/>
                <a:sym typeface="Anantason Condensed"/>
              </a:rPr>
              <a:t>camera and survey</a:t>
            </a:r>
          </a:p>
          <a:p>
            <a:pPr algn="ctr">
              <a:lnSpc>
                <a:spcPts val="2741"/>
              </a:lnSpc>
            </a:pPr>
            <a:r>
              <a:rPr lang="en-US" b="true" sz="2109" spc="-42">
                <a:solidFill>
                  <a:srgbClr val="F6F6F6">
                    <a:alpha val="84706"/>
                  </a:srgbClr>
                </a:solidFill>
                <a:latin typeface="Anantason Condensed Bold"/>
                <a:ea typeface="Anantason Condensed Bold"/>
                <a:cs typeface="Anantason Condensed Bold"/>
                <a:sym typeface="Anantason Condensed Bold"/>
              </a:rPr>
              <a:t>uploads (bulk)</a:t>
            </a:r>
          </a:p>
        </p:txBody>
      </p:sp>
      <p:sp>
        <p:nvSpPr>
          <p:cNvPr name="Freeform 13" id="13"/>
          <p:cNvSpPr/>
          <p:nvPr/>
        </p:nvSpPr>
        <p:spPr>
          <a:xfrm flipH="false" flipV="false" rot="0">
            <a:off x="3040708" y="3421712"/>
            <a:ext cx="885962" cy="437279"/>
          </a:xfrm>
          <a:custGeom>
            <a:avLst/>
            <a:gdLst/>
            <a:ahLst/>
            <a:cxnLst/>
            <a:rect r="r" b="b" t="t" l="l"/>
            <a:pathLst>
              <a:path h="437279" w="885962">
                <a:moveTo>
                  <a:pt x="0" y="0"/>
                </a:moveTo>
                <a:lnTo>
                  <a:pt x="885962" y="0"/>
                </a:lnTo>
                <a:lnTo>
                  <a:pt x="885962" y="437279"/>
                </a:lnTo>
                <a:lnTo>
                  <a:pt x="0" y="437279"/>
                </a:lnTo>
                <a:lnTo>
                  <a:pt x="0" y="0"/>
                </a:lnTo>
                <a:close/>
              </a:path>
            </a:pathLst>
          </a:custGeom>
          <a:blipFill>
            <a:blip r:embed="rId7"/>
            <a:stretch>
              <a:fillRect l="0" t="0" r="0" b="0"/>
            </a:stretch>
          </a:blipFill>
        </p:spPr>
        <p:txBody>
          <a:bodyPr/>
          <a:p/>
        </p:txBody>
      </p:sp>
      <p:sp>
        <p:nvSpPr>
          <p:cNvPr name="Freeform 14" id="14"/>
          <p:cNvSpPr/>
          <p:nvPr/>
        </p:nvSpPr>
        <p:spPr>
          <a:xfrm flipH="false" flipV="false" rot="0">
            <a:off x="3040708" y="4711687"/>
            <a:ext cx="885962" cy="437279"/>
          </a:xfrm>
          <a:custGeom>
            <a:avLst/>
            <a:gdLst/>
            <a:ahLst/>
            <a:cxnLst/>
            <a:rect r="r" b="b" t="t" l="l"/>
            <a:pathLst>
              <a:path h="437279" w="885962">
                <a:moveTo>
                  <a:pt x="0" y="0"/>
                </a:moveTo>
                <a:lnTo>
                  <a:pt x="885962" y="0"/>
                </a:lnTo>
                <a:lnTo>
                  <a:pt x="885962" y="437279"/>
                </a:lnTo>
                <a:lnTo>
                  <a:pt x="0" y="437279"/>
                </a:lnTo>
                <a:lnTo>
                  <a:pt x="0" y="0"/>
                </a:lnTo>
                <a:close/>
              </a:path>
            </a:pathLst>
          </a:custGeom>
          <a:blipFill>
            <a:blip r:embed="rId8"/>
            <a:stretch>
              <a:fillRect l="0" t="0" r="0" b="0"/>
            </a:stretch>
          </a:blipFill>
        </p:spPr>
        <p:txBody>
          <a:bodyPr/>
          <a:p/>
        </p:txBody>
      </p:sp>
      <p:sp>
        <p:nvSpPr>
          <p:cNvPr name="Freeform 15" id="15"/>
          <p:cNvSpPr/>
          <p:nvPr/>
        </p:nvSpPr>
        <p:spPr>
          <a:xfrm flipH="false" flipV="false" rot="0">
            <a:off x="3040708" y="5783021"/>
            <a:ext cx="885962" cy="437279"/>
          </a:xfrm>
          <a:custGeom>
            <a:avLst/>
            <a:gdLst/>
            <a:ahLst/>
            <a:cxnLst/>
            <a:rect r="r" b="b" t="t" l="l"/>
            <a:pathLst>
              <a:path h="437279" w="885962">
                <a:moveTo>
                  <a:pt x="0" y="0"/>
                </a:moveTo>
                <a:lnTo>
                  <a:pt x="885962" y="0"/>
                </a:lnTo>
                <a:lnTo>
                  <a:pt x="885962" y="437280"/>
                </a:lnTo>
                <a:lnTo>
                  <a:pt x="0" y="437280"/>
                </a:lnTo>
                <a:lnTo>
                  <a:pt x="0" y="0"/>
                </a:lnTo>
                <a:close/>
              </a:path>
            </a:pathLst>
          </a:custGeom>
          <a:blipFill>
            <a:blip r:embed="rId9"/>
            <a:stretch>
              <a:fillRect l="0" t="0" r="0" b="0"/>
            </a:stretch>
          </a:blipFill>
        </p:spPr>
        <p:txBody>
          <a:bodyPr/>
          <a:p/>
        </p:txBody>
      </p:sp>
      <p:sp>
        <p:nvSpPr>
          <p:cNvPr name="Freeform 16" id="16"/>
          <p:cNvSpPr/>
          <p:nvPr/>
        </p:nvSpPr>
        <p:spPr>
          <a:xfrm flipH="false" flipV="false" rot="0">
            <a:off x="3696976" y="2142670"/>
            <a:ext cx="6540804" cy="4722618"/>
          </a:xfrm>
          <a:custGeom>
            <a:avLst/>
            <a:gdLst/>
            <a:ahLst/>
            <a:cxnLst/>
            <a:rect r="r" b="b" t="t" l="l"/>
            <a:pathLst>
              <a:path h="4722618" w="6540804">
                <a:moveTo>
                  <a:pt x="0" y="0"/>
                </a:moveTo>
                <a:lnTo>
                  <a:pt x="6540804" y="0"/>
                </a:lnTo>
                <a:lnTo>
                  <a:pt x="6540804" y="4722618"/>
                </a:lnTo>
                <a:lnTo>
                  <a:pt x="0" y="4722618"/>
                </a:lnTo>
                <a:lnTo>
                  <a:pt x="0" y="0"/>
                </a:lnTo>
                <a:close/>
              </a:path>
            </a:pathLst>
          </a:custGeom>
          <a:blipFill>
            <a:blip r:embed="rId10"/>
            <a:stretch>
              <a:fillRect l="0" t="0" r="0" b="0"/>
            </a:stretch>
          </a:blipFill>
        </p:spPr>
        <p:txBody>
          <a:bodyPr/>
          <a:p/>
        </p:txBody>
      </p:sp>
      <p:sp>
        <p:nvSpPr>
          <p:cNvPr name="Freeform 17" id="17"/>
          <p:cNvSpPr/>
          <p:nvPr/>
        </p:nvSpPr>
        <p:spPr>
          <a:xfrm flipH="false" flipV="false" rot="0">
            <a:off x="3696976" y="2142670"/>
            <a:ext cx="6540804" cy="863627"/>
          </a:xfrm>
          <a:custGeom>
            <a:avLst/>
            <a:gdLst/>
            <a:ahLst/>
            <a:cxnLst/>
            <a:rect r="r" b="b" t="t" l="l"/>
            <a:pathLst>
              <a:path h="863627" w="6540804">
                <a:moveTo>
                  <a:pt x="0" y="0"/>
                </a:moveTo>
                <a:lnTo>
                  <a:pt x="6540804" y="0"/>
                </a:lnTo>
                <a:lnTo>
                  <a:pt x="6540804" y="863626"/>
                </a:lnTo>
                <a:lnTo>
                  <a:pt x="0" y="863626"/>
                </a:lnTo>
                <a:lnTo>
                  <a:pt x="0" y="0"/>
                </a:lnTo>
                <a:close/>
              </a:path>
            </a:pathLst>
          </a:custGeom>
          <a:blipFill>
            <a:blip r:embed="rId11"/>
            <a:stretch>
              <a:fillRect l="0" t="0" r="0" b="0"/>
            </a:stretch>
          </a:blipFill>
        </p:spPr>
        <p:txBody>
          <a:bodyPr/>
          <a:p/>
        </p:txBody>
      </p:sp>
      <p:sp>
        <p:nvSpPr>
          <p:cNvPr name="TextBox 18" id="18"/>
          <p:cNvSpPr txBox="true"/>
          <p:nvPr/>
        </p:nvSpPr>
        <p:spPr>
          <a:xfrm rot="0">
            <a:off x="5249131" y="2362951"/>
            <a:ext cx="3508668" cy="331477"/>
          </a:xfrm>
          <a:prstGeom prst="rect">
            <a:avLst/>
          </a:prstGeom>
        </p:spPr>
        <p:txBody>
          <a:bodyPr anchor="t" rtlCol="false" tIns="0" lIns="0" bIns="0" rIns="0">
            <a:spAutoFit/>
          </a:bodyPr>
          <a:lstStyle/>
          <a:p>
            <a:pPr algn="ctr">
              <a:lnSpc>
                <a:spcPts val="2741"/>
              </a:lnSpc>
            </a:pPr>
            <a:r>
              <a:rPr lang="en-US" b="true" sz="2109" spc="-42">
                <a:solidFill>
                  <a:srgbClr val="F6F6F6">
                    <a:alpha val="84706"/>
                  </a:srgbClr>
                </a:solidFill>
                <a:latin typeface="Anantason Condensed Bold"/>
                <a:ea typeface="Anantason Condensed Bold"/>
                <a:cs typeface="Anantason Condensed Bold"/>
                <a:sym typeface="Anantason Condensed Bold"/>
              </a:rPr>
              <a:t>FLEXIPATH ENGINE ON VEHICLE</a:t>
            </a:r>
          </a:p>
        </p:txBody>
      </p:sp>
      <p:sp>
        <p:nvSpPr>
          <p:cNvPr name="Freeform 19" id="19"/>
          <p:cNvSpPr/>
          <p:nvPr/>
        </p:nvSpPr>
        <p:spPr>
          <a:xfrm flipH="false" flipV="false" rot="0">
            <a:off x="3915732" y="2776725"/>
            <a:ext cx="2187560" cy="1945894"/>
          </a:xfrm>
          <a:custGeom>
            <a:avLst/>
            <a:gdLst/>
            <a:ahLst/>
            <a:cxnLst/>
            <a:rect r="r" b="b" t="t" l="l"/>
            <a:pathLst>
              <a:path h="1945894" w="2187560">
                <a:moveTo>
                  <a:pt x="0" y="0"/>
                </a:moveTo>
                <a:lnTo>
                  <a:pt x="2187560" y="0"/>
                </a:lnTo>
                <a:lnTo>
                  <a:pt x="2187560" y="1945893"/>
                </a:lnTo>
                <a:lnTo>
                  <a:pt x="0" y="1945893"/>
                </a:lnTo>
                <a:lnTo>
                  <a:pt x="0" y="0"/>
                </a:lnTo>
                <a:close/>
              </a:path>
            </a:pathLst>
          </a:custGeom>
          <a:blipFill>
            <a:blip r:embed="rId12"/>
            <a:stretch>
              <a:fillRect l="0" t="0" r="0" b="0"/>
            </a:stretch>
          </a:blipFill>
        </p:spPr>
        <p:txBody>
          <a:bodyPr/>
          <a:p/>
        </p:txBody>
      </p:sp>
      <p:sp>
        <p:nvSpPr>
          <p:cNvPr name="TextBox 20" id="20"/>
          <p:cNvSpPr txBox="true"/>
          <p:nvPr/>
        </p:nvSpPr>
        <p:spPr>
          <a:xfrm rot="0">
            <a:off x="4375690" y="3447332"/>
            <a:ext cx="1396318" cy="670624"/>
          </a:xfrm>
          <a:prstGeom prst="rect">
            <a:avLst/>
          </a:prstGeom>
        </p:spPr>
        <p:txBody>
          <a:bodyPr anchor="t" rtlCol="false" tIns="0" lIns="0" bIns="0" rIns="0">
            <a:spAutoFit/>
          </a:bodyPr>
          <a:lstStyle/>
          <a:p>
            <a:pPr algn="ctr">
              <a:lnSpc>
                <a:spcPts val="2741"/>
              </a:lnSpc>
            </a:pPr>
            <a:r>
              <a:rPr lang="en-US" sz="2109" spc="-42">
                <a:solidFill>
                  <a:srgbClr val="F6F6F6">
                    <a:alpha val="84706"/>
                  </a:srgbClr>
                </a:solidFill>
                <a:latin typeface="Anantason Condensed"/>
                <a:ea typeface="Anantason Condensed"/>
                <a:cs typeface="Anantason Condensed"/>
                <a:sym typeface="Anantason Condensed"/>
              </a:rPr>
              <a:t>link monitor</a:t>
            </a:r>
          </a:p>
          <a:p>
            <a:pPr algn="ctr">
              <a:lnSpc>
                <a:spcPts val="2741"/>
              </a:lnSpc>
            </a:pPr>
            <a:r>
              <a:rPr lang="en-US" sz="2109" spc="-42">
                <a:solidFill>
                  <a:srgbClr val="F6F6F6">
                    <a:alpha val="84706"/>
                  </a:srgbClr>
                </a:solidFill>
                <a:latin typeface="Anantason Condensed"/>
                <a:ea typeface="Anantason Condensed"/>
                <a:cs typeface="Anantason Condensed"/>
                <a:sym typeface="Anantason Condensed"/>
              </a:rPr>
              <a:t>and predictor</a:t>
            </a:r>
          </a:p>
        </p:txBody>
      </p:sp>
      <p:sp>
        <p:nvSpPr>
          <p:cNvPr name="Freeform 21" id="21"/>
          <p:cNvSpPr/>
          <p:nvPr/>
        </p:nvSpPr>
        <p:spPr>
          <a:xfrm flipH="false" flipV="false" rot="0">
            <a:off x="6092354" y="2776725"/>
            <a:ext cx="1968804" cy="1945894"/>
          </a:xfrm>
          <a:custGeom>
            <a:avLst/>
            <a:gdLst/>
            <a:ahLst/>
            <a:cxnLst/>
            <a:rect r="r" b="b" t="t" l="l"/>
            <a:pathLst>
              <a:path h="1945894" w="1968804">
                <a:moveTo>
                  <a:pt x="0" y="0"/>
                </a:moveTo>
                <a:lnTo>
                  <a:pt x="1968804" y="0"/>
                </a:lnTo>
                <a:lnTo>
                  <a:pt x="1968804" y="1945893"/>
                </a:lnTo>
                <a:lnTo>
                  <a:pt x="0" y="1945893"/>
                </a:lnTo>
                <a:lnTo>
                  <a:pt x="0" y="0"/>
                </a:lnTo>
                <a:close/>
              </a:path>
            </a:pathLst>
          </a:custGeom>
          <a:blipFill>
            <a:blip r:embed="rId13"/>
            <a:stretch>
              <a:fillRect l="0" t="0" r="0" b="0"/>
            </a:stretch>
          </a:blipFill>
        </p:spPr>
        <p:txBody>
          <a:bodyPr/>
          <a:p/>
        </p:txBody>
      </p:sp>
      <p:sp>
        <p:nvSpPr>
          <p:cNvPr name="TextBox 22" id="22"/>
          <p:cNvSpPr txBox="true"/>
          <p:nvPr/>
        </p:nvSpPr>
        <p:spPr>
          <a:xfrm rot="0">
            <a:off x="6402571" y="3643123"/>
            <a:ext cx="1192680" cy="331477"/>
          </a:xfrm>
          <a:prstGeom prst="rect">
            <a:avLst/>
          </a:prstGeom>
        </p:spPr>
        <p:txBody>
          <a:bodyPr anchor="t" rtlCol="false" tIns="0" lIns="0" bIns="0" rIns="0">
            <a:spAutoFit/>
          </a:bodyPr>
          <a:lstStyle/>
          <a:p>
            <a:pPr algn="ctr">
              <a:lnSpc>
                <a:spcPts val="2741"/>
              </a:lnSpc>
            </a:pPr>
            <a:r>
              <a:rPr lang="en-US" sz="2109" spc="-42">
                <a:solidFill>
                  <a:srgbClr val="F6F6F6">
                    <a:alpha val="84706"/>
                  </a:srgbClr>
                </a:solidFill>
                <a:latin typeface="Anantason Condensed"/>
                <a:ea typeface="Anantason Condensed"/>
                <a:cs typeface="Anantason Condensed"/>
                <a:sym typeface="Anantason Condensed"/>
              </a:rPr>
              <a:t>path scorer</a:t>
            </a:r>
          </a:p>
        </p:txBody>
      </p:sp>
      <p:sp>
        <p:nvSpPr>
          <p:cNvPr name="Freeform 23" id="23"/>
          <p:cNvSpPr/>
          <p:nvPr/>
        </p:nvSpPr>
        <p:spPr>
          <a:xfrm flipH="false" flipV="false" rot="0">
            <a:off x="8050220" y="2776725"/>
            <a:ext cx="1968804" cy="1945894"/>
          </a:xfrm>
          <a:custGeom>
            <a:avLst/>
            <a:gdLst/>
            <a:ahLst/>
            <a:cxnLst/>
            <a:rect r="r" b="b" t="t" l="l"/>
            <a:pathLst>
              <a:path h="1945894" w="1968804">
                <a:moveTo>
                  <a:pt x="0" y="0"/>
                </a:moveTo>
                <a:lnTo>
                  <a:pt x="1968804" y="0"/>
                </a:lnTo>
                <a:lnTo>
                  <a:pt x="1968804" y="1945893"/>
                </a:lnTo>
                <a:lnTo>
                  <a:pt x="0" y="1945893"/>
                </a:lnTo>
                <a:lnTo>
                  <a:pt x="0" y="0"/>
                </a:lnTo>
                <a:close/>
              </a:path>
            </a:pathLst>
          </a:custGeom>
          <a:blipFill>
            <a:blip r:embed="rId14"/>
            <a:stretch>
              <a:fillRect l="0" t="0" r="0" b="0"/>
            </a:stretch>
          </a:blipFill>
        </p:spPr>
        <p:txBody>
          <a:bodyPr/>
          <a:p/>
        </p:txBody>
      </p:sp>
      <p:sp>
        <p:nvSpPr>
          <p:cNvPr name="TextBox 24" id="24"/>
          <p:cNvSpPr txBox="true"/>
          <p:nvPr/>
        </p:nvSpPr>
        <p:spPr>
          <a:xfrm rot="0">
            <a:off x="8096677" y="3342201"/>
            <a:ext cx="1873189" cy="957002"/>
          </a:xfrm>
          <a:prstGeom prst="rect">
            <a:avLst/>
          </a:prstGeom>
        </p:spPr>
        <p:txBody>
          <a:bodyPr anchor="t" rtlCol="false" tIns="0" lIns="0" bIns="0" rIns="0">
            <a:spAutoFit/>
          </a:bodyPr>
          <a:lstStyle/>
          <a:p>
            <a:pPr algn="ctr">
              <a:lnSpc>
                <a:spcPts val="2661"/>
              </a:lnSpc>
            </a:pPr>
            <a:r>
              <a:rPr lang="en-US" b="true" sz="2047" spc="-40">
                <a:solidFill>
                  <a:srgbClr val="F6F6F6">
                    <a:alpha val="84706"/>
                  </a:srgbClr>
                </a:solidFill>
                <a:latin typeface="Anantason Condensed Bold"/>
                <a:ea typeface="Anantason Condensed Bold"/>
                <a:cs typeface="Anantason Condensed Bold"/>
                <a:sym typeface="Anantason Condensed Bold"/>
              </a:rPr>
              <a:t>traffic manager</a:t>
            </a:r>
          </a:p>
          <a:p>
            <a:pPr algn="ctr">
              <a:lnSpc>
                <a:spcPts val="2661"/>
              </a:lnSpc>
            </a:pPr>
            <a:r>
              <a:rPr lang="en-US" sz="2047" spc="-40">
                <a:solidFill>
                  <a:srgbClr val="F6F6F6">
                    <a:alpha val="84706"/>
                  </a:srgbClr>
                </a:solidFill>
                <a:latin typeface="Anantason Condensed"/>
                <a:ea typeface="Anantason Condensed"/>
                <a:cs typeface="Anantason Condensed"/>
                <a:sym typeface="Anantason Condensed"/>
              </a:rPr>
              <a:t>replication, pacing, reordering buffer</a:t>
            </a:r>
          </a:p>
        </p:txBody>
      </p:sp>
      <p:sp>
        <p:nvSpPr>
          <p:cNvPr name="Freeform 25" id="25"/>
          <p:cNvSpPr/>
          <p:nvPr/>
        </p:nvSpPr>
        <p:spPr>
          <a:xfrm flipH="false" flipV="false" rot="0">
            <a:off x="3915732" y="4711687"/>
            <a:ext cx="3051646" cy="1934962"/>
          </a:xfrm>
          <a:custGeom>
            <a:avLst/>
            <a:gdLst/>
            <a:ahLst/>
            <a:cxnLst/>
            <a:rect r="r" b="b" t="t" l="l"/>
            <a:pathLst>
              <a:path h="1934962" w="3051646">
                <a:moveTo>
                  <a:pt x="0" y="0"/>
                </a:moveTo>
                <a:lnTo>
                  <a:pt x="3051646" y="0"/>
                </a:lnTo>
                <a:lnTo>
                  <a:pt x="3051646" y="1934961"/>
                </a:lnTo>
                <a:lnTo>
                  <a:pt x="0" y="1934961"/>
                </a:lnTo>
                <a:lnTo>
                  <a:pt x="0" y="0"/>
                </a:lnTo>
                <a:close/>
              </a:path>
            </a:pathLst>
          </a:custGeom>
          <a:blipFill>
            <a:blip r:embed="rId15"/>
            <a:stretch>
              <a:fillRect l="0" t="0" r="0" b="0"/>
            </a:stretch>
          </a:blipFill>
        </p:spPr>
        <p:txBody>
          <a:bodyPr/>
          <a:p/>
        </p:txBody>
      </p:sp>
      <p:sp>
        <p:nvSpPr>
          <p:cNvPr name="TextBox 26" id="26"/>
          <p:cNvSpPr txBox="true"/>
          <p:nvPr/>
        </p:nvSpPr>
        <p:spPr>
          <a:xfrm rot="0">
            <a:off x="4448288" y="5224807"/>
            <a:ext cx="2143732" cy="957002"/>
          </a:xfrm>
          <a:prstGeom prst="rect">
            <a:avLst/>
          </a:prstGeom>
        </p:spPr>
        <p:txBody>
          <a:bodyPr anchor="t" rtlCol="false" tIns="0" lIns="0" bIns="0" rIns="0">
            <a:spAutoFit/>
          </a:bodyPr>
          <a:lstStyle/>
          <a:p>
            <a:pPr algn="ctr">
              <a:lnSpc>
                <a:spcPts val="2661"/>
              </a:lnSpc>
            </a:pPr>
            <a:r>
              <a:rPr lang="en-US" b="true" sz="2047" spc="-40">
                <a:solidFill>
                  <a:srgbClr val="F6F6F6">
                    <a:alpha val="84706"/>
                  </a:srgbClr>
                </a:solidFill>
                <a:latin typeface="Anantason Condensed Bold"/>
                <a:ea typeface="Anantason Condensed Bold"/>
                <a:cs typeface="Anantason Condensed Bold"/>
                <a:sym typeface="Anantason Condensed Bold"/>
              </a:rPr>
              <a:t>radio power manager</a:t>
            </a:r>
          </a:p>
          <a:p>
            <a:pPr algn="ctr">
              <a:lnSpc>
                <a:spcPts val="2661"/>
              </a:lnSpc>
            </a:pPr>
            <a:r>
              <a:rPr lang="en-US" sz="2047" spc="-40">
                <a:solidFill>
                  <a:srgbClr val="F6F6F6">
                    <a:alpha val="84706"/>
                  </a:srgbClr>
                </a:solidFill>
                <a:latin typeface="Anantason Condensed"/>
                <a:ea typeface="Anantason Condensed"/>
                <a:cs typeface="Anantason Condensed"/>
                <a:sym typeface="Anantason Condensed"/>
              </a:rPr>
              <a:t>DRX / warm probe / </a:t>
            </a:r>
          </a:p>
          <a:p>
            <a:pPr algn="ctr">
              <a:lnSpc>
                <a:spcPts val="2661"/>
              </a:lnSpc>
            </a:pPr>
            <a:r>
              <a:rPr lang="en-US" sz="2047" spc="-40">
                <a:solidFill>
                  <a:srgbClr val="F6F6F6">
                    <a:alpha val="84706"/>
                  </a:srgbClr>
                </a:solidFill>
                <a:latin typeface="Anantason Condensed"/>
                <a:ea typeface="Anantason Condensed"/>
                <a:cs typeface="Anantason Condensed"/>
                <a:sym typeface="Anantason Condensed"/>
              </a:rPr>
              <a:t>burst</a:t>
            </a:r>
          </a:p>
        </p:txBody>
      </p:sp>
      <p:sp>
        <p:nvSpPr>
          <p:cNvPr name="Freeform 27" id="27"/>
          <p:cNvSpPr/>
          <p:nvPr/>
        </p:nvSpPr>
        <p:spPr>
          <a:xfrm flipH="false" flipV="false" rot="0">
            <a:off x="6956440" y="4711687"/>
            <a:ext cx="3062584" cy="1934962"/>
          </a:xfrm>
          <a:custGeom>
            <a:avLst/>
            <a:gdLst/>
            <a:ahLst/>
            <a:cxnLst/>
            <a:rect r="r" b="b" t="t" l="l"/>
            <a:pathLst>
              <a:path h="1934962" w="3062584">
                <a:moveTo>
                  <a:pt x="0" y="0"/>
                </a:moveTo>
                <a:lnTo>
                  <a:pt x="3062584" y="0"/>
                </a:lnTo>
                <a:lnTo>
                  <a:pt x="3062584" y="1934961"/>
                </a:lnTo>
                <a:lnTo>
                  <a:pt x="0" y="1934961"/>
                </a:lnTo>
                <a:lnTo>
                  <a:pt x="0" y="0"/>
                </a:lnTo>
                <a:close/>
              </a:path>
            </a:pathLst>
          </a:custGeom>
          <a:blipFill>
            <a:blip r:embed="rId16"/>
            <a:stretch>
              <a:fillRect l="0" t="0" r="0" b="0"/>
            </a:stretch>
          </a:blipFill>
        </p:spPr>
        <p:txBody>
          <a:bodyPr/>
          <a:p/>
        </p:txBody>
      </p:sp>
      <p:sp>
        <p:nvSpPr>
          <p:cNvPr name="TextBox 28" id="28"/>
          <p:cNvSpPr txBox="true"/>
          <p:nvPr/>
        </p:nvSpPr>
        <p:spPr>
          <a:xfrm rot="0">
            <a:off x="7780717" y="5510667"/>
            <a:ext cx="1490341" cy="331477"/>
          </a:xfrm>
          <a:prstGeom prst="rect">
            <a:avLst/>
          </a:prstGeom>
        </p:spPr>
        <p:txBody>
          <a:bodyPr anchor="t" rtlCol="false" tIns="0" lIns="0" bIns="0" rIns="0">
            <a:spAutoFit/>
          </a:bodyPr>
          <a:lstStyle/>
          <a:p>
            <a:pPr algn="ctr">
              <a:lnSpc>
                <a:spcPts val="2741"/>
              </a:lnSpc>
            </a:pPr>
            <a:r>
              <a:rPr lang="en-US" sz="2109" spc="-42">
                <a:solidFill>
                  <a:srgbClr val="F6F6F6">
                    <a:alpha val="84706"/>
                  </a:srgbClr>
                </a:solidFill>
                <a:latin typeface="Anantason Condensed"/>
                <a:ea typeface="Anantason Condensed"/>
                <a:cs typeface="Anantason Condensed"/>
                <a:sym typeface="Anantason Condensed"/>
              </a:rPr>
              <a:t>coverage map</a:t>
            </a:r>
          </a:p>
        </p:txBody>
      </p:sp>
      <p:sp>
        <p:nvSpPr>
          <p:cNvPr name="Freeform 29" id="29"/>
          <p:cNvSpPr/>
          <p:nvPr/>
        </p:nvSpPr>
        <p:spPr>
          <a:xfrm flipH="false" flipV="false" rot="0">
            <a:off x="6311110" y="6854356"/>
            <a:ext cx="448450" cy="655919"/>
          </a:xfrm>
          <a:custGeom>
            <a:avLst/>
            <a:gdLst/>
            <a:ahLst/>
            <a:cxnLst/>
            <a:rect r="r" b="b" t="t" l="l"/>
            <a:pathLst>
              <a:path h="655919" w="448450">
                <a:moveTo>
                  <a:pt x="0" y="0"/>
                </a:moveTo>
                <a:lnTo>
                  <a:pt x="448450" y="0"/>
                </a:lnTo>
                <a:lnTo>
                  <a:pt x="448450" y="655919"/>
                </a:lnTo>
                <a:lnTo>
                  <a:pt x="0" y="655919"/>
                </a:lnTo>
                <a:lnTo>
                  <a:pt x="0" y="0"/>
                </a:lnTo>
                <a:close/>
              </a:path>
            </a:pathLst>
          </a:custGeom>
          <a:blipFill>
            <a:blip r:embed="rId17"/>
            <a:stretch>
              <a:fillRect l="0" t="0" r="0" b="0"/>
            </a:stretch>
          </a:blipFill>
        </p:spPr>
        <p:txBody>
          <a:bodyPr/>
          <a:p/>
        </p:txBody>
      </p:sp>
      <p:sp>
        <p:nvSpPr>
          <p:cNvPr name="Freeform 30" id="30"/>
          <p:cNvSpPr/>
          <p:nvPr/>
        </p:nvSpPr>
        <p:spPr>
          <a:xfrm flipH="false" flipV="false" rot="0">
            <a:off x="426574" y="7280704"/>
            <a:ext cx="12425340" cy="1727254"/>
          </a:xfrm>
          <a:custGeom>
            <a:avLst/>
            <a:gdLst/>
            <a:ahLst/>
            <a:cxnLst/>
            <a:rect r="r" b="b" t="t" l="l"/>
            <a:pathLst>
              <a:path h="1727254" w="12425340">
                <a:moveTo>
                  <a:pt x="0" y="0"/>
                </a:moveTo>
                <a:lnTo>
                  <a:pt x="12425340" y="0"/>
                </a:lnTo>
                <a:lnTo>
                  <a:pt x="12425340" y="1727253"/>
                </a:lnTo>
                <a:lnTo>
                  <a:pt x="0" y="1727253"/>
                </a:lnTo>
                <a:lnTo>
                  <a:pt x="0" y="0"/>
                </a:lnTo>
                <a:close/>
              </a:path>
            </a:pathLst>
          </a:custGeom>
          <a:blipFill>
            <a:blip r:embed="rId18"/>
            <a:stretch>
              <a:fillRect l="0" t="0" r="0" b="0"/>
            </a:stretch>
          </a:blipFill>
        </p:spPr>
        <p:txBody>
          <a:bodyPr/>
          <a:p/>
        </p:txBody>
      </p:sp>
      <p:sp>
        <p:nvSpPr>
          <p:cNvPr name="TextBox 31" id="31"/>
          <p:cNvSpPr txBox="true"/>
          <p:nvPr/>
        </p:nvSpPr>
        <p:spPr>
          <a:xfrm rot="0">
            <a:off x="4477532" y="7492117"/>
            <a:ext cx="3843143" cy="314517"/>
          </a:xfrm>
          <a:prstGeom prst="rect">
            <a:avLst/>
          </a:prstGeom>
        </p:spPr>
        <p:txBody>
          <a:bodyPr anchor="t" rtlCol="false" tIns="0" lIns="0" bIns="0" rIns="0">
            <a:spAutoFit/>
          </a:bodyPr>
          <a:lstStyle/>
          <a:p>
            <a:pPr algn="ctr">
              <a:lnSpc>
                <a:spcPts val="2650"/>
              </a:lnSpc>
            </a:pPr>
            <a:r>
              <a:rPr lang="en-US" b="true" sz="2039" spc="-40">
                <a:solidFill>
                  <a:srgbClr val="F6F6F6">
                    <a:alpha val="84706"/>
                  </a:srgbClr>
                </a:solidFill>
                <a:latin typeface="Anantason Condensed Bold"/>
                <a:ea typeface="Anantason Condensed Bold"/>
                <a:cs typeface="Anantason Condensed Bold"/>
                <a:sym typeface="Anantason Condensed Bold"/>
              </a:rPr>
              <a:t>EXPLAINABILITY AND </a:t>
            </a:r>
            <a:r>
              <a:rPr lang="en-US" b="true" sz="2039" spc="-40">
                <a:solidFill>
                  <a:srgbClr val="13A4C8">
                    <a:alpha val="84706"/>
                  </a:srgbClr>
                </a:solidFill>
                <a:latin typeface="Anantason Condensed Bold"/>
                <a:ea typeface="Anantason Condensed Bold"/>
                <a:cs typeface="Anantason Condensed Bold"/>
                <a:sym typeface="Anantason Condensed Bold"/>
              </a:rPr>
              <a:t>DASHBOARD</a:t>
            </a:r>
          </a:p>
        </p:txBody>
      </p:sp>
      <p:sp>
        <p:nvSpPr>
          <p:cNvPr name="TextBox 32" id="32"/>
          <p:cNvSpPr txBox="true"/>
          <p:nvPr/>
        </p:nvSpPr>
        <p:spPr>
          <a:xfrm rot="0">
            <a:off x="1180493" y="8327190"/>
            <a:ext cx="1145167" cy="298226"/>
          </a:xfrm>
          <a:prstGeom prst="rect">
            <a:avLst/>
          </a:prstGeom>
        </p:spPr>
        <p:txBody>
          <a:bodyPr anchor="t" rtlCol="false" tIns="0" lIns="0" bIns="0" rIns="0">
            <a:spAutoFit/>
          </a:bodyPr>
          <a:lstStyle/>
          <a:p>
            <a:pPr algn="ctr">
              <a:lnSpc>
                <a:spcPts val="2490"/>
              </a:lnSpc>
            </a:pPr>
            <a:r>
              <a:rPr lang="en-US" sz="1916" spc="-38">
                <a:solidFill>
                  <a:srgbClr val="F6F6F6">
                    <a:alpha val="84706"/>
                  </a:srgbClr>
                </a:solidFill>
                <a:latin typeface="Anantason Condensed"/>
                <a:ea typeface="Anantason Condensed"/>
                <a:cs typeface="Anantason Condensed"/>
                <a:sym typeface="Anantason Condensed"/>
              </a:rPr>
              <a:t>current path</a:t>
            </a:r>
          </a:p>
        </p:txBody>
      </p:sp>
      <p:sp>
        <p:nvSpPr>
          <p:cNvPr name="TextBox 33" id="33"/>
          <p:cNvSpPr txBox="true"/>
          <p:nvPr/>
        </p:nvSpPr>
        <p:spPr>
          <a:xfrm rot="0">
            <a:off x="4249229" y="8327190"/>
            <a:ext cx="1323484" cy="298226"/>
          </a:xfrm>
          <a:prstGeom prst="rect">
            <a:avLst/>
          </a:prstGeom>
        </p:spPr>
        <p:txBody>
          <a:bodyPr anchor="t" rtlCol="false" tIns="0" lIns="0" bIns="0" rIns="0">
            <a:spAutoFit/>
          </a:bodyPr>
          <a:lstStyle/>
          <a:p>
            <a:pPr algn="ctr">
              <a:lnSpc>
                <a:spcPts val="2490"/>
              </a:lnSpc>
            </a:pPr>
            <a:r>
              <a:rPr lang="en-US" sz="1916" spc="-38">
                <a:solidFill>
                  <a:srgbClr val="F6F6F6">
                    <a:alpha val="84706"/>
                  </a:srgbClr>
                </a:solidFill>
                <a:latin typeface="Anantason Condensed"/>
                <a:ea typeface="Anantason Condensed"/>
                <a:cs typeface="Anantason Condensed"/>
                <a:sym typeface="Anantason Condensed"/>
              </a:rPr>
              <a:t>time-to-failure</a:t>
            </a:r>
          </a:p>
        </p:txBody>
      </p:sp>
      <p:sp>
        <p:nvSpPr>
          <p:cNvPr name="TextBox 34" id="34"/>
          <p:cNvSpPr txBox="true"/>
          <p:nvPr/>
        </p:nvSpPr>
        <p:spPr>
          <a:xfrm rot="0">
            <a:off x="6211056" y="8327190"/>
            <a:ext cx="1418189" cy="298226"/>
          </a:xfrm>
          <a:prstGeom prst="rect">
            <a:avLst/>
          </a:prstGeom>
        </p:spPr>
        <p:txBody>
          <a:bodyPr anchor="t" rtlCol="false" tIns="0" lIns="0" bIns="0" rIns="0">
            <a:spAutoFit/>
          </a:bodyPr>
          <a:lstStyle/>
          <a:p>
            <a:pPr algn="ctr">
              <a:lnSpc>
                <a:spcPts val="2490"/>
              </a:lnSpc>
            </a:pPr>
            <a:r>
              <a:rPr lang="en-US" sz="1916" spc="-38">
                <a:solidFill>
                  <a:srgbClr val="F6F6F6">
                    <a:alpha val="84706"/>
                  </a:srgbClr>
                </a:solidFill>
                <a:latin typeface="Anantason Condensed"/>
                <a:ea typeface="Anantason Condensed"/>
                <a:cs typeface="Anantason Condensed"/>
                <a:sym typeface="Anantason Condensed"/>
              </a:rPr>
              <a:t>alternate score</a:t>
            </a:r>
          </a:p>
        </p:txBody>
      </p:sp>
      <p:sp>
        <p:nvSpPr>
          <p:cNvPr name="TextBox 35" id="35"/>
          <p:cNvSpPr txBox="true"/>
          <p:nvPr/>
        </p:nvSpPr>
        <p:spPr>
          <a:xfrm rot="0">
            <a:off x="8297556" y="8327190"/>
            <a:ext cx="841354" cy="298226"/>
          </a:xfrm>
          <a:prstGeom prst="rect">
            <a:avLst/>
          </a:prstGeom>
        </p:spPr>
        <p:txBody>
          <a:bodyPr anchor="t" rtlCol="false" tIns="0" lIns="0" bIns="0" rIns="0">
            <a:spAutoFit/>
          </a:bodyPr>
          <a:lstStyle/>
          <a:p>
            <a:pPr algn="ctr">
              <a:lnSpc>
                <a:spcPts val="2490"/>
              </a:lnSpc>
            </a:pPr>
            <a:r>
              <a:rPr lang="en-US" sz="1916" spc="-38">
                <a:solidFill>
                  <a:srgbClr val="F6F6F6">
                    <a:alpha val="84706"/>
                  </a:srgbClr>
                </a:solidFill>
                <a:latin typeface="Anantason Condensed"/>
                <a:ea typeface="Anantason Condensed"/>
                <a:cs typeface="Anantason Condensed"/>
                <a:sym typeface="Anantason Condensed"/>
              </a:rPr>
              <a:t>radio tier</a:t>
            </a:r>
          </a:p>
        </p:txBody>
      </p:sp>
      <p:sp>
        <p:nvSpPr>
          <p:cNvPr name="TextBox 36" id="36"/>
          <p:cNvSpPr txBox="true"/>
          <p:nvPr/>
        </p:nvSpPr>
        <p:spPr>
          <a:xfrm rot="0">
            <a:off x="9846774" y="8327190"/>
            <a:ext cx="587916" cy="298226"/>
          </a:xfrm>
          <a:prstGeom prst="rect">
            <a:avLst/>
          </a:prstGeom>
        </p:spPr>
        <p:txBody>
          <a:bodyPr anchor="t" rtlCol="false" tIns="0" lIns="0" bIns="0" rIns="0">
            <a:spAutoFit/>
          </a:bodyPr>
          <a:lstStyle/>
          <a:p>
            <a:pPr algn="ctr">
              <a:lnSpc>
                <a:spcPts val="2490"/>
              </a:lnSpc>
            </a:pPr>
            <a:r>
              <a:rPr lang="en-US" sz="1916" spc="-38">
                <a:solidFill>
                  <a:srgbClr val="F6F6F6">
                    <a:alpha val="84706"/>
                  </a:srgbClr>
                </a:solidFill>
                <a:latin typeface="Anantason Condensed"/>
                <a:ea typeface="Anantason Condensed"/>
                <a:cs typeface="Anantason Condensed"/>
                <a:sym typeface="Anantason Condensed"/>
              </a:rPr>
              <a:t>action</a:t>
            </a:r>
          </a:p>
        </p:txBody>
      </p:sp>
      <p:sp>
        <p:nvSpPr>
          <p:cNvPr name="Freeform 37" id="37"/>
          <p:cNvSpPr/>
          <p:nvPr/>
        </p:nvSpPr>
        <p:spPr>
          <a:xfrm flipH="false" flipV="false" rot="0">
            <a:off x="426574" y="8997026"/>
            <a:ext cx="12425340" cy="1082267"/>
          </a:xfrm>
          <a:custGeom>
            <a:avLst/>
            <a:gdLst/>
            <a:ahLst/>
            <a:cxnLst/>
            <a:rect r="r" b="b" t="t" l="l"/>
            <a:pathLst>
              <a:path h="1082267" w="12425340">
                <a:moveTo>
                  <a:pt x="0" y="0"/>
                </a:moveTo>
                <a:lnTo>
                  <a:pt x="12425340" y="0"/>
                </a:lnTo>
                <a:lnTo>
                  <a:pt x="12425340" y="1082266"/>
                </a:lnTo>
                <a:lnTo>
                  <a:pt x="0" y="1082266"/>
                </a:lnTo>
                <a:lnTo>
                  <a:pt x="0" y="0"/>
                </a:lnTo>
                <a:close/>
              </a:path>
            </a:pathLst>
          </a:custGeom>
          <a:blipFill>
            <a:blip r:embed="rId19"/>
            <a:stretch>
              <a:fillRect l="0" t="0" r="0" b="0"/>
            </a:stretch>
          </a:blipFill>
        </p:spPr>
        <p:txBody>
          <a:bodyPr/>
          <a:p/>
        </p:txBody>
      </p:sp>
      <p:sp>
        <p:nvSpPr>
          <p:cNvPr name="TextBox 38" id="38"/>
          <p:cNvSpPr txBox="true"/>
          <p:nvPr/>
        </p:nvSpPr>
        <p:spPr>
          <a:xfrm rot="0">
            <a:off x="2872156" y="9194270"/>
            <a:ext cx="7500201" cy="315185"/>
          </a:xfrm>
          <a:prstGeom prst="rect">
            <a:avLst/>
          </a:prstGeom>
        </p:spPr>
        <p:txBody>
          <a:bodyPr anchor="t" rtlCol="false" tIns="0" lIns="0" bIns="0" rIns="0">
            <a:spAutoFit/>
          </a:bodyPr>
          <a:lstStyle/>
          <a:p>
            <a:pPr algn="ctr">
              <a:lnSpc>
                <a:spcPts val="2581"/>
              </a:lnSpc>
            </a:pPr>
            <a:r>
              <a:rPr lang="en-US" b="true" sz="1986" spc="-39">
                <a:solidFill>
                  <a:srgbClr val="13A4C8"/>
                </a:solidFill>
                <a:latin typeface="Anantason Condensed Bold"/>
                <a:ea typeface="Anantason Condensed Bold"/>
                <a:cs typeface="Anantason Condensed Bold"/>
                <a:sym typeface="Anantason Condensed Bold"/>
              </a:rPr>
              <a:t>DESIGNED TO SIT UNDER ANY COMMAND-AND-CONTROL APPLICATION</a:t>
            </a:r>
          </a:p>
        </p:txBody>
      </p:sp>
      <p:sp>
        <p:nvSpPr>
          <p:cNvPr name="TextBox 39" id="39"/>
          <p:cNvSpPr txBox="true"/>
          <p:nvPr/>
        </p:nvSpPr>
        <p:spPr>
          <a:xfrm rot="0">
            <a:off x="4687968" y="9546972"/>
            <a:ext cx="3868576" cy="331477"/>
          </a:xfrm>
          <a:prstGeom prst="rect">
            <a:avLst/>
          </a:prstGeom>
        </p:spPr>
        <p:txBody>
          <a:bodyPr anchor="t" rtlCol="false" tIns="0" lIns="0" bIns="0" rIns="0">
            <a:spAutoFit/>
          </a:bodyPr>
          <a:lstStyle/>
          <a:p>
            <a:pPr algn="ctr">
              <a:lnSpc>
                <a:spcPts val="2741"/>
              </a:lnSpc>
            </a:pPr>
            <a:r>
              <a:rPr lang="en-US" sz="2109" spc="-42">
                <a:solidFill>
                  <a:srgbClr val="F6F6F6">
                    <a:alpha val="84706"/>
                  </a:srgbClr>
                </a:solidFill>
                <a:latin typeface="Anantason Condensed"/>
                <a:ea typeface="Anantason Condensed"/>
                <a:cs typeface="Anantason Condensed"/>
                <a:sym typeface="Anantason Condensed"/>
              </a:rPr>
              <a:t>it needs no change to the application</a:t>
            </a:r>
          </a:p>
        </p:txBody>
      </p:sp>
      <p:sp>
        <p:nvSpPr>
          <p:cNvPr name="Freeform 40" id="40"/>
          <p:cNvSpPr/>
          <p:nvPr/>
        </p:nvSpPr>
        <p:spPr>
          <a:xfrm flipH="false" flipV="false" rot="0">
            <a:off x="10883110" y="2569017"/>
            <a:ext cx="2187560" cy="4722618"/>
          </a:xfrm>
          <a:custGeom>
            <a:avLst/>
            <a:gdLst/>
            <a:ahLst/>
            <a:cxnLst/>
            <a:rect r="r" b="b" t="t" l="l"/>
            <a:pathLst>
              <a:path h="4722618" w="2187560">
                <a:moveTo>
                  <a:pt x="0" y="0"/>
                </a:moveTo>
                <a:lnTo>
                  <a:pt x="2187560" y="0"/>
                </a:lnTo>
                <a:lnTo>
                  <a:pt x="2187560" y="4722618"/>
                </a:lnTo>
                <a:lnTo>
                  <a:pt x="0" y="4722618"/>
                </a:lnTo>
                <a:lnTo>
                  <a:pt x="0" y="0"/>
                </a:lnTo>
                <a:close/>
              </a:path>
            </a:pathLst>
          </a:custGeom>
          <a:blipFill>
            <a:blip r:embed="rId20"/>
            <a:stretch>
              <a:fillRect l="0" t="0" r="0" b="0"/>
            </a:stretch>
          </a:blipFill>
        </p:spPr>
        <p:txBody>
          <a:bodyPr/>
          <a:p/>
        </p:txBody>
      </p:sp>
      <p:sp>
        <p:nvSpPr>
          <p:cNvPr name="TextBox 41" id="41"/>
          <p:cNvSpPr txBox="true"/>
          <p:nvPr/>
        </p:nvSpPr>
        <p:spPr>
          <a:xfrm rot="0">
            <a:off x="11112308" y="3003986"/>
            <a:ext cx="1738736" cy="314517"/>
          </a:xfrm>
          <a:prstGeom prst="rect">
            <a:avLst/>
          </a:prstGeom>
        </p:spPr>
        <p:txBody>
          <a:bodyPr anchor="t" rtlCol="false" tIns="0" lIns="0" bIns="0" rIns="0">
            <a:spAutoFit/>
          </a:bodyPr>
          <a:lstStyle/>
          <a:p>
            <a:pPr algn="ctr">
              <a:lnSpc>
                <a:spcPts val="2650"/>
              </a:lnSpc>
            </a:pPr>
            <a:r>
              <a:rPr lang="en-US" b="true" sz="2039" spc="-40">
                <a:solidFill>
                  <a:srgbClr val="13A4C8">
                    <a:alpha val="84706"/>
                  </a:srgbClr>
                </a:solidFill>
                <a:latin typeface="Anantason Condensed Bold"/>
                <a:ea typeface="Anantason Condensed Bold"/>
                <a:cs typeface="Anantason Condensed Bold"/>
                <a:sym typeface="Anantason Condensed Bold"/>
              </a:rPr>
              <a:t>ANCHOR RELAY</a:t>
            </a:r>
          </a:p>
        </p:txBody>
      </p:sp>
      <p:sp>
        <p:nvSpPr>
          <p:cNvPr name="TextBox 42" id="42"/>
          <p:cNvSpPr txBox="true"/>
          <p:nvPr/>
        </p:nvSpPr>
        <p:spPr>
          <a:xfrm rot="0">
            <a:off x="11218089" y="3598086"/>
            <a:ext cx="1527175" cy="905122"/>
          </a:xfrm>
          <a:prstGeom prst="rect">
            <a:avLst/>
          </a:prstGeom>
        </p:spPr>
        <p:txBody>
          <a:bodyPr anchor="t" rtlCol="false" tIns="0" lIns="0" bIns="0" rIns="0">
            <a:spAutoFit/>
          </a:bodyPr>
          <a:lstStyle/>
          <a:p>
            <a:pPr algn="ctr">
              <a:lnSpc>
                <a:spcPts val="2490"/>
              </a:lnSpc>
            </a:pPr>
            <a:r>
              <a:rPr lang="en-US" sz="1916" spc="-38">
                <a:solidFill>
                  <a:srgbClr val="F6F6F6">
                    <a:alpha val="84706"/>
                  </a:srgbClr>
                </a:solidFill>
                <a:latin typeface="Anantason Condensed"/>
                <a:ea typeface="Anantason Condensed"/>
                <a:cs typeface="Anantason Condensed"/>
                <a:sym typeface="Anantason Condensed"/>
              </a:rPr>
              <a:t>a fixed address</a:t>
            </a:r>
          </a:p>
          <a:p>
            <a:pPr algn="ctr">
              <a:lnSpc>
                <a:spcPts val="2490"/>
              </a:lnSpc>
            </a:pPr>
            <a:r>
              <a:rPr lang="en-US" sz="1916" spc="-38">
                <a:solidFill>
                  <a:srgbClr val="F6F6F6">
                    <a:alpha val="84706"/>
                  </a:srgbClr>
                </a:solidFill>
                <a:latin typeface="Anantason Condensed"/>
                <a:ea typeface="Anantason Condensed"/>
                <a:cs typeface="Anantason Condensed"/>
                <a:sym typeface="Anantason Condensed"/>
              </a:rPr>
              <a:t>in the operator's network</a:t>
            </a:r>
          </a:p>
        </p:txBody>
      </p:sp>
      <p:sp>
        <p:nvSpPr>
          <p:cNvPr name="TextBox 43" id="43"/>
          <p:cNvSpPr txBox="true"/>
          <p:nvPr/>
        </p:nvSpPr>
        <p:spPr>
          <a:xfrm rot="0">
            <a:off x="11310450" y="4968622"/>
            <a:ext cx="1342453" cy="905122"/>
          </a:xfrm>
          <a:prstGeom prst="rect">
            <a:avLst/>
          </a:prstGeom>
        </p:spPr>
        <p:txBody>
          <a:bodyPr anchor="t" rtlCol="false" tIns="0" lIns="0" bIns="0" rIns="0">
            <a:spAutoFit/>
          </a:bodyPr>
          <a:lstStyle/>
          <a:p>
            <a:pPr algn="ctr">
              <a:lnSpc>
                <a:spcPts val="2490"/>
              </a:lnSpc>
            </a:pPr>
            <a:r>
              <a:rPr lang="en-US" sz="1916" spc="-38">
                <a:solidFill>
                  <a:srgbClr val="F6F6F6">
                    <a:alpha val="84706"/>
                  </a:srgbClr>
                </a:solidFill>
                <a:latin typeface="Anantason Condensed"/>
                <a:ea typeface="Anantason Condensed"/>
                <a:cs typeface="Anantason Condensed"/>
                <a:sym typeface="Anantason Condensed"/>
              </a:rPr>
              <a:t>the vehicle's</a:t>
            </a:r>
          </a:p>
          <a:p>
            <a:pPr algn="ctr">
              <a:lnSpc>
                <a:spcPts val="2490"/>
              </a:lnSpc>
            </a:pPr>
            <a:r>
              <a:rPr lang="en-US" sz="1916" spc="-38">
                <a:solidFill>
                  <a:srgbClr val="F6F6F6">
                    <a:alpha val="84706"/>
                  </a:srgbClr>
                </a:solidFill>
                <a:latin typeface="Anantason Condensed"/>
                <a:ea typeface="Anantason Condensed"/>
                <a:cs typeface="Anantason Condensed"/>
                <a:sym typeface="Anantason Condensed"/>
              </a:rPr>
              <a:t>tunnel rebinds</a:t>
            </a:r>
          </a:p>
          <a:p>
            <a:pPr algn="ctr">
              <a:lnSpc>
                <a:spcPts val="2490"/>
              </a:lnSpc>
            </a:pPr>
            <a:r>
              <a:rPr lang="en-US" sz="1916" spc="-38">
                <a:solidFill>
                  <a:srgbClr val="F6F6F6">
                    <a:alpha val="84706"/>
                  </a:srgbClr>
                </a:solidFill>
                <a:latin typeface="Anantason Condensed"/>
                <a:ea typeface="Anantason Condensed"/>
                <a:cs typeface="Anantason Condensed"/>
                <a:sym typeface="Anantason Condensed"/>
              </a:rPr>
              <a:t>across radios</a:t>
            </a:r>
          </a:p>
        </p:txBody>
      </p:sp>
      <p:sp>
        <p:nvSpPr>
          <p:cNvPr name="TextBox 44" id="44"/>
          <p:cNvSpPr txBox="true"/>
          <p:nvPr/>
        </p:nvSpPr>
        <p:spPr>
          <a:xfrm rot="0">
            <a:off x="11244749" y="6293976"/>
            <a:ext cx="1473855" cy="601674"/>
          </a:xfrm>
          <a:prstGeom prst="rect">
            <a:avLst/>
          </a:prstGeom>
        </p:spPr>
        <p:txBody>
          <a:bodyPr anchor="t" rtlCol="false" tIns="0" lIns="0" bIns="0" rIns="0">
            <a:spAutoFit/>
          </a:bodyPr>
          <a:lstStyle/>
          <a:p>
            <a:pPr algn="ctr">
              <a:lnSpc>
                <a:spcPts val="2490"/>
              </a:lnSpc>
            </a:pPr>
            <a:r>
              <a:rPr lang="en-US" sz="1916" spc="-38">
                <a:solidFill>
                  <a:srgbClr val="13A4C8">
                    <a:alpha val="84706"/>
                  </a:srgbClr>
                </a:solidFill>
                <a:latin typeface="Anantason Condensed"/>
                <a:ea typeface="Anantason Condensed"/>
                <a:cs typeface="Anantason Condensed"/>
                <a:sym typeface="Anantason Condensed"/>
              </a:rPr>
              <a:t>the remote side</a:t>
            </a:r>
          </a:p>
          <a:p>
            <a:pPr algn="ctr">
              <a:lnSpc>
                <a:spcPts val="2490"/>
              </a:lnSpc>
            </a:pPr>
            <a:r>
              <a:rPr lang="en-US" sz="1916" spc="-38">
                <a:solidFill>
                  <a:srgbClr val="13A4C8">
                    <a:alpha val="84706"/>
                  </a:srgbClr>
                </a:solidFill>
                <a:latin typeface="Anantason Condensed"/>
                <a:ea typeface="Anantason Condensed"/>
                <a:cs typeface="Anantason Condensed"/>
                <a:sym typeface="Anantason Condensed"/>
              </a:rPr>
              <a:t>never changes</a:t>
            </a:r>
          </a:p>
        </p:txBody>
      </p:sp>
      <p:sp>
        <p:nvSpPr>
          <p:cNvPr name="Freeform 45" id="45"/>
          <p:cNvSpPr/>
          <p:nvPr/>
        </p:nvSpPr>
        <p:spPr>
          <a:xfrm flipH="false" flipV="false" rot="0">
            <a:off x="10226842" y="4493047"/>
            <a:ext cx="667206" cy="437279"/>
          </a:xfrm>
          <a:custGeom>
            <a:avLst/>
            <a:gdLst/>
            <a:ahLst/>
            <a:cxnLst/>
            <a:rect r="r" b="b" t="t" l="l"/>
            <a:pathLst>
              <a:path h="437279" w="667206">
                <a:moveTo>
                  <a:pt x="0" y="0"/>
                </a:moveTo>
                <a:lnTo>
                  <a:pt x="667206" y="0"/>
                </a:lnTo>
                <a:lnTo>
                  <a:pt x="667206" y="437279"/>
                </a:lnTo>
                <a:lnTo>
                  <a:pt x="0" y="437279"/>
                </a:lnTo>
                <a:lnTo>
                  <a:pt x="0" y="0"/>
                </a:lnTo>
                <a:close/>
              </a:path>
            </a:pathLst>
          </a:custGeom>
          <a:blipFill>
            <a:blip r:embed="rId21"/>
            <a:stretch>
              <a:fillRect l="0" t="0" r="0" b="0"/>
            </a:stretch>
          </a:blipFill>
        </p:spPr>
        <p:txBody>
          <a:bodyPr/>
          <a:p/>
        </p:txBody>
      </p:sp>
      <p:sp>
        <p:nvSpPr>
          <p:cNvPr name="Freeform 46" id="46"/>
          <p:cNvSpPr/>
          <p:nvPr/>
        </p:nvSpPr>
        <p:spPr>
          <a:xfrm flipH="false" flipV="false" rot="0">
            <a:off x="13497244" y="1705390"/>
            <a:ext cx="4145426" cy="6438940"/>
          </a:xfrm>
          <a:custGeom>
            <a:avLst/>
            <a:gdLst/>
            <a:ahLst/>
            <a:cxnLst/>
            <a:rect r="r" b="b" t="t" l="l"/>
            <a:pathLst>
              <a:path h="6438940" w="4145426">
                <a:moveTo>
                  <a:pt x="0" y="0"/>
                </a:moveTo>
                <a:lnTo>
                  <a:pt x="4145426" y="0"/>
                </a:lnTo>
                <a:lnTo>
                  <a:pt x="4145426" y="6438940"/>
                </a:lnTo>
                <a:lnTo>
                  <a:pt x="0" y="6438940"/>
                </a:lnTo>
                <a:lnTo>
                  <a:pt x="0" y="0"/>
                </a:lnTo>
                <a:close/>
              </a:path>
            </a:pathLst>
          </a:custGeom>
          <a:blipFill>
            <a:blip r:embed="rId22"/>
            <a:stretch>
              <a:fillRect l="0" t="0" r="0" b="0"/>
            </a:stretch>
          </a:blipFill>
        </p:spPr>
        <p:txBody>
          <a:bodyPr/>
          <a:p/>
        </p:txBody>
      </p:sp>
      <p:sp>
        <p:nvSpPr>
          <p:cNvPr name="TextBox 47" id="47"/>
          <p:cNvSpPr txBox="true"/>
          <p:nvPr/>
        </p:nvSpPr>
        <p:spPr>
          <a:xfrm rot="0">
            <a:off x="15122032" y="1964788"/>
            <a:ext cx="843571" cy="314517"/>
          </a:xfrm>
          <a:prstGeom prst="rect">
            <a:avLst/>
          </a:prstGeom>
        </p:spPr>
        <p:txBody>
          <a:bodyPr anchor="t" rtlCol="false" tIns="0" lIns="0" bIns="0" rIns="0">
            <a:spAutoFit/>
          </a:bodyPr>
          <a:lstStyle/>
          <a:p>
            <a:pPr algn="ctr">
              <a:lnSpc>
                <a:spcPts val="2650"/>
              </a:lnSpc>
            </a:pPr>
            <a:r>
              <a:rPr lang="en-US" b="true" sz="2039" spc="-40">
                <a:solidFill>
                  <a:srgbClr val="13A4C8"/>
                </a:solidFill>
                <a:latin typeface="Anantason Condensed Bold"/>
                <a:ea typeface="Anantason Condensed Bold"/>
                <a:cs typeface="Anantason Condensed Bold"/>
                <a:sym typeface="Anantason Condensed Bold"/>
              </a:rPr>
              <a:t>RADIOS</a:t>
            </a:r>
          </a:p>
        </p:txBody>
      </p:sp>
      <p:sp>
        <p:nvSpPr>
          <p:cNvPr name="Freeform 48" id="48"/>
          <p:cNvSpPr/>
          <p:nvPr/>
        </p:nvSpPr>
        <p:spPr>
          <a:xfrm flipH="false" flipV="false" rot="0">
            <a:off x="13923818" y="2350377"/>
            <a:ext cx="1760986" cy="1508614"/>
          </a:xfrm>
          <a:custGeom>
            <a:avLst/>
            <a:gdLst/>
            <a:ahLst/>
            <a:cxnLst/>
            <a:rect r="r" b="b" t="t" l="l"/>
            <a:pathLst>
              <a:path h="1508614" w="1760986">
                <a:moveTo>
                  <a:pt x="0" y="0"/>
                </a:moveTo>
                <a:lnTo>
                  <a:pt x="1760986" y="0"/>
                </a:lnTo>
                <a:lnTo>
                  <a:pt x="1760986" y="1508614"/>
                </a:lnTo>
                <a:lnTo>
                  <a:pt x="0" y="1508614"/>
                </a:lnTo>
                <a:lnTo>
                  <a:pt x="0" y="0"/>
                </a:lnTo>
                <a:close/>
              </a:path>
            </a:pathLst>
          </a:custGeom>
          <a:blipFill>
            <a:blip r:embed="rId23"/>
            <a:stretch>
              <a:fillRect l="0" t="0" r="0" b="0"/>
            </a:stretch>
          </a:blipFill>
        </p:spPr>
        <p:txBody>
          <a:bodyPr/>
          <a:p/>
        </p:txBody>
      </p:sp>
      <p:sp>
        <p:nvSpPr>
          <p:cNvPr name="TextBox 49" id="49"/>
          <p:cNvSpPr txBox="true"/>
          <p:nvPr/>
        </p:nvSpPr>
        <p:spPr>
          <a:xfrm rot="0">
            <a:off x="14157233" y="2754533"/>
            <a:ext cx="1145466" cy="670624"/>
          </a:xfrm>
          <a:prstGeom prst="rect">
            <a:avLst/>
          </a:prstGeom>
        </p:spPr>
        <p:txBody>
          <a:bodyPr anchor="t" rtlCol="false" tIns="0" lIns="0" bIns="0" rIns="0">
            <a:spAutoFit/>
          </a:bodyPr>
          <a:lstStyle/>
          <a:p>
            <a:pPr algn="ctr">
              <a:lnSpc>
                <a:spcPts val="2741"/>
              </a:lnSpc>
            </a:pPr>
            <a:r>
              <a:rPr lang="en-US" sz="2109" spc="-42">
                <a:solidFill>
                  <a:srgbClr val="F6F6F6">
                    <a:alpha val="84706"/>
                  </a:srgbClr>
                </a:solidFill>
                <a:latin typeface="Anantason Condensed"/>
                <a:ea typeface="Anantason Condensed"/>
                <a:cs typeface="Anantason Condensed"/>
                <a:sym typeface="Anantason Condensed"/>
              </a:rPr>
              <a:t>wired dock</a:t>
            </a:r>
          </a:p>
          <a:p>
            <a:pPr algn="ctr">
              <a:lnSpc>
                <a:spcPts val="2741"/>
              </a:lnSpc>
            </a:pPr>
            <a:r>
              <a:rPr lang="en-US" sz="2109" spc="-42">
                <a:solidFill>
                  <a:srgbClr val="F6F6F6">
                    <a:alpha val="84706"/>
                  </a:srgbClr>
                </a:solidFill>
                <a:latin typeface="Anantason Condensed"/>
                <a:ea typeface="Anantason Condensed"/>
                <a:cs typeface="Anantason Condensed"/>
                <a:sym typeface="Anantason Condensed"/>
              </a:rPr>
              <a:t>port</a:t>
            </a:r>
          </a:p>
        </p:txBody>
      </p:sp>
      <p:sp>
        <p:nvSpPr>
          <p:cNvPr name="TextBox 50" id="50"/>
          <p:cNvSpPr txBox="true"/>
          <p:nvPr/>
        </p:nvSpPr>
        <p:spPr>
          <a:xfrm rot="0">
            <a:off x="15790820" y="2634202"/>
            <a:ext cx="1472682" cy="853243"/>
          </a:xfrm>
          <a:prstGeom prst="rect">
            <a:avLst/>
          </a:prstGeom>
        </p:spPr>
        <p:txBody>
          <a:bodyPr anchor="t" rtlCol="false" tIns="0" lIns="0" bIns="0" rIns="0">
            <a:spAutoFit/>
          </a:bodyPr>
          <a:lstStyle/>
          <a:p>
            <a:pPr algn="l">
              <a:lnSpc>
                <a:spcPts val="2319"/>
              </a:lnSpc>
            </a:pPr>
            <a:r>
              <a:rPr lang="en-US" sz="1784" spc="-35">
                <a:solidFill>
                  <a:srgbClr val="F6F6F6">
                    <a:alpha val="84706"/>
                  </a:srgbClr>
                </a:solidFill>
                <a:latin typeface="Anantason Condensed"/>
                <a:ea typeface="Anantason Condensed"/>
                <a:cs typeface="Anantason Condensed"/>
                <a:sym typeface="Anantason Condensed"/>
              </a:rPr>
              <a:t>link model:</a:t>
            </a:r>
          </a:p>
          <a:p>
            <a:pPr algn="l">
              <a:lnSpc>
                <a:spcPts val="2319"/>
              </a:lnSpc>
            </a:pPr>
            <a:r>
              <a:rPr lang="en-US" sz="1784" spc="-35">
                <a:solidFill>
                  <a:srgbClr val="F6F6F6">
                    <a:alpha val="84706"/>
                  </a:srgbClr>
                </a:solidFill>
                <a:latin typeface="Anantason Condensed"/>
                <a:ea typeface="Anantason Condensed"/>
                <a:cs typeface="Anantason Condensed"/>
                <a:sym typeface="Anantason Condensed"/>
              </a:rPr>
              <a:t>signal, loss, RTT, jitter, capacity</a:t>
            </a:r>
          </a:p>
        </p:txBody>
      </p:sp>
      <p:sp>
        <p:nvSpPr>
          <p:cNvPr name="Freeform 51" id="51"/>
          <p:cNvSpPr/>
          <p:nvPr/>
        </p:nvSpPr>
        <p:spPr>
          <a:xfrm flipH="false" flipV="false" rot="0">
            <a:off x="13923818" y="3640352"/>
            <a:ext cx="1760986" cy="1508614"/>
          </a:xfrm>
          <a:custGeom>
            <a:avLst/>
            <a:gdLst/>
            <a:ahLst/>
            <a:cxnLst/>
            <a:rect r="r" b="b" t="t" l="l"/>
            <a:pathLst>
              <a:path h="1508614" w="1760986">
                <a:moveTo>
                  <a:pt x="0" y="0"/>
                </a:moveTo>
                <a:lnTo>
                  <a:pt x="1760986" y="0"/>
                </a:lnTo>
                <a:lnTo>
                  <a:pt x="1760986" y="1508614"/>
                </a:lnTo>
                <a:lnTo>
                  <a:pt x="0" y="1508614"/>
                </a:lnTo>
                <a:lnTo>
                  <a:pt x="0" y="0"/>
                </a:lnTo>
                <a:close/>
              </a:path>
            </a:pathLst>
          </a:custGeom>
          <a:blipFill>
            <a:blip r:embed="rId24"/>
            <a:stretch>
              <a:fillRect l="0" t="0" r="0" b="0"/>
            </a:stretch>
          </a:blipFill>
        </p:spPr>
        <p:txBody>
          <a:bodyPr/>
          <a:p/>
        </p:txBody>
      </p:sp>
      <p:sp>
        <p:nvSpPr>
          <p:cNvPr name="TextBox 52" id="52"/>
          <p:cNvSpPr txBox="true"/>
          <p:nvPr/>
        </p:nvSpPr>
        <p:spPr>
          <a:xfrm rot="0">
            <a:off x="14375310" y="4305800"/>
            <a:ext cx="709311" cy="331477"/>
          </a:xfrm>
          <a:prstGeom prst="rect">
            <a:avLst/>
          </a:prstGeom>
        </p:spPr>
        <p:txBody>
          <a:bodyPr anchor="t" rtlCol="false" tIns="0" lIns="0" bIns="0" rIns="0">
            <a:spAutoFit/>
          </a:bodyPr>
          <a:lstStyle/>
          <a:p>
            <a:pPr algn="ctr">
              <a:lnSpc>
                <a:spcPts val="2741"/>
              </a:lnSpc>
            </a:pPr>
            <a:r>
              <a:rPr lang="en-US" sz="2109" spc="-42">
                <a:solidFill>
                  <a:srgbClr val="F6F6F6">
                    <a:alpha val="84706"/>
                  </a:srgbClr>
                </a:solidFill>
                <a:latin typeface="Anantason Condensed"/>
                <a:ea typeface="Anantason Condensed"/>
                <a:cs typeface="Anantason Condensed"/>
                <a:sym typeface="Anantason Condensed"/>
              </a:rPr>
              <a:t>Wi-Fi 6</a:t>
            </a:r>
          </a:p>
        </p:txBody>
      </p:sp>
      <p:sp>
        <p:nvSpPr>
          <p:cNvPr name="TextBox 53" id="53"/>
          <p:cNvSpPr txBox="true"/>
          <p:nvPr/>
        </p:nvSpPr>
        <p:spPr>
          <a:xfrm rot="0">
            <a:off x="15790820" y="4019799"/>
            <a:ext cx="1472682" cy="853243"/>
          </a:xfrm>
          <a:prstGeom prst="rect">
            <a:avLst/>
          </a:prstGeom>
        </p:spPr>
        <p:txBody>
          <a:bodyPr anchor="t" rtlCol="false" tIns="0" lIns="0" bIns="0" rIns="0">
            <a:spAutoFit/>
          </a:bodyPr>
          <a:lstStyle/>
          <a:p>
            <a:pPr algn="l">
              <a:lnSpc>
                <a:spcPts val="2319"/>
              </a:lnSpc>
            </a:pPr>
            <a:r>
              <a:rPr lang="en-US" sz="1784" spc="-35">
                <a:solidFill>
                  <a:srgbClr val="F6F6F6">
                    <a:alpha val="84706"/>
                  </a:srgbClr>
                </a:solidFill>
                <a:latin typeface="Anantason Condensed"/>
                <a:ea typeface="Anantason Condensed"/>
                <a:cs typeface="Anantason Condensed"/>
                <a:sym typeface="Anantason Condensed"/>
              </a:rPr>
              <a:t>link model:</a:t>
            </a:r>
          </a:p>
          <a:p>
            <a:pPr algn="l">
              <a:lnSpc>
                <a:spcPts val="2319"/>
              </a:lnSpc>
            </a:pPr>
            <a:r>
              <a:rPr lang="en-US" sz="1784" spc="-35">
                <a:solidFill>
                  <a:srgbClr val="F6F6F6">
                    <a:alpha val="84706"/>
                  </a:srgbClr>
                </a:solidFill>
                <a:latin typeface="Anantason Condensed"/>
                <a:ea typeface="Anantason Condensed"/>
                <a:cs typeface="Anantason Condensed"/>
                <a:sym typeface="Anantason Condensed"/>
              </a:rPr>
              <a:t>signal, loss, RTT, jitter, capacity</a:t>
            </a:r>
          </a:p>
        </p:txBody>
      </p:sp>
      <p:sp>
        <p:nvSpPr>
          <p:cNvPr name="Freeform 54" id="54"/>
          <p:cNvSpPr/>
          <p:nvPr/>
        </p:nvSpPr>
        <p:spPr>
          <a:xfrm flipH="false" flipV="false" rot="0">
            <a:off x="13923818" y="5138034"/>
            <a:ext cx="1760986" cy="1508614"/>
          </a:xfrm>
          <a:custGeom>
            <a:avLst/>
            <a:gdLst/>
            <a:ahLst/>
            <a:cxnLst/>
            <a:rect r="r" b="b" t="t" l="l"/>
            <a:pathLst>
              <a:path h="1508614" w="1760986">
                <a:moveTo>
                  <a:pt x="0" y="0"/>
                </a:moveTo>
                <a:lnTo>
                  <a:pt x="1760986" y="0"/>
                </a:lnTo>
                <a:lnTo>
                  <a:pt x="1760986" y="1508614"/>
                </a:lnTo>
                <a:lnTo>
                  <a:pt x="0" y="1508614"/>
                </a:lnTo>
                <a:lnTo>
                  <a:pt x="0" y="0"/>
                </a:lnTo>
                <a:close/>
              </a:path>
            </a:pathLst>
          </a:custGeom>
          <a:blipFill>
            <a:blip r:embed="rId25"/>
            <a:stretch>
              <a:fillRect l="0" t="0" r="0" b="0"/>
            </a:stretch>
          </a:blipFill>
        </p:spPr>
        <p:txBody>
          <a:bodyPr/>
          <a:p/>
        </p:txBody>
      </p:sp>
      <p:sp>
        <p:nvSpPr>
          <p:cNvPr name="TextBox 55" id="55"/>
          <p:cNvSpPr txBox="true"/>
          <p:nvPr/>
        </p:nvSpPr>
        <p:spPr>
          <a:xfrm rot="0">
            <a:off x="15790820" y="5420457"/>
            <a:ext cx="1472682" cy="853243"/>
          </a:xfrm>
          <a:prstGeom prst="rect">
            <a:avLst/>
          </a:prstGeom>
        </p:spPr>
        <p:txBody>
          <a:bodyPr anchor="t" rtlCol="false" tIns="0" lIns="0" bIns="0" rIns="0">
            <a:spAutoFit/>
          </a:bodyPr>
          <a:lstStyle/>
          <a:p>
            <a:pPr algn="l">
              <a:lnSpc>
                <a:spcPts val="2319"/>
              </a:lnSpc>
            </a:pPr>
            <a:r>
              <a:rPr lang="en-US" sz="1784" spc="-35">
                <a:solidFill>
                  <a:srgbClr val="F6F6F6">
                    <a:alpha val="84706"/>
                  </a:srgbClr>
                </a:solidFill>
                <a:latin typeface="Anantason Condensed"/>
                <a:ea typeface="Anantason Condensed"/>
                <a:cs typeface="Anantason Condensed"/>
                <a:sym typeface="Anantason Condensed"/>
              </a:rPr>
              <a:t>link model:</a:t>
            </a:r>
          </a:p>
          <a:p>
            <a:pPr algn="l">
              <a:lnSpc>
                <a:spcPts val="2319"/>
              </a:lnSpc>
            </a:pPr>
            <a:r>
              <a:rPr lang="en-US" sz="1784" spc="-35">
                <a:solidFill>
                  <a:srgbClr val="F6F6F6">
                    <a:alpha val="84706"/>
                  </a:srgbClr>
                </a:solidFill>
                <a:latin typeface="Anantason Condensed"/>
                <a:ea typeface="Anantason Condensed"/>
                <a:cs typeface="Anantason Condensed"/>
                <a:sym typeface="Anantason Condensed"/>
              </a:rPr>
              <a:t>signal, loss, RTT, jitter, capacity</a:t>
            </a:r>
          </a:p>
        </p:txBody>
      </p:sp>
      <p:sp>
        <p:nvSpPr>
          <p:cNvPr name="Freeform 56" id="56"/>
          <p:cNvSpPr/>
          <p:nvPr/>
        </p:nvSpPr>
        <p:spPr>
          <a:xfrm flipH="false" flipV="false" rot="0">
            <a:off x="13923818" y="6428009"/>
            <a:ext cx="1760986" cy="1508614"/>
          </a:xfrm>
          <a:custGeom>
            <a:avLst/>
            <a:gdLst/>
            <a:ahLst/>
            <a:cxnLst/>
            <a:rect r="r" b="b" t="t" l="l"/>
            <a:pathLst>
              <a:path h="1508614" w="1760986">
                <a:moveTo>
                  <a:pt x="0" y="0"/>
                </a:moveTo>
                <a:lnTo>
                  <a:pt x="1760986" y="0"/>
                </a:lnTo>
                <a:lnTo>
                  <a:pt x="1760986" y="1508614"/>
                </a:lnTo>
                <a:lnTo>
                  <a:pt x="0" y="1508614"/>
                </a:lnTo>
                <a:lnTo>
                  <a:pt x="0" y="0"/>
                </a:lnTo>
                <a:close/>
              </a:path>
            </a:pathLst>
          </a:custGeom>
          <a:blipFill>
            <a:blip r:embed="rId26"/>
            <a:stretch>
              <a:fillRect l="0" t="0" r="0" b="0"/>
            </a:stretch>
          </a:blipFill>
        </p:spPr>
        <p:txBody>
          <a:bodyPr/>
          <a:p/>
        </p:txBody>
      </p:sp>
      <p:sp>
        <p:nvSpPr>
          <p:cNvPr name="TextBox 57" id="57"/>
          <p:cNvSpPr txBox="true"/>
          <p:nvPr/>
        </p:nvSpPr>
        <p:spPr>
          <a:xfrm rot="0">
            <a:off x="14313933" y="6911325"/>
            <a:ext cx="832067" cy="670624"/>
          </a:xfrm>
          <a:prstGeom prst="rect">
            <a:avLst/>
          </a:prstGeom>
        </p:spPr>
        <p:txBody>
          <a:bodyPr anchor="t" rtlCol="false" tIns="0" lIns="0" bIns="0" rIns="0">
            <a:spAutoFit/>
          </a:bodyPr>
          <a:lstStyle/>
          <a:p>
            <a:pPr algn="ctr">
              <a:lnSpc>
                <a:spcPts val="2741"/>
              </a:lnSpc>
            </a:pPr>
            <a:r>
              <a:rPr lang="en-US" sz="2109" spc="-42">
                <a:solidFill>
                  <a:srgbClr val="F6F6F6">
                    <a:alpha val="84706"/>
                  </a:srgbClr>
                </a:solidFill>
                <a:latin typeface="Anantason Condensed"/>
                <a:ea typeface="Anantason Condensed"/>
                <a:cs typeface="Anantason Condensed"/>
                <a:sym typeface="Anantason Condensed"/>
              </a:rPr>
              <a:t>LEO</a:t>
            </a:r>
          </a:p>
          <a:p>
            <a:pPr algn="ctr">
              <a:lnSpc>
                <a:spcPts val="2741"/>
              </a:lnSpc>
            </a:pPr>
            <a:r>
              <a:rPr lang="en-US" sz="2109" spc="-42">
                <a:solidFill>
                  <a:srgbClr val="F6F6F6">
                    <a:alpha val="84706"/>
                  </a:srgbClr>
                </a:solidFill>
                <a:latin typeface="Anantason Condensed"/>
                <a:ea typeface="Anantason Condensed"/>
                <a:cs typeface="Anantason Condensed"/>
                <a:sym typeface="Anantason Condensed"/>
              </a:rPr>
              <a:t>satellite</a:t>
            </a:r>
          </a:p>
        </p:txBody>
      </p:sp>
      <p:sp>
        <p:nvSpPr>
          <p:cNvPr name="TextBox 58" id="58"/>
          <p:cNvSpPr txBox="true"/>
          <p:nvPr/>
        </p:nvSpPr>
        <p:spPr>
          <a:xfrm rot="0">
            <a:off x="15790820" y="6821116"/>
            <a:ext cx="1472682" cy="853243"/>
          </a:xfrm>
          <a:prstGeom prst="rect">
            <a:avLst/>
          </a:prstGeom>
        </p:spPr>
        <p:txBody>
          <a:bodyPr anchor="t" rtlCol="false" tIns="0" lIns="0" bIns="0" rIns="0">
            <a:spAutoFit/>
          </a:bodyPr>
          <a:lstStyle/>
          <a:p>
            <a:pPr algn="l">
              <a:lnSpc>
                <a:spcPts val="2319"/>
              </a:lnSpc>
            </a:pPr>
            <a:r>
              <a:rPr lang="en-US" sz="1784" spc="-35">
                <a:solidFill>
                  <a:srgbClr val="F6F6F6">
                    <a:alpha val="84706"/>
                  </a:srgbClr>
                </a:solidFill>
                <a:latin typeface="Anantason Condensed"/>
                <a:ea typeface="Anantason Condensed"/>
                <a:cs typeface="Anantason Condensed"/>
                <a:sym typeface="Anantason Condensed"/>
              </a:rPr>
              <a:t>link model:</a:t>
            </a:r>
          </a:p>
          <a:p>
            <a:pPr algn="l">
              <a:lnSpc>
                <a:spcPts val="2319"/>
              </a:lnSpc>
            </a:pPr>
            <a:r>
              <a:rPr lang="en-US" sz="1784" spc="-35">
                <a:solidFill>
                  <a:srgbClr val="F6F6F6">
                    <a:alpha val="84706"/>
                  </a:srgbClr>
                </a:solidFill>
                <a:latin typeface="Anantason Condensed"/>
                <a:ea typeface="Anantason Condensed"/>
                <a:cs typeface="Anantason Condensed"/>
                <a:sym typeface="Anantason Condensed"/>
              </a:rPr>
              <a:t>signal, loss, RTT, jitter, capacity</a:t>
            </a:r>
          </a:p>
        </p:txBody>
      </p:sp>
      <p:sp>
        <p:nvSpPr>
          <p:cNvPr name="Freeform 59" id="59"/>
          <p:cNvSpPr/>
          <p:nvPr/>
        </p:nvSpPr>
        <p:spPr>
          <a:xfrm flipH="false" flipV="false" rot="0">
            <a:off x="13278488" y="2776725"/>
            <a:ext cx="656268" cy="448211"/>
          </a:xfrm>
          <a:custGeom>
            <a:avLst/>
            <a:gdLst/>
            <a:ahLst/>
            <a:cxnLst/>
            <a:rect r="r" b="b" t="t" l="l"/>
            <a:pathLst>
              <a:path h="448211" w="656268">
                <a:moveTo>
                  <a:pt x="0" y="0"/>
                </a:moveTo>
                <a:lnTo>
                  <a:pt x="656268" y="0"/>
                </a:lnTo>
                <a:lnTo>
                  <a:pt x="656268" y="448211"/>
                </a:lnTo>
                <a:lnTo>
                  <a:pt x="0" y="448211"/>
                </a:lnTo>
                <a:lnTo>
                  <a:pt x="0" y="0"/>
                </a:lnTo>
                <a:close/>
              </a:path>
            </a:pathLst>
          </a:custGeom>
          <a:blipFill>
            <a:blip r:embed="rId27"/>
            <a:stretch>
              <a:fillRect l="0" t="0" r="0" b="0"/>
            </a:stretch>
          </a:blipFill>
        </p:spPr>
        <p:txBody>
          <a:bodyPr/>
          <a:p/>
        </p:txBody>
      </p:sp>
      <p:sp>
        <p:nvSpPr>
          <p:cNvPr name="Freeform 60" id="60"/>
          <p:cNvSpPr/>
          <p:nvPr/>
        </p:nvSpPr>
        <p:spPr>
          <a:xfrm flipH="false" flipV="false" rot="0">
            <a:off x="13278488" y="4285339"/>
            <a:ext cx="656268" cy="437279"/>
          </a:xfrm>
          <a:custGeom>
            <a:avLst/>
            <a:gdLst/>
            <a:ahLst/>
            <a:cxnLst/>
            <a:rect r="r" b="b" t="t" l="l"/>
            <a:pathLst>
              <a:path h="437279" w="656268">
                <a:moveTo>
                  <a:pt x="0" y="0"/>
                </a:moveTo>
                <a:lnTo>
                  <a:pt x="656268" y="0"/>
                </a:lnTo>
                <a:lnTo>
                  <a:pt x="656268" y="437279"/>
                </a:lnTo>
                <a:lnTo>
                  <a:pt x="0" y="437279"/>
                </a:lnTo>
                <a:lnTo>
                  <a:pt x="0" y="0"/>
                </a:lnTo>
                <a:close/>
              </a:path>
            </a:pathLst>
          </a:custGeom>
          <a:blipFill>
            <a:blip r:embed="rId28"/>
            <a:stretch>
              <a:fillRect l="0" t="0" r="0" b="0"/>
            </a:stretch>
          </a:blipFill>
        </p:spPr>
        <p:txBody>
          <a:bodyPr/>
          <a:p/>
        </p:txBody>
      </p:sp>
      <p:sp>
        <p:nvSpPr>
          <p:cNvPr name="Freeform 61" id="61"/>
          <p:cNvSpPr/>
          <p:nvPr/>
        </p:nvSpPr>
        <p:spPr>
          <a:xfrm flipH="false" flipV="false" rot="0">
            <a:off x="13278488" y="5564382"/>
            <a:ext cx="656268" cy="437279"/>
          </a:xfrm>
          <a:custGeom>
            <a:avLst/>
            <a:gdLst/>
            <a:ahLst/>
            <a:cxnLst/>
            <a:rect r="r" b="b" t="t" l="l"/>
            <a:pathLst>
              <a:path h="437279" w="656268">
                <a:moveTo>
                  <a:pt x="0" y="0"/>
                </a:moveTo>
                <a:lnTo>
                  <a:pt x="656268" y="0"/>
                </a:lnTo>
                <a:lnTo>
                  <a:pt x="656268" y="437279"/>
                </a:lnTo>
                <a:lnTo>
                  <a:pt x="0" y="437279"/>
                </a:lnTo>
                <a:lnTo>
                  <a:pt x="0" y="0"/>
                </a:lnTo>
                <a:close/>
              </a:path>
            </a:pathLst>
          </a:custGeom>
          <a:blipFill>
            <a:blip r:embed="rId29"/>
            <a:stretch>
              <a:fillRect l="0" t="0" r="0" b="0"/>
            </a:stretch>
          </a:blipFill>
        </p:spPr>
        <p:txBody>
          <a:bodyPr/>
          <a:p/>
        </p:txBody>
      </p:sp>
      <p:sp>
        <p:nvSpPr>
          <p:cNvPr name="Freeform 62" id="62"/>
          <p:cNvSpPr/>
          <p:nvPr/>
        </p:nvSpPr>
        <p:spPr>
          <a:xfrm flipH="false" flipV="false" rot="0">
            <a:off x="13278488" y="7062064"/>
            <a:ext cx="656268" cy="448211"/>
          </a:xfrm>
          <a:custGeom>
            <a:avLst/>
            <a:gdLst/>
            <a:ahLst/>
            <a:cxnLst/>
            <a:rect r="r" b="b" t="t" l="l"/>
            <a:pathLst>
              <a:path h="448211" w="656268">
                <a:moveTo>
                  <a:pt x="0" y="0"/>
                </a:moveTo>
                <a:lnTo>
                  <a:pt x="656268" y="0"/>
                </a:lnTo>
                <a:lnTo>
                  <a:pt x="656268" y="448211"/>
                </a:lnTo>
                <a:lnTo>
                  <a:pt x="0" y="448211"/>
                </a:lnTo>
                <a:lnTo>
                  <a:pt x="0" y="0"/>
                </a:lnTo>
                <a:close/>
              </a:path>
            </a:pathLst>
          </a:custGeom>
          <a:blipFill>
            <a:blip r:embed="rId30"/>
            <a:stretch>
              <a:fillRect l="0" t="0" r="0" b="0"/>
            </a:stretch>
          </a:blipFill>
        </p:spPr>
        <p:txBody>
          <a:bodyPr/>
          <a:p/>
        </p:txBody>
      </p:sp>
      <p:sp>
        <p:nvSpPr>
          <p:cNvPr name="Freeform 63" id="63"/>
          <p:cNvSpPr/>
          <p:nvPr/>
        </p:nvSpPr>
        <p:spPr>
          <a:xfrm flipH="false" flipV="false" rot="0">
            <a:off x="12840976" y="4493047"/>
            <a:ext cx="667206" cy="437279"/>
          </a:xfrm>
          <a:custGeom>
            <a:avLst/>
            <a:gdLst/>
            <a:ahLst/>
            <a:cxnLst/>
            <a:rect r="r" b="b" t="t" l="l"/>
            <a:pathLst>
              <a:path h="437279" w="667206">
                <a:moveTo>
                  <a:pt x="0" y="0"/>
                </a:moveTo>
                <a:lnTo>
                  <a:pt x="667206" y="0"/>
                </a:lnTo>
                <a:lnTo>
                  <a:pt x="667206" y="437279"/>
                </a:lnTo>
                <a:lnTo>
                  <a:pt x="0" y="437279"/>
                </a:lnTo>
                <a:lnTo>
                  <a:pt x="0" y="0"/>
                </a:lnTo>
                <a:close/>
              </a:path>
            </a:pathLst>
          </a:custGeom>
          <a:blipFill>
            <a:blip r:embed="rId31"/>
            <a:stretch>
              <a:fillRect l="0" t="0" r="0" b="0"/>
            </a:stretch>
          </a:blipFill>
        </p:spPr>
        <p:txBody>
          <a:bodyPr/>
          <a:p/>
        </p:txBody>
      </p:sp>
      <p:sp>
        <p:nvSpPr>
          <p:cNvPr name="TextBox 64" id="64"/>
          <p:cNvSpPr txBox="true"/>
          <p:nvPr/>
        </p:nvSpPr>
        <p:spPr>
          <a:xfrm rot="0">
            <a:off x="4076881" y="7875365"/>
            <a:ext cx="4687308" cy="298226"/>
          </a:xfrm>
          <a:prstGeom prst="rect">
            <a:avLst/>
          </a:prstGeom>
        </p:spPr>
        <p:txBody>
          <a:bodyPr anchor="t" rtlCol="false" tIns="0" lIns="0" bIns="0" rIns="0">
            <a:spAutoFit/>
          </a:bodyPr>
          <a:lstStyle/>
          <a:p>
            <a:pPr algn="ctr">
              <a:lnSpc>
                <a:spcPts val="2490"/>
              </a:lnSpc>
            </a:pPr>
            <a:r>
              <a:rPr lang="en-US" sz="1916" spc="-38">
                <a:solidFill>
                  <a:srgbClr val="F6F6F6">
                    <a:alpha val="84706"/>
                  </a:srgbClr>
                </a:solidFill>
                <a:latin typeface="Anantason Condensed"/>
                <a:ea typeface="Anantason Condensed"/>
                <a:cs typeface="Anantason Condensed"/>
                <a:sym typeface="Anantason Condensed"/>
              </a:rPr>
              <a:t>it records each decision with the values at that tick:</a:t>
            </a:r>
          </a:p>
        </p:txBody>
      </p:sp>
      <p:sp>
        <p:nvSpPr>
          <p:cNvPr name="TextBox 65" id="65"/>
          <p:cNvSpPr txBox="true"/>
          <p:nvPr/>
        </p:nvSpPr>
        <p:spPr>
          <a:xfrm rot="0">
            <a:off x="11289692" y="8327190"/>
            <a:ext cx="648877" cy="298226"/>
          </a:xfrm>
          <a:prstGeom prst="rect">
            <a:avLst/>
          </a:prstGeom>
        </p:spPr>
        <p:txBody>
          <a:bodyPr anchor="t" rtlCol="false" tIns="0" lIns="0" bIns="0" rIns="0">
            <a:spAutoFit/>
          </a:bodyPr>
          <a:lstStyle/>
          <a:p>
            <a:pPr algn="ctr">
              <a:lnSpc>
                <a:spcPts val="2490"/>
              </a:lnSpc>
            </a:pPr>
            <a:r>
              <a:rPr lang="en-US" sz="1916" spc="-38">
                <a:solidFill>
                  <a:srgbClr val="F6F6F6">
                    <a:alpha val="84706"/>
                  </a:srgbClr>
                </a:solidFill>
                <a:latin typeface="Anantason Condensed"/>
                <a:ea typeface="Anantason Condensed"/>
                <a:cs typeface="Anantason Condensed"/>
                <a:sym typeface="Anantason Condensed"/>
              </a:rPr>
              <a:t>reason</a:t>
            </a:r>
          </a:p>
        </p:txBody>
      </p:sp>
      <p:sp>
        <p:nvSpPr>
          <p:cNvPr name="TextBox 66" id="66"/>
          <p:cNvSpPr txBox="true"/>
          <p:nvPr/>
        </p:nvSpPr>
        <p:spPr>
          <a:xfrm rot="0">
            <a:off x="14406580" y="5706458"/>
            <a:ext cx="646773" cy="331477"/>
          </a:xfrm>
          <a:prstGeom prst="rect">
            <a:avLst/>
          </a:prstGeom>
        </p:spPr>
        <p:txBody>
          <a:bodyPr anchor="t" rtlCol="false" tIns="0" lIns="0" bIns="0" rIns="0">
            <a:spAutoFit/>
          </a:bodyPr>
          <a:lstStyle/>
          <a:p>
            <a:pPr algn="ctr">
              <a:lnSpc>
                <a:spcPts val="2741"/>
              </a:lnSpc>
            </a:pPr>
            <a:r>
              <a:rPr lang="en-US" sz="2109" spc="-42">
                <a:solidFill>
                  <a:srgbClr val="F6F6F6">
                    <a:alpha val="84706"/>
                  </a:srgbClr>
                </a:solidFill>
                <a:latin typeface="Anantason Condensed"/>
                <a:ea typeface="Anantason Condensed"/>
                <a:cs typeface="Anantason Condensed"/>
                <a:sym typeface="Anantason Condensed"/>
              </a:rPr>
              <a:t>5G SA</a:t>
            </a:r>
          </a:p>
        </p:txBody>
      </p:sp>
      <p:sp>
        <p:nvSpPr>
          <p:cNvPr name="TextBox 67" id="67"/>
          <p:cNvSpPr txBox="true"/>
          <p:nvPr/>
        </p:nvSpPr>
        <p:spPr>
          <a:xfrm rot="0">
            <a:off x="3063899" y="8327190"/>
            <a:ext cx="491244" cy="298226"/>
          </a:xfrm>
          <a:prstGeom prst="rect">
            <a:avLst/>
          </a:prstGeom>
        </p:spPr>
        <p:txBody>
          <a:bodyPr anchor="t" rtlCol="false" tIns="0" lIns="0" bIns="0" rIns="0">
            <a:spAutoFit/>
          </a:bodyPr>
          <a:lstStyle/>
          <a:p>
            <a:pPr algn="ctr">
              <a:lnSpc>
                <a:spcPts val="2490"/>
              </a:lnSpc>
            </a:pPr>
            <a:r>
              <a:rPr lang="en-US" sz="1916" spc="-38">
                <a:solidFill>
                  <a:srgbClr val="F6F6F6">
                    <a:alpha val="84706"/>
                  </a:srgbClr>
                </a:solidFill>
                <a:latin typeface="Anantason Condensed"/>
                <a:ea typeface="Anantason Condensed"/>
                <a:cs typeface="Anantason Condensed"/>
                <a:sym typeface="Anantason Condensed"/>
              </a:rPr>
              <a:t>trend</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420201" y="479553"/>
            <a:ext cx="14236978" cy="851044"/>
          </a:xfrm>
          <a:prstGeom prst="rect">
            <a:avLst/>
          </a:prstGeom>
        </p:spPr>
        <p:txBody>
          <a:bodyPr anchor="t" rtlCol="false" tIns="0" lIns="0" bIns="0" rIns="0">
            <a:spAutoFit/>
          </a:bodyPr>
          <a:lstStyle/>
          <a:p>
            <a:pPr algn="l">
              <a:lnSpc>
                <a:spcPts val="6385"/>
              </a:lnSpc>
            </a:pPr>
            <a:r>
              <a:rPr lang="en-US" sz="6385" spc="-127" b="true">
                <a:solidFill>
                  <a:srgbClr val="F4F4F4"/>
                </a:solidFill>
                <a:latin typeface="Anantason Condensed Bold"/>
                <a:ea typeface="Anantason Condensed Bold"/>
                <a:cs typeface="Anantason Condensed Bold"/>
                <a:sym typeface="Anantason Condensed Bold"/>
              </a:rPr>
              <a:t>Prototype, simulation and model (criterion 03)</a:t>
            </a:r>
          </a:p>
        </p:txBody>
      </p:sp>
      <p:sp>
        <p:nvSpPr>
          <p:cNvPr name="TextBox 4" id="4">
            <a:hlinkClick r:id="rId8"/>
          </p:cNvPr>
          <p:cNvSpPr txBox="true"/>
          <p:nvPr/>
        </p:nvSpPr>
        <p:spPr>
          <a:xfrm rot="0">
            <a:off x="552659" y="1862178"/>
            <a:ext cx="3670083" cy="492751"/>
          </a:xfrm>
          <a:prstGeom prst="rect">
            <a:avLst/>
          </a:prstGeom>
        </p:spPr>
        <p:txBody>
          <a:bodyPr anchor="t" rtlCol="false" tIns="0" lIns="0" bIns="0" rIns="0">
            <a:spAutoFit/>
          </a:bodyPr>
          <a:lstStyle/>
          <a:p>
            <a:pPr algn="l">
              <a:lnSpc>
                <a:spcPts val="3755"/>
              </a:lnSpc>
            </a:pPr>
            <a:r>
              <a:rPr lang="en-US" sz="3755" spc="-36" b="true">
                <a:solidFill>
                  <a:srgbClr val="0CC0DF"/>
                </a:solidFill>
                <a:latin typeface="Anantason Condensed Bold"/>
                <a:ea typeface="Anantason Condensed Bold"/>
                <a:cs typeface="Anantason Condensed Bold"/>
                <a:sym typeface="Anantason Condensed Bold"/>
                <a:hlinkClick r:id="rId8"/>
              </a:rPr>
              <a:t>flexipath.vercel.app</a:t>
            </a:r>
          </a:p>
        </p:txBody>
      </p:sp>
      <p:sp>
        <p:nvSpPr>
          <p:cNvPr name="TextBox 5" id="5"/>
          <p:cNvSpPr txBox="true"/>
          <p:nvPr/>
        </p:nvSpPr>
        <p:spPr>
          <a:xfrm rot="0">
            <a:off x="589359" y="2421743"/>
            <a:ext cx="5331023" cy="668712"/>
          </a:xfrm>
          <a:prstGeom prst="rect">
            <a:avLst/>
          </a:prstGeom>
        </p:spPr>
        <p:txBody>
          <a:bodyPr anchor="t" rtlCol="false" tIns="0" lIns="0" bIns="0" rIns="0">
            <a:spAutoFit/>
          </a:bodyPr>
          <a:lstStyle/>
          <a:p>
            <a:pPr algn="l">
              <a:lnSpc>
                <a:spcPts val="2786"/>
              </a:lnSpc>
            </a:pPr>
            <a:r>
              <a:rPr lang="en-US" sz="2321" spc="-22">
                <a:solidFill>
                  <a:srgbClr val="FFFFFF">
                    <a:alpha val="80000"/>
                  </a:srgbClr>
                </a:solidFill>
                <a:latin typeface="Anantason Condensed"/>
                <a:ea typeface="Anantason Condensed"/>
                <a:cs typeface="Anantason Condensed"/>
                <a:sym typeface="Anantason Condensed"/>
              </a:rPr>
              <a:t>interactive 3D digital twin with mission and advanced views</a:t>
            </a:r>
          </a:p>
        </p:txBody>
      </p:sp>
      <p:sp>
        <p:nvSpPr>
          <p:cNvPr name="Freeform 6" id="6"/>
          <p:cNvSpPr/>
          <p:nvPr/>
        </p:nvSpPr>
        <p:spPr>
          <a:xfrm flipH="false" flipV="false" rot="0">
            <a:off x="426574" y="3214004"/>
            <a:ext cx="5676718" cy="218640"/>
          </a:xfrm>
          <a:custGeom>
            <a:avLst/>
            <a:gdLst/>
            <a:ahLst/>
            <a:cxnLst/>
            <a:rect r="r" b="b" t="t" l="l"/>
            <a:pathLst>
              <a:path h="218640" w="5676718">
                <a:moveTo>
                  <a:pt x="0" y="0"/>
                </a:moveTo>
                <a:lnTo>
                  <a:pt x="5676718" y="0"/>
                </a:lnTo>
                <a:lnTo>
                  <a:pt x="5676718" y="218640"/>
                </a:lnTo>
                <a:lnTo>
                  <a:pt x="0" y="218640"/>
                </a:lnTo>
                <a:lnTo>
                  <a:pt x="0" y="0"/>
                </a:lnTo>
                <a:close/>
              </a:path>
            </a:pathLst>
          </a:custGeom>
          <a:blipFill>
            <a:blip r:embed="rId3"/>
            <a:stretch>
              <a:fillRect l="0" t="0" r="0" b="0"/>
            </a:stretch>
          </a:blipFill>
        </p:spPr>
        <p:txBody>
          <a:bodyPr/>
          <a:p/>
        </p:txBody>
      </p:sp>
      <p:sp>
        <p:nvSpPr>
          <p:cNvPr name="TextBox 7" id="7"/>
          <p:cNvSpPr txBox="true"/>
          <p:nvPr/>
        </p:nvSpPr>
        <p:spPr>
          <a:xfrm rot="0">
            <a:off x="569946" y="3600854"/>
            <a:ext cx="1941294" cy="414310"/>
          </a:xfrm>
          <a:prstGeom prst="rect">
            <a:avLst/>
          </a:prstGeom>
        </p:spPr>
        <p:txBody>
          <a:bodyPr anchor="t" rtlCol="false" tIns="0" lIns="0" bIns="0" rIns="0">
            <a:spAutoFit/>
          </a:bodyPr>
          <a:lstStyle/>
          <a:p>
            <a:pPr algn="l">
              <a:lnSpc>
                <a:spcPts val="3102"/>
              </a:lnSpc>
            </a:pPr>
            <a:r>
              <a:rPr lang="en-US" sz="3102" spc="-30">
                <a:solidFill>
                  <a:srgbClr val="0CC0DF"/>
                </a:solidFill>
                <a:latin typeface="Anantason Condensed"/>
                <a:ea typeface="Anantason Condensed"/>
                <a:cs typeface="Anantason Condensed"/>
                <a:sym typeface="Anantason Condensed"/>
              </a:rPr>
              <a:t>guided demo</a:t>
            </a:r>
          </a:p>
        </p:txBody>
      </p:sp>
      <p:sp>
        <p:nvSpPr>
          <p:cNvPr name="TextBox 8" id="8"/>
          <p:cNvSpPr txBox="true"/>
          <p:nvPr/>
        </p:nvSpPr>
        <p:spPr>
          <a:xfrm rot="0">
            <a:off x="589359" y="4108557"/>
            <a:ext cx="5331023" cy="668712"/>
          </a:xfrm>
          <a:prstGeom prst="rect">
            <a:avLst/>
          </a:prstGeom>
        </p:spPr>
        <p:txBody>
          <a:bodyPr anchor="t" rtlCol="false" tIns="0" lIns="0" bIns="0" rIns="0">
            <a:spAutoFit/>
          </a:bodyPr>
          <a:lstStyle/>
          <a:p>
            <a:pPr algn="l">
              <a:lnSpc>
                <a:spcPts val="2786"/>
              </a:lnSpc>
            </a:pPr>
            <a:r>
              <a:rPr lang="en-US" sz="2321" spc="-22">
                <a:solidFill>
                  <a:srgbClr val="FFFFFF">
                    <a:alpha val="80000"/>
                  </a:srgbClr>
                </a:solidFill>
                <a:latin typeface="Anantason Condensed"/>
                <a:ea typeface="Anantason Condensed"/>
                <a:cs typeface="Anantason Condensed"/>
                <a:sym typeface="Anantason Condensed"/>
              </a:rPr>
              <a:t>pauses at each real decision, explains what happened and which panel shows it</a:t>
            </a:r>
          </a:p>
        </p:txBody>
      </p:sp>
      <p:sp>
        <p:nvSpPr>
          <p:cNvPr name="Freeform 9" id="9"/>
          <p:cNvSpPr/>
          <p:nvPr/>
        </p:nvSpPr>
        <p:spPr>
          <a:xfrm flipH="false" flipV="false" rot="0">
            <a:off x="426574" y="4919394"/>
            <a:ext cx="5676718" cy="229572"/>
          </a:xfrm>
          <a:custGeom>
            <a:avLst/>
            <a:gdLst/>
            <a:ahLst/>
            <a:cxnLst/>
            <a:rect r="r" b="b" t="t" l="l"/>
            <a:pathLst>
              <a:path h="229572" w="5676718">
                <a:moveTo>
                  <a:pt x="0" y="0"/>
                </a:moveTo>
                <a:lnTo>
                  <a:pt x="5676718" y="0"/>
                </a:lnTo>
                <a:lnTo>
                  <a:pt x="5676718" y="229572"/>
                </a:lnTo>
                <a:lnTo>
                  <a:pt x="0" y="229572"/>
                </a:lnTo>
                <a:lnTo>
                  <a:pt x="0" y="0"/>
                </a:lnTo>
                <a:close/>
              </a:path>
            </a:pathLst>
          </a:custGeom>
          <a:blipFill>
            <a:blip r:embed="rId4"/>
            <a:stretch>
              <a:fillRect l="0" t="0" r="0" b="0"/>
            </a:stretch>
          </a:blipFill>
        </p:spPr>
        <p:txBody>
          <a:bodyPr/>
          <a:p/>
        </p:txBody>
      </p:sp>
      <p:sp>
        <p:nvSpPr>
          <p:cNvPr name="TextBox 10" id="10"/>
          <p:cNvSpPr txBox="true"/>
          <p:nvPr/>
        </p:nvSpPr>
        <p:spPr>
          <a:xfrm rot="0">
            <a:off x="549943" y="5197303"/>
            <a:ext cx="5461000" cy="414310"/>
          </a:xfrm>
          <a:prstGeom prst="rect">
            <a:avLst/>
          </a:prstGeom>
        </p:spPr>
        <p:txBody>
          <a:bodyPr anchor="t" rtlCol="false" tIns="0" lIns="0" bIns="0" rIns="0">
            <a:spAutoFit/>
          </a:bodyPr>
          <a:lstStyle/>
          <a:p>
            <a:pPr algn="l">
              <a:lnSpc>
                <a:spcPts val="3102"/>
              </a:lnSpc>
            </a:pPr>
            <a:r>
              <a:rPr lang="en-US" sz="3102" spc="-30">
                <a:solidFill>
                  <a:srgbClr val="0CC0DF"/>
                </a:solidFill>
                <a:latin typeface="Anantason Condensed"/>
                <a:ea typeface="Anantason Condensed"/>
                <a:cs typeface="Anantason Condensed"/>
                <a:sym typeface="Anantason Condensed"/>
              </a:rPr>
              <a:t>deterministic 10 Hz engine</a:t>
            </a:r>
          </a:p>
        </p:txBody>
      </p:sp>
      <p:sp>
        <p:nvSpPr>
          <p:cNvPr name="TextBox 11" id="11"/>
          <p:cNvSpPr txBox="true"/>
          <p:nvPr/>
        </p:nvSpPr>
        <p:spPr>
          <a:xfrm rot="0">
            <a:off x="589359" y="5655220"/>
            <a:ext cx="5089922" cy="673931"/>
          </a:xfrm>
          <a:prstGeom prst="rect">
            <a:avLst/>
          </a:prstGeom>
        </p:spPr>
        <p:txBody>
          <a:bodyPr anchor="t" rtlCol="false" tIns="0" lIns="0" bIns="0" rIns="0">
            <a:spAutoFit/>
          </a:bodyPr>
          <a:lstStyle/>
          <a:p>
            <a:pPr algn="l">
              <a:lnSpc>
                <a:spcPts val="2735"/>
              </a:lnSpc>
            </a:pPr>
            <a:r>
              <a:rPr lang="en-US" sz="2188" spc="-43">
                <a:solidFill>
                  <a:srgbClr val="FFFFFF">
                    <a:alpha val="80000"/>
                  </a:srgbClr>
                </a:solidFill>
                <a:latin typeface="Anantason Condensed"/>
                <a:ea typeface="Anantason Condensed"/>
                <a:cs typeface="Anantason Condensed"/>
                <a:sym typeface="Anantason Condensed"/>
              </a:rPr>
              <a:t>seeded random streams with fading, capacity, loss, RTT, jitter, TCP and radio models</a:t>
            </a:r>
          </a:p>
        </p:txBody>
      </p:sp>
      <p:sp>
        <p:nvSpPr>
          <p:cNvPr name="Freeform 12" id="12"/>
          <p:cNvSpPr/>
          <p:nvPr/>
        </p:nvSpPr>
        <p:spPr>
          <a:xfrm flipH="false" flipV="false" rot="0">
            <a:off x="426574" y="6428009"/>
            <a:ext cx="5676718" cy="218640"/>
          </a:xfrm>
          <a:custGeom>
            <a:avLst/>
            <a:gdLst/>
            <a:ahLst/>
            <a:cxnLst/>
            <a:rect r="r" b="b" t="t" l="l"/>
            <a:pathLst>
              <a:path h="218640" w="5676718">
                <a:moveTo>
                  <a:pt x="0" y="0"/>
                </a:moveTo>
                <a:lnTo>
                  <a:pt x="5676718" y="0"/>
                </a:lnTo>
                <a:lnTo>
                  <a:pt x="5676718" y="218639"/>
                </a:lnTo>
                <a:lnTo>
                  <a:pt x="0" y="218639"/>
                </a:lnTo>
                <a:lnTo>
                  <a:pt x="0" y="0"/>
                </a:lnTo>
                <a:close/>
              </a:path>
            </a:pathLst>
          </a:custGeom>
          <a:blipFill>
            <a:blip r:embed="rId5"/>
            <a:stretch>
              <a:fillRect l="0" t="0" r="0" b="0"/>
            </a:stretch>
          </a:blipFill>
        </p:spPr>
        <p:txBody>
          <a:bodyPr/>
          <a:p/>
        </p:txBody>
      </p:sp>
      <p:sp>
        <p:nvSpPr>
          <p:cNvPr name="TextBox 13" id="13"/>
          <p:cNvSpPr txBox="true"/>
          <p:nvPr/>
        </p:nvSpPr>
        <p:spPr>
          <a:xfrm rot="0">
            <a:off x="556032" y="6650010"/>
            <a:ext cx="3332743" cy="488794"/>
          </a:xfrm>
          <a:prstGeom prst="rect">
            <a:avLst/>
          </a:prstGeom>
        </p:spPr>
        <p:txBody>
          <a:bodyPr anchor="t" rtlCol="false" tIns="0" lIns="0" bIns="0" rIns="0">
            <a:spAutoFit/>
          </a:bodyPr>
          <a:lstStyle/>
          <a:p>
            <a:pPr algn="l">
              <a:lnSpc>
                <a:spcPts val="4042"/>
              </a:lnSpc>
            </a:pPr>
            <a:r>
              <a:rPr lang="en-US" sz="3234" spc="-64" b="true">
                <a:solidFill>
                  <a:srgbClr val="099DCD"/>
                </a:solidFill>
                <a:latin typeface="Anantason Condensed Bold"/>
                <a:ea typeface="Anantason Condensed Bold"/>
                <a:cs typeface="Anantason Condensed Bold"/>
                <a:sym typeface="Anantason Condensed Bold"/>
              </a:rPr>
              <a:t>headless benchmark</a:t>
            </a:r>
          </a:p>
        </p:txBody>
      </p:sp>
      <p:sp>
        <p:nvSpPr>
          <p:cNvPr name="TextBox 14" id="14"/>
          <p:cNvSpPr txBox="true"/>
          <p:nvPr/>
        </p:nvSpPr>
        <p:spPr>
          <a:xfrm rot="0">
            <a:off x="589359" y="7164929"/>
            <a:ext cx="5089922" cy="1013079"/>
          </a:xfrm>
          <a:prstGeom prst="rect">
            <a:avLst/>
          </a:prstGeom>
        </p:spPr>
        <p:txBody>
          <a:bodyPr anchor="t" rtlCol="false" tIns="0" lIns="0" bIns="0" rIns="0">
            <a:spAutoFit/>
          </a:bodyPr>
          <a:lstStyle/>
          <a:p>
            <a:pPr algn="l">
              <a:lnSpc>
                <a:spcPts val="2735"/>
              </a:lnSpc>
            </a:pPr>
            <a:r>
              <a:rPr lang="en-US" sz="2188" spc="-43">
                <a:solidFill>
                  <a:srgbClr val="FFFFFF">
                    <a:alpha val="80000"/>
                  </a:srgbClr>
                </a:solidFill>
                <a:latin typeface="Anantason Condensed"/>
                <a:ea typeface="Anantason Condensed"/>
                <a:cs typeface="Anantason Condensed"/>
                <a:sym typeface="Anantason Condensed"/>
              </a:rPr>
              <a:t>scenarios A–H × 5 seeds × 4 speeds = 160 paired runs per stack, plus baselines and ablations; CSV output with 95 % CIs</a:t>
            </a:r>
          </a:p>
        </p:txBody>
      </p:sp>
      <p:sp>
        <p:nvSpPr>
          <p:cNvPr name="Freeform 15" id="15"/>
          <p:cNvSpPr/>
          <p:nvPr/>
        </p:nvSpPr>
        <p:spPr>
          <a:xfrm flipH="false" flipV="false" rot="0">
            <a:off x="426574" y="8133399"/>
            <a:ext cx="5676718" cy="229572"/>
          </a:xfrm>
          <a:custGeom>
            <a:avLst/>
            <a:gdLst/>
            <a:ahLst/>
            <a:cxnLst/>
            <a:rect r="r" b="b" t="t" l="l"/>
            <a:pathLst>
              <a:path h="229572" w="5676718">
                <a:moveTo>
                  <a:pt x="0" y="0"/>
                </a:moveTo>
                <a:lnTo>
                  <a:pt x="5676718" y="0"/>
                </a:lnTo>
                <a:lnTo>
                  <a:pt x="5676718" y="229571"/>
                </a:lnTo>
                <a:lnTo>
                  <a:pt x="0" y="229571"/>
                </a:lnTo>
                <a:lnTo>
                  <a:pt x="0" y="0"/>
                </a:lnTo>
                <a:close/>
              </a:path>
            </a:pathLst>
          </a:custGeom>
          <a:blipFill>
            <a:blip r:embed="rId6"/>
            <a:stretch>
              <a:fillRect l="0" t="0" r="0" b="0"/>
            </a:stretch>
          </a:blipFill>
        </p:spPr>
        <p:txBody>
          <a:bodyPr/>
          <a:p/>
        </p:txBody>
      </p:sp>
      <p:sp>
        <p:nvSpPr>
          <p:cNvPr name="TextBox 16" id="16"/>
          <p:cNvSpPr txBox="true"/>
          <p:nvPr/>
        </p:nvSpPr>
        <p:spPr>
          <a:xfrm rot="0">
            <a:off x="562726" y="8472372"/>
            <a:ext cx="2663345" cy="488794"/>
          </a:xfrm>
          <a:prstGeom prst="rect">
            <a:avLst/>
          </a:prstGeom>
        </p:spPr>
        <p:txBody>
          <a:bodyPr anchor="t" rtlCol="false" tIns="0" lIns="0" bIns="0" rIns="0">
            <a:spAutoFit/>
          </a:bodyPr>
          <a:lstStyle/>
          <a:p>
            <a:pPr algn="l">
              <a:lnSpc>
                <a:spcPts val="4042"/>
              </a:lnSpc>
            </a:pPr>
            <a:r>
              <a:rPr lang="en-US" sz="3234" spc="-64" b="true">
                <a:solidFill>
                  <a:srgbClr val="099DCD"/>
                </a:solidFill>
                <a:latin typeface="Anantason Condensed Bold"/>
                <a:ea typeface="Anantason Condensed Bold"/>
                <a:cs typeface="Anantason Condensed Bold"/>
                <a:sym typeface="Anantason Condensed Bold"/>
              </a:rPr>
              <a:t>published model</a:t>
            </a:r>
          </a:p>
        </p:txBody>
      </p:sp>
      <p:sp>
        <p:nvSpPr>
          <p:cNvPr name="TextBox 17" id="17"/>
          <p:cNvSpPr txBox="true"/>
          <p:nvPr/>
        </p:nvSpPr>
        <p:spPr>
          <a:xfrm rot="0">
            <a:off x="589359" y="8972230"/>
            <a:ext cx="5089922" cy="1013079"/>
          </a:xfrm>
          <a:prstGeom prst="rect">
            <a:avLst/>
          </a:prstGeom>
        </p:spPr>
        <p:txBody>
          <a:bodyPr anchor="t" rtlCol="false" tIns="0" lIns="0" bIns="0" rIns="0">
            <a:spAutoFit/>
          </a:bodyPr>
          <a:lstStyle/>
          <a:p>
            <a:pPr algn="l">
              <a:lnSpc>
                <a:spcPts val="2735"/>
              </a:lnSpc>
            </a:pPr>
            <a:r>
              <a:rPr lang="en-US" sz="2188" spc="-43">
                <a:solidFill>
                  <a:srgbClr val="FFFFFF">
                    <a:alpha val="80000"/>
                  </a:srgbClr>
                </a:solidFill>
                <a:latin typeface="Anantason Condensed"/>
                <a:ea typeface="Anantason Condensed"/>
                <a:cs typeface="Anantason Condensed"/>
                <a:sym typeface="Anantason Condensed"/>
              </a:rPr>
              <a:t>we check parameters against published measurements and test the 100 ms modem wake at 260 ms as a sensitivity run</a:t>
            </a:r>
          </a:p>
        </p:txBody>
      </p:sp>
      <p:sp>
        <p:nvSpPr>
          <p:cNvPr name="Freeform 18" id="18" descr="FlexiPath simulator, Mission view: the FlexiPath and legacy drones on the same seed, with the decision loop, decision card and scoreboard"/>
          <p:cNvSpPr/>
          <p:nvPr/>
        </p:nvSpPr>
        <p:spPr>
          <a:xfrm flipH="false" flipV="false" rot="0">
            <a:off x="6305550" y="1809750"/>
            <a:ext cx="11620500" cy="6536531"/>
          </a:xfrm>
          <a:custGeom>
            <a:avLst/>
            <a:gdLst/>
            <a:ahLst/>
            <a:cxnLst/>
            <a:rect r="r" b="b" t="t" l="l"/>
            <a:pathLst>
              <a:path h="6536531" w="11620500">
                <a:moveTo>
                  <a:pt x="0" y="0"/>
                </a:moveTo>
                <a:lnTo>
                  <a:pt x="11620500" y="0"/>
                </a:lnTo>
                <a:lnTo>
                  <a:pt x="11620500" y="6536531"/>
                </a:lnTo>
                <a:lnTo>
                  <a:pt x="0" y="6536531"/>
                </a:lnTo>
                <a:lnTo>
                  <a:pt x="0" y="0"/>
                </a:lnTo>
                <a:close/>
              </a:path>
            </a:pathLst>
          </a:custGeom>
          <a:blipFill>
            <a:blip r:embed="rId7"/>
            <a:stretch>
              <a:fillRect l="0" t="0" r="0" b="0"/>
            </a:stretch>
          </a:blipFill>
        </p:spPr>
        <p:txBody>
          <a:bodyPr/>
          <a:p/>
        </p:txBody>
      </p:sp>
      <p:sp>
        <p:nvSpPr>
          <p:cNvPr name="TextBox 19" id="19"/>
          <p:cNvSpPr txBox="true"/>
          <p:nvPr/>
        </p:nvSpPr>
        <p:spPr>
          <a:xfrm rot="0">
            <a:off x="6286500" y="8534400"/>
            <a:ext cx="11620500" cy="550545"/>
          </a:xfrm>
          <a:prstGeom prst="rect">
            <a:avLst/>
          </a:prstGeom>
        </p:spPr>
        <p:txBody>
          <a:bodyPr anchor="t" rtlCol="false" tIns="0" lIns="0" bIns="0" rIns="0">
            <a:spAutoFit/>
          </a:bodyPr>
          <a:lstStyle/>
          <a:p>
            <a:pPr algn="l">
              <a:lnSpc>
                <a:spcPts val="2145"/>
              </a:lnSpc>
            </a:pPr>
            <a:r>
              <a:rPr lang="en-US" sz="1650">
                <a:solidFill>
                  <a:srgbClr val="D7E3EE"/>
                </a:solidFill>
                <a:latin typeface="Arimo"/>
                <a:ea typeface="Arimo"/>
                <a:cs typeface="Arimo"/>
                <a:sym typeface="Arimo"/>
              </a:rPr>
              <a:t>Mission view of the live prototype. The FlexiPath drone (cyan) and the legacy-stack drone (crimson) fly with the same seed and radio conditions. The decision loop, decision card and scoreboard are around the twin.</a:t>
            </a:r>
          </a:p>
        </p:txBody>
      </p:sp>
      <p:sp>
        <p:nvSpPr>
          <p:cNvPr id="20" name="Links"/>
          <p:cNvSpPr txBox="1"/>
          <p:nvPr/>
        </p:nvSpPr>
        <p:spPr>
          <a:xfrm>
            <a:off x="6286500" y="9194800"/>
            <a:ext cx="11620500" cy="330200"/>
          </a:xfrm>
          <a:prstGeom prst="rect">
            <a:avLst/>
          </a:prstGeom>
          <a:noFill/>
        </p:spPr>
        <p:txBody>
          <a:bodyPr wrap="none" lIns="0" rIns="0" tIns="0" bIns="0">
            <a:spAutoFit/>
          </a:bodyPr>
          <a:lstStyle/>
          <a:p>
            <a:pPr algn="l"/>
            <a:r>
              <a:rPr sz="1700" b="0">
                <a:solidFill>
                  <a:srgbClr val="D7E3EE"/>
                </a:solidFill>
                <a:latin typeface="Anantason Condensed"/>
              </a:rPr>
              <a:t>▶  Try it yourself:  </a:t>
            </a:r>
            <a:r>
              <a:rPr sz="1700" b="1">
                <a:solidFill>
                  <a:srgbClr val="0CC0DF"/>
                </a:solidFill>
                <a:latin typeface="Anantason Condensed Bold"/>
                <a:hlinkClick r:id="rId8"/>
              </a:rPr>
              <a:t>flexipath.vercel.app</a:t>
            </a:r>
            <a:r>
              <a:rPr sz="1700" b="0">
                <a:solidFill>
                  <a:srgbClr val="D7E3EE"/>
                </a:solidFill>
                <a:latin typeface="Anantason Condensed"/>
              </a:rPr>
              <a:t>   ·   the guided demo, the simulator and the 2-minute video</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99537" y="599468"/>
            <a:ext cx="16303312" cy="787928"/>
          </a:xfrm>
          <a:prstGeom prst="rect">
            <a:avLst/>
          </a:prstGeom>
        </p:spPr>
        <p:txBody>
          <a:bodyPr anchor="t" rtlCol="false" tIns="0" lIns="0" bIns="0" rIns="0">
            <a:spAutoFit/>
          </a:bodyPr>
          <a:lstStyle/>
          <a:p>
            <a:pPr algn="l">
              <a:lnSpc>
                <a:spcPts val="6008"/>
              </a:lnSpc>
            </a:pPr>
            <a:r>
              <a:rPr lang="en-US" sz="6008" spc="-120" b="true">
                <a:solidFill>
                  <a:srgbClr val="F4F4F4"/>
                </a:solidFill>
                <a:latin typeface="Anantason Condensed Bold"/>
                <a:ea typeface="Anantason Condensed Bold"/>
                <a:cs typeface="Anantason Condensed Bold"/>
                <a:sym typeface="Anantason Condensed Bold"/>
              </a:rPr>
              <a:t>Results against the existing mechanisms (criterion 04)</a:t>
            </a:r>
          </a:p>
        </p:txBody>
      </p:sp>
      <p:sp>
        <p:nvSpPr>
          <p:cNvPr name="TextBox 4" id="4"/>
          <p:cNvSpPr txBox="true"/>
          <p:nvPr/>
        </p:nvSpPr>
        <p:spPr>
          <a:xfrm rot="0">
            <a:off x="476039" y="1504693"/>
            <a:ext cx="8653146" cy="396975"/>
          </a:xfrm>
          <a:prstGeom prst="rect">
            <a:avLst/>
          </a:prstGeom>
        </p:spPr>
        <p:txBody>
          <a:bodyPr anchor="t" rtlCol="false" tIns="0" lIns="0" bIns="0" rIns="0">
            <a:spAutoFit/>
          </a:bodyPr>
          <a:lstStyle/>
          <a:p>
            <a:pPr algn="l">
              <a:lnSpc>
                <a:spcPts val="3347"/>
              </a:lnSpc>
            </a:pPr>
            <a:r>
              <a:rPr lang="en-US" sz="2575" spc="-51">
                <a:solidFill>
                  <a:srgbClr val="F4F4F4"/>
                </a:solidFill>
                <a:latin typeface="Anantason Condensed"/>
                <a:ea typeface="Anantason Condensed"/>
                <a:cs typeface="Anantason Condensed"/>
                <a:sym typeface="Anantason Condensed"/>
              </a:rPr>
              <a:t>Paired means over 20 runs per scenario, same seeds for every stack.</a:t>
            </a:r>
          </a:p>
        </p:txBody>
      </p:sp>
      <p:sp>
        <p:nvSpPr>
          <p:cNvPr name="TextBox 5" id="5"/>
          <p:cNvSpPr txBox="true"/>
          <p:nvPr/>
        </p:nvSpPr>
        <p:spPr>
          <a:xfrm rot="0">
            <a:off x="573094" y="2643071"/>
            <a:ext cx="1626549" cy="767150"/>
          </a:xfrm>
          <a:prstGeom prst="rect">
            <a:avLst/>
          </a:prstGeom>
        </p:spPr>
        <p:txBody>
          <a:bodyPr anchor="t" rtlCol="false" tIns="0" lIns="0" bIns="0" rIns="0">
            <a:spAutoFit/>
          </a:bodyPr>
          <a:lstStyle/>
          <a:p>
            <a:pPr algn="l">
              <a:lnSpc>
                <a:spcPts val="5893"/>
              </a:lnSpc>
            </a:pPr>
            <a:r>
              <a:rPr lang="en-US" sz="5893" spc="-117" b="true">
                <a:solidFill>
                  <a:srgbClr val="12B8D6"/>
                </a:solidFill>
                <a:latin typeface="Anantason Condensed Bold"/>
                <a:ea typeface="Anantason Condensed Bold"/>
                <a:cs typeface="Anantason Condensed Bold"/>
                <a:sym typeface="Anantason Condensed Bold"/>
              </a:rPr>
              <a:t>100%</a:t>
            </a:r>
          </a:p>
        </p:txBody>
      </p:sp>
      <p:sp>
        <p:nvSpPr>
          <p:cNvPr name="TextBox 6" id="6"/>
          <p:cNvSpPr txBox="true"/>
          <p:nvPr/>
        </p:nvSpPr>
        <p:spPr>
          <a:xfrm rot="0">
            <a:off x="3616523" y="2470875"/>
            <a:ext cx="4259461" cy="1114185"/>
          </a:xfrm>
          <a:prstGeom prst="rect">
            <a:avLst/>
          </a:prstGeom>
        </p:spPr>
        <p:txBody>
          <a:bodyPr anchor="t" rtlCol="false" tIns="0" lIns="0" bIns="0" rIns="0">
            <a:spAutoFit/>
          </a:bodyPr>
          <a:lstStyle/>
          <a:p>
            <a:pPr algn="l">
              <a:lnSpc>
                <a:spcPts val="3017"/>
              </a:lnSpc>
            </a:pPr>
            <a:r>
              <a:rPr lang="en-US" sz="2321" spc="-46">
                <a:solidFill>
                  <a:srgbClr val="F4F4F4"/>
                </a:solidFill>
                <a:latin typeface="Anantason Condensed"/>
                <a:ea typeface="Anantason Condensed"/>
                <a:cs typeface="Anantason Condensed"/>
                <a:sym typeface="Anantason Condensed"/>
              </a:rPr>
              <a:t>of flights where FlexiPath keeps C2 (flight count) under our piloted</a:t>
            </a:r>
          </a:p>
          <a:p>
            <a:pPr algn="l">
              <a:lnSpc>
                <a:spcPts val="3017"/>
              </a:lnSpc>
            </a:pPr>
            <a:r>
              <a:rPr lang="en-US" sz="2321" spc="-46">
                <a:solidFill>
                  <a:srgbClr val="F4F4F4"/>
                </a:solidFill>
                <a:latin typeface="Anantason Condensed"/>
                <a:ea typeface="Anantason Condensed"/>
                <a:cs typeface="Anantason Condensed"/>
                <a:sym typeface="Anantason Condensed"/>
              </a:rPr>
              <a:t>300 ms rule</a:t>
            </a:r>
          </a:p>
        </p:txBody>
      </p:sp>
      <p:sp>
        <p:nvSpPr>
          <p:cNvPr name="Freeform 7" id="7"/>
          <p:cNvSpPr/>
          <p:nvPr/>
        </p:nvSpPr>
        <p:spPr>
          <a:xfrm flipH="false" flipV="false" rot="0">
            <a:off x="426574" y="3640352"/>
            <a:ext cx="7634584" cy="218640"/>
          </a:xfrm>
          <a:custGeom>
            <a:avLst/>
            <a:gdLst/>
            <a:ahLst/>
            <a:cxnLst/>
            <a:rect r="r" b="b" t="t" l="l"/>
            <a:pathLst>
              <a:path h="218640" w="7634584">
                <a:moveTo>
                  <a:pt x="0" y="0"/>
                </a:moveTo>
                <a:lnTo>
                  <a:pt x="7634584" y="0"/>
                </a:lnTo>
                <a:lnTo>
                  <a:pt x="7634584" y="218639"/>
                </a:lnTo>
                <a:lnTo>
                  <a:pt x="0" y="218639"/>
                </a:lnTo>
                <a:lnTo>
                  <a:pt x="0" y="0"/>
                </a:lnTo>
                <a:close/>
              </a:path>
            </a:pathLst>
          </a:custGeom>
          <a:blipFill>
            <a:blip r:embed="rId3"/>
            <a:stretch>
              <a:fillRect l="0" t="0" r="0" b="0"/>
            </a:stretch>
          </a:blipFill>
        </p:spPr>
        <p:txBody>
          <a:bodyPr/>
          <a:p/>
        </p:txBody>
      </p:sp>
      <p:sp>
        <p:nvSpPr>
          <p:cNvPr name="TextBox 8" id="8"/>
          <p:cNvSpPr txBox="true"/>
          <p:nvPr/>
        </p:nvSpPr>
        <p:spPr>
          <a:xfrm rot="0">
            <a:off x="562150" y="4229131"/>
            <a:ext cx="2720980" cy="787928"/>
          </a:xfrm>
          <a:prstGeom prst="rect">
            <a:avLst/>
          </a:prstGeom>
        </p:spPr>
        <p:txBody>
          <a:bodyPr anchor="t" rtlCol="false" tIns="0" lIns="0" bIns="0" rIns="0">
            <a:spAutoFit/>
          </a:bodyPr>
          <a:lstStyle/>
          <a:p>
            <a:pPr algn="l">
              <a:lnSpc>
                <a:spcPts val="6008"/>
              </a:lnSpc>
            </a:pPr>
            <a:r>
              <a:rPr lang="en-US" sz="6008" spc="-120" b="true">
                <a:solidFill>
                  <a:srgbClr val="12B8D6"/>
                </a:solidFill>
                <a:latin typeface="Anantason Condensed Bold"/>
                <a:ea typeface="Anantason Condensed Bold"/>
                <a:cs typeface="Anantason Condensed Bold"/>
                <a:sym typeface="Anantason Condensed Bold"/>
              </a:rPr>
              <a:t>1.2–4.6 s</a:t>
            </a:r>
          </a:p>
        </p:txBody>
      </p:sp>
      <p:sp>
        <p:nvSpPr>
          <p:cNvPr name="TextBox 9" id="9"/>
          <p:cNvSpPr txBox="true"/>
          <p:nvPr/>
        </p:nvSpPr>
        <p:spPr>
          <a:xfrm rot="0">
            <a:off x="3616523" y="4031440"/>
            <a:ext cx="4259461" cy="1071003"/>
          </a:xfrm>
          <a:prstGeom prst="rect">
            <a:avLst/>
          </a:prstGeom>
        </p:spPr>
        <p:txBody>
          <a:bodyPr anchor="t" rtlCol="false" tIns="0" lIns="0" bIns="0" rIns="0">
            <a:spAutoFit/>
          </a:bodyPr>
          <a:lstStyle/>
          <a:p>
            <a:pPr algn="l">
              <a:lnSpc>
                <a:spcPts val="2930"/>
              </a:lnSpc>
            </a:pPr>
            <a:r>
              <a:rPr lang="en-US" sz="2254" spc="-45">
                <a:solidFill>
                  <a:srgbClr val="F4F4F4"/>
                </a:solidFill>
                <a:latin typeface="Anantason Condensed"/>
                <a:ea typeface="Anantason Condensed"/>
                <a:cs typeface="Anantason Condensed"/>
                <a:sym typeface="Anantason Condensed"/>
              </a:rPr>
              <a:t>FlexiPath acts before the path fails, versus 0.1–0.5 s after for reactive multipath</a:t>
            </a:r>
          </a:p>
        </p:txBody>
      </p:sp>
      <p:sp>
        <p:nvSpPr>
          <p:cNvPr name="Freeform 10" id="10"/>
          <p:cNvSpPr/>
          <p:nvPr/>
        </p:nvSpPr>
        <p:spPr>
          <a:xfrm flipH="false" flipV="false" rot="0">
            <a:off x="426574" y="5138034"/>
            <a:ext cx="7634584" cy="229572"/>
          </a:xfrm>
          <a:custGeom>
            <a:avLst/>
            <a:gdLst/>
            <a:ahLst/>
            <a:cxnLst/>
            <a:rect r="r" b="b" t="t" l="l"/>
            <a:pathLst>
              <a:path h="229572" w="7634584">
                <a:moveTo>
                  <a:pt x="0" y="0"/>
                </a:moveTo>
                <a:lnTo>
                  <a:pt x="7634584" y="0"/>
                </a:lnTo>
                <a:lnTo>
                  <a:pt x="7634584" y="229572"/>
                </a:lnTo>
                <a:lnTo>
                  <a:pt x="0" y="229572"/>
                </a:lnTo>
                <a:lnTo>
                  <a:pt x="0" y="0"/>
                </a:lnTo>
                <a:close/>
              </a:path>
            </a:pathLst>
          </a:custGeom>
          <a:blipFill>
            <a:blip r:embed="rId4"/>
            <a:stretch>
              <a:fillRect l="0" t="0" r="0" b="0"/>
            </a:stretch>
          </a:blipFill>
        </p:spPr>
        <p:txBody>
          <a:bodyPr/>
          <a:p/>
        </p:txBody>
      </p:sp>
      <p:sp>
        <p:nvSpPr>
          <p:cNvPr name="TextBox 11" id="11"/>
          <p:cNvSpPr txBox="true"/>
          <p:nvPr/>
        </p:nvSpPr>
        <p:spPr>
          <a:xfrm rot="0">
            <a:off x="569246" y="5834211"/>
            <a:ext cx="2011369" cy="614395"/>
          </a:xfrm>
          <a:prstGeom prst="rect">
            <a:avLst/>
          </a:prstGeom>
        </p:spPr>
        <p:txBody>
          <a:bodyPr anchor="t" rtlCol="false" tIns="0" lIns="0" bIns="0" rIns="0">
            <a:spAutoFit/>
          </a:bodyPr>
          <a:lstStyle/>
          <a:p>
            <a:pPr algn="l">
              <a:lnSpc>
                <a:spcPts val="4750"/>
              </a:lnSpc>
            </a:pPr>
            <a:r>
              <a:rPr lang="en-US" sz="4750" spc="-95" b="true">
                <a:solidFill>
                  <a:srgbClr val="12B8D6"/>
                </a:solidFill>
                <a:latin typeface="Anantason Condensed Bold"/>
                <a:ea typeface="Anantason Condensed Bold"/>
                <a:cs typeface="Anantason Condensed Bold"/>
                <a:sym typeface="Anantason Condensed Bold"/>
              </a:rPr>
              <a:t>35%</a:t>
            </a:r>
          </a:p>
        </p:txBody>
      </p:sp>
      <p:sp>
        <p:nvSpPr>
          <p:cNvPr name="TextBox 12" id="12"/>
          <p:cNvSpPr txBox="true"/>
          <p:nvPr/>
        </p:nvSpPr>
        <p:spPr>
          <a:xfrm rot="0">
            <a:off x="3616523" y="5537524"/>
            <a:ext cx="4259461" cy="1071003"/>
          </a:xfrm>
          <a:prstGeom prst="rect">
            <a:avLst/>
          </a:prstGeom>
        </p:spPr>
        <p:txBody>
          <a:bodyPr anchor="t" rtlCol="false" tIns="0" lIns="0" bIns="0" rIns="0">
            <a:spAutoFit/>
          </a:bodyPr>
          <a:lstStyle/>
          <a:p>
            <a:pPr algn="l">
              <a:lnSpc>
                <a:spcPts val="2930"/>
              </a:lnSpc>
            </a:pPr>
            <a:r>
              <a:rPr lang="en-US" sz="2254" spc="-45">
                <a:solidFill>
                  <a:srgbClr val="F4F4F4"/>
                </a:solidFill>
                <a:latin typeface="Anantason Condensed"/>
                <a:ea typeface="Anantason Condensed"/>
                <a:cs typeface="Anantason Condensed"/>
                <a:sym typeface="Anantason Condensed"/>
              </a:rPr>
              <a:t>fewer critical packets lost vs</a:t>
            </a:r>
          </a:p>
          <a:p>
            <a:pPr algn="l">
              <a:lnSpc>
                <a:spcPts val="2930"/>
              </a:lnSpc>
            </a:pPr>
            <a:r>
              <a:rPr lang="en-US" sz="2254" spc="-45">
                <a:solidFill>
                  <a:srgbClr val="F4F4F4"/>
                </a:solidFill>
                <a:latin typeface="Anantason Condensed"/>
                <a:ea typeface="Anantason Condensed"/>
                <a:cs typeface="Anantason Condensed"/>
                <a:sym typeface="Anantason Condensed"/>
              </a:rPr>
              <a:t>reactive multipath (CI 30–39 %);</a:t>
            </a:r>
          </a:p>
          <a:p>
            <a:pPr algn="l">
              <a:lnSpc>
                <a:spcPts val="2930"/>
              </a:lnSpc>
            </a:pPr>
            <a:r>
              <a:rPr lang="en-US" sz="2254" spc="-45">
                <a:solidFill>
                  <a:srgbClr val="F4F4F4"/>
                </a:solidFill>
                <a:latin typeface="Anantason Condensed"/>
                <a:ea typeface="Anantason Condensed"/>
                <a:cs typeface="Anantason Condensed"/>
                <a:sym typeface="Anantason Condensed"/>
              </a:rPr>
              <a:t>held-out; ~20 % with equal detection</a:t>
            </a:r>
          </a:p>
        </p:txBody>
      </p:sp>
      <p:sp>
        <p:nvSpPr>
          <p:cNvPr name="Freeform 13" id="13"/>
          <p:cNvSpPr/>
          <p:nvPr/>
        </p:nvSpPr>
        <p:spPr>
          <a:xfrm flipH="false" flipV="false" rot="0">
            <a:off x="426574" y="6635716"/>
            <a:ext cx="7634584" cy="229572"/>
          </a:xfrm>
          <a:custGeom>
            <a:avLst/>
            <a:gdLst/>
            <a:ahLst/>
            <a:cxnLst/>
            <a:rect r="r" b="b" t="t" l="l"/>
            <a:pathLst>
              <a:path h="229572" w="7634584">
                <a:moveTo>
                  <a:pt x="0" y="0"/>
                </a:moveTo>
                <a:lnTo>
                  <a:pt x="7634584" y="0"/>
                </a:lnTo>
                <a:lnTo>
                  <a:pt x="7634584" y="229572"/>
                </a:lnTo>
                <a:lnTo>
                  <a:pt x="0" y="229572"/>
                </a:lnTo>
                <a:lnTo>
                  <a:pt x="0" y="0"/>
                </a:lnTo>
                <a:close/>
              </a:path>
            </a:pathLst>
          </a:custGeom>
          <a:blipFill>
            <a:blip r:embed="rId5"/>
            <a:stretch>
              <a:fillRect l="0" t="0" r="0" b="0"/>
            </a:stretch>
          </a:blipFill>
        </p:spPr>
        <p:txBody>
          <a:bodyPr/>
          <a:p/>
        </p:txBody>
      </p:sp>
      <p:sp>
        <p:nvSpPr>
          <p:cNvPr name="TextBox 14" id="14"/>
          <p:cNvSpPr txBox="true"/>
          <p:nvPr/>
        </p:nvSpPr>
        <p:spPr>
          <a:xfrm rot="0">
            <a:off x="559893" y="7281202"/>
            <a:ext cx="2946606" cy="592361"/>
          </a:xfrm>
          <a:prstGeom prst="rect">
            <a:avLst/>
          </a:prstGeom>
        </p:spPr>
        <p:txBody>
          <a:bodyPr anchor="t" rtlCol="false" tIns="0" lIns="0" bIns="0" rIns="0">
            <a:spAutoFit/>
          </a:bodyPr>
          <a:lstStyle/>
          <a:p>
            <a:pPr algn="l">
              <a:lnSpc>
                <a:spcPts val="4585"/>
              </a:lnSpc>
            </a:pPr>
            <a:r>
              <a:rPr lang="en-US" sz="4585" spc="-91" b="true">
                <a:solidFill>
                  <a:srgbClr val="12B8D6"/>
                </a:solidFill>
                <a:latin typeface="Anantason Condensed Bold"/>
                <a:ea typeface="Anantason Condensed Bold"/>
                <a:cs typeface="Anantason Condensed Bold"/>
                <a:sym typeface="Anantason Condensed Bold"/>
              </a:rPr>
              <a:t>4.0-7.1 pp/W</a:t>
            </a:r>
          </a:p>
        </p:txBody>
      </p:sp>
      <p:sp>
        <p:nvSpPr>
          <p:cNvPr name="TextBox 15" id="15"/>
          <p:cNvSpPr txBox="true"/>
          <p:nvPr/>
        </p:nvSpPr>
        <p:spPr>
          <a:xfrm rot="0">
            <a:off x="3616523" y="6998425"/>
            <a:ext cx="4259461" cy="1071003"/>
          </a:xfrm>
          <a:prstGeom prst="rect">
            <a:avLst/>
          </a:prstGeom>
        </p:spPr>
        <p:txBody>
          <a:bodyPr anchor="t" rtlCol="false" tIns="0" lIns="0" bIns="0" rIns="0">
            <a:spAutoFit/>
          </a:bodyPr>
          <a:lstStyle/>
          <a:p>
            <a:pPr algn="l">
              <a:lnSpc>
                <a:spcPts val="2930"/>
              </a:lnSpc>
            </a:pPr>
            <a:r>
              <a:rPr lang="en-US" sz="2254" spc="-45">
                <a:solidFill>
                  <a:srgbClr val="F4F4F4"/>
                </a:solidFill>
                <a:latin typeface="Anantason Condensed"/>
                <a:ea typeface="Anantason Condensed"/>
                <a:cs typeface="Anantason Condensed"/>
                <a:sym typeface="Anantason Condensed"/>
              </a:rPr>
              <a:t>Reliability per extra watt versus</a:t>
            </a:r>
          </a:p>
          <a:p>
            <a:pPr algn="l">
              <a:lnSpc>
                <a:spcPts val="2930"/>
              </a:lnSpc>
            </a:pPr>
            <a:r>
              <a:rPr lang="en-US" sz="2254" spc="-45">
                <a:solidFill>
                  <a:srgbClr val="F4F4F4"/>
                </a:solidFill>
                <a:latin typeface="Anantason Condensed"/>
                <a:ea typeface="Anantason Condensed"/>
                <a:cs typeface="Anantason Condensed"/>
                <a:sym typeface="Anantason Condensed"/>
              </a:rPr>
              <a:t>reactive multipath</a:t>
            </a:r>
          </a:p>
          <a:p>
            <a:pPr algn="l">
              <a:lnSpc>
                <a:spcPts val="2930"/>
              </a:lnSpc>
            </a:pPr>
            <a:r>
              <a:rPr lang="en-US" sz="2254" spc="-45" b="true">
                <a:solidFill>
                  <a:srgbClr val="12B8D6"/>
                </a:solidFill>
                <a:latin typeface="Anantason Condensed Bold"/>
                <a:ea typeface="Anantason Condensed Bold"/>
                <a:cs typeface="Anantason Condensed Bold"/>
                <a:sym typeface="Anantason Condensed Bold"/>
              </a:rPr>
              <a:t>(16.9–24.5 in D)</a:t>
            </a:r>
          </a:p>
        </p:txBody>
      </p:sp>
      <p:sp>
        <p:nvSpPr>
          <p:cNvPr name="Freeform 16" id="16"/>
          <p:cNvSpPr/>
          <p:nvPr/>
        </p:nvSpPr>
        <p:spPr>
          <a:xfrm flipH="false" flipV="false" rot="0">
            <a:off x="426574" y="8133399"/>
            <a:ext cx="7634584" cy="229572"/>
          </a:xfrm>
          <a:custGeom>
            <a:avLst/>
            <a:gdLst/>
            <a:ahLst/>
            <a:cxnLst/>
            <a:rect r="r" b="b" t="t" l="l"/>
            <a:pathLst>
              <a:path h="229572" w="7634584">
                <a:moveTo>
                  <a:pt x="0" y="0"/>
                </a:moveTo>
                <a:lnTo>
                  <a:pt x="7634584" y="0"/>
                </a:lnTo>
                <a:lnTo>
                  <a:pt x="7634584" y="229571"/>
                </a:lnTo>
                <a:lnTo>
                  <a:pt x="0" y="229571"/>
                </a:lnTo>
                <a:lnTo>
                  <a:pt x="0" y="0"/>
                </a:lnTo>
                <a:close/>
              </a:path>
            </a:pathLst>
          </a:custGeom>
          <a:blipFill>
            <a:blip r:embed="rId6"/>
            <a:stretch>
              <a:fillRect l="0" t="0" r="0" b="0"/>
            </a:stretch>
          </a:blipFill>
        </p:spPr>
        <p:txBody>
          <a:bodyPr/>
          <a:p/>
        </p:txBody>
      </p:sp>
      <p:sp>
        <p:nvSpPr>
          <p:cNvPr name="TextBox 17" id="17"/>
          <p:cNvSpPr txBox="true"/>
          <p:nvPr/>
        </p:nvSpPr>
        <p:spPr>
          <a:xfrm rot="0">
            <a:off x="565807" y="8702200"/>
            <a:ext cx="2355278" cy="787928"/>
          </a:xfrm>
          <a:prstGeom prst="rect">
            <a:avLst/>
          </a:prstGeom>
        </p:spPr>
        <p:txBody>
          <a:bodyPr anchor="t" rtlCol="false" tIns="0" lIns="0" bIns="0" rIns="0">
            <a:spAutoFit/>
          </a:bodyPr>
          <a:lstStyle/>
          <a:p>
            <a:pPr algn="l">
              <a:lnSpc>
                <a:spcPts val="6008"/>
              </a:lnSpc>
            </a:pPr>
            <a:r>
              <a:rPr lang="en-US" sz="6008" spc="-120" b="true">
                <a:solidFill>
                  <a:srgbClr val="C93136"/>
                </a:solidFill>
                <a:latin typeface="Anantason Condensed Bold"/>
                <a:ea typeface="Anantason Condensed Bold"/>
                <a:cs typeface="Anantason Condensed Bold"/>
                <a:sym typeface="Anantason Condensed Bold"/>
              </a:rPr>
              <a:t>4.5-21×</a:t>
            </a:r>
          </a:p>
        </p:txBody>
      </p:sp>
      <p:sp>
        <p:nvSpPr>
          <p:cNvPr name="TextBox 18" id="18"/>
          <p:cNvSpPr txBox="true"/>
          <p:nvPr/>
        </p:nvSpPr>
        <p:spPr>
          <a:xfrm rot="0">
            <a:off x="3616523" y="8480150"/>
            <a:ext cx="4259461" cy="1114185"/>
          </a:xfrm>
          <a:prstGeom prst="rect">
            <a:avLst/>
          </a:prstGeom>
        </p:spPr>
        <p:txBody>
          <a:bodyPr anchor="t" rtlCol="false" tIns="0" lIns="0" bIns="0" rIns="0">
            <a:spAutoFit/>
          </a:bodyPr>
          <a:lstStyle/>
          <a:p>
            <a:pPr algn="l">
              <a:lnSpc>
                <a:spcPts val="3017"/>
              </a:lnSpc>
            </a:pPr>
            <a:r>
              <a:rPr lang="en-US" sz="2321" spc="-46">
                <a:solidFill>
                  <a:srgbClr val="F4F4F4"/>
                </a:solidFill>
                <a:latin typeface="Anantason Condensed"/>
                <a:ea typeface="Anantason Condensed"/>
                <a:cs typeface="Anantason Condensed"/>
                <a:sym typeface="Anantason Condensed"/>
              </a:rPr>
              <a:t>FlexiPath's extra watts give 4.5–21× more reliability than always duplicate's</a:t>
            </a:r>
          </a:p>
          <a:p>
            <a:pPr algn="l">
              <a:lnSpc>
                <a:spcPts val="3017"/>
              </a:lnSpc>
            </a:pPr>
            <a:r>
              <a:rPr lang="en-US" sz="2321" spc="-46" b="true">
                <a:solidFill>
                  <a:srgbClr val="C93136"/>
                </a:solidFill>
                <a:latin typeface="Anantason Condensed Bold"/>
                <a:ea typeface="Anantason Condensed Bold"/>
                <a:cs typeface="Anantason Condensed Bold"/>
                <a:sym typeface="Anantason Condensed Bold"/>
              </a:rPr>
              <a:t>0.3–0.9 pp/W</a:t>
            </a:r>
          </a:p>
        </p:txBody>
      </p:sp>
      <p:sp>
        <p:nvSpPr>
          <p:cNvPr name="Freeform 19" id="19" descr="Critical packets delivered against mean radio power for always duplicate, FlexiPath and reactive multipath in scenarios A to D, G and H"/>
          <p:cNvSpPr/>
          <p:nvPr/>
        </p:nvSpPr>
        <p:spPr>
          <a:xfrm flipH="false" flipV="false" rot="0">
            <a:off x="8382000" y="2495550"/>
            <a:ext cx="9144000" cy="5372100"/>
          </a:xfrm>
          <a:custGeom>
            <a:avLst/>
            <a:gdLst/>
            <a:ahLst/>
            <a:cxnLst/>
            <a:rect r="r" b="b" t="t" l="l"/>
            <a:pathLst>
              <a:path h="5372100" w="9144000">
                <a:moveTo>
                  <a:pt x="0" y="0"/>
                </a:moveTo>
                <a:lnTo>
                  <a:pt x="9144000" y="0"/>
                </a:lnTo>
                <a:lnTo>
                  <a:pt x="9144000" y="5372100"/>
                </a:lnTo>
                <a:lnTo>
                  <a:pt x="0" y="53721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
        <p:nvSpPr>
          <p:cNvPr name="TextBox 20" id="20"/>
          <p:cNvSpPr txBox="true"/>
          <p:nvPr/>
        </p:nvSpPr>
        <p:spPr>
          <a:xfrm rot="0">
            <a:off x="8382000" y="8058150"/>
            <a:ext cx="9144000" cy="817245"/>
          </a:xfrm>
          <a:prstGeom prst="rect">
            <a:avLst/>
          </a:prstGeom>
        </p:spPr>
        <p:txBody>
          <a:bodyPr anchor="t" rtlCol="false" tIns="0" lIns="0" bIns="0" rIns="0">
            <a:spAutoFit/>
          </a:bodyPr>
          <a:lstStyle/>
          <a:p>
            <a:pPr algn="l">
              <a:lnSpc>
                <a:spcPts val="2145"/>
              </a:lnSpc>
            </a:pPr>
            <a:r>
              <a:rPr lang="en-US" sz="1650">
                <a:solidFill>
                  <a:srgbClr val="D7E3EE"/>
                </a:solidFill>
                <a:latin typeface="Arimo"/>
                <a:ea typeface="Arimo"/>
                <a:cs typeface="Arimo"/>
                <a:sym typeface="Arimo"/>
              </a:rPr>
              <a:t>Reliability against radio power, scenarios A–D, G and H (paired means). FlexiPath is between the two existing designs. It gives 0.6–1.2 points more critical delivery than reactive multipath for 0.05–0.18 W more. It uses 2.1–2.6× less power than always duplicate.</a:t>
            </a:r>
          </a:p>
        </p:txBody>
      </p:sp>
      <p:sp>
        <p:nvSpPr>
          <p:cNvPr id="21" name="Per-scenario results"/>
          <p:cNvSpPr txBox="1"/>
          <p:nvPr/>
        </p:nvSpPr>
        <p:spPr>
          <a:xfrm>
            <a:off x="8382000" y="8890000"/>
            <a:ext cx="9144000" cy="1143000"/>
          </a:xfrm>
          <a:prstGeom prst="rect">
            <a:avLst/>
          </a:prstGeom>
          <a:noFill/>
        </p:spPr>
        <p:txBody>
          <a:bodyPr wrap="square" lIns="0" rIns="0" tIns="0" bIns="0">
            <a:spAutoFit/>
          </a:bodyPr>
          <a:lstStyle/>
          <a:p>
            <a:r>
              <a:rPr sz="1350" b="1">
                <a:solidFill>
                  <a:srgbClr val="D7E3EE"/>
                </a:solidFill>
                <a:latin typeface="Arimo"/>
              </a:rPr>
              <a:t>Flights that keep C2 under the piloted 300 ms rule </a:t>
            </a:r>
            <a:r>
              <a:rPr sz="1350" b="0">
                <a:solidFill>
                  <a:srgbClr val="D7E3EE"/>
                </a:solidFill>
                <a:latin typeface="Arimo"/>
              </a:rPr>
              <a:t>(Legacy · Reactive multipath · Always duplicate · FlexiPath): A, B, C  0 · 100 · 100 · 100  —  D  0 · 0 · 100 · 100  —  G, shared radio shadow  0 · 0 · 40 · 100  —  H, map out of date  0 · 0 · 100 · 100.</a:t>
            </a:r>
          </a:p>
          <a:p>
            <a:r>
              <a:rPr sz="1350" b="1">
                <a:solidFill>
                  <a:srgbClr val="D7E3EE"/>
                </a:solidFill>
                <a:latin typeface="Arimo"/>
              </a:rPr>
              <a:t>Robustness: </a:t>
            </a:r>
            <a:r>
              <a:rPr sz="1350" b="0">
                <a:solidFill>
                  <a:srgbClr val="D7E3EE"/>
                </a:solidFill>
                <a:latin typeface="Arimo"/>
              </a:rPr>
              <a:t>the ablations show trend prediction gives the gain; in our model, the burst adds no measurable reliability. The results hold on held-out seeds. Under the 1 s waypoint rule, every multipath stack keeps C2. So the piloted-rule advantage needs a spare modem that resumes fast.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88716" y="513042"/>
            <a:ext cx="14706560" cy="1505962"/>
          </a:xfrm>
          <a:prstGeom prst="rect">
            <a:avLst/>
          </a:prstGeom>
        </p:spPr>
        <p:txBody>
          <a:bodyPr anchor="t" rtlCol="false" tIns="0" lIns="0" bIns="0" rIns="0">
            <a:spAutoFit/>
          </a:bodyPr>
          <a:lstStyle/>
          <a:p>
            <a:pPr algn="l">
              <a:lnSpc>
                <a:spcPts val="5826"/>
              </a:lnSpc>
            </a:pPr>
            <a:r>
              <a:rPr lang="en-US" sz="6008" spc="-240" b="true">
                <a:solidFill>
                  <a:srgbClr val="FFFFFF">
                    <a:alpha val="94902"/>
                  </a:srgbClr>
                </a:solidFill>
                <a:latin typeface="Anantason Condensed Bold"/>
                <a:ea typeface="Anantason Condensed Bold"/>
                <a:cs typeface="Anantason Condensed Bold"/>
                <a:sym typeface="Anantason Condensed Bold"/>
              </a:rPr>
              <a:t>Guidelines for QoS and QoE</a:t>
            </a:r>
          </a:p>
          <a:p>
            <a:pPr algn="l">
              <a:lnSpc>
                <a:spcPts val="5826"/>
              </a:lnSpc>
            </a:pPr>
            <a:r>
              <a:rPr lang="en-US" sz="6008" spc="-240" b="true">
                <a:solidFill>
                  <a:srgbClr val="FFFFFF">
                    <a:alpha val="94902"/>
                  </a:srgbClr>
                </a:solidFill>
                <a:latin typeface="Anantason Condensed Bold"/>
                <a:ea typeface="Anantason Condensed Bold"/>
                <a:cs typeface="Anantason Condensed Bold"/>
                <a:sym typeface="Anantason Condensed Bold"/>
              </a:rPr>
              <a:t>across heterogeneous networks (criterion 05)</a:t>
            </a:r>
          </a:p>
        </p:txBody>
      </p:sp>
      <p:sp>
        <p:nvSpPr>
          <p:cNvPr name="Freeform 4" id="4"/>
          <p:cNvSpPr/>
          <p:nvPr/>
        </p:nvSpPr>
        <p:spPr>
          <a:xfrm flipH="false" flipV="false" rot="0">
            <a:off x="426574" y="2142670"/>
            <a:ext cx="14601962" cy="218640"/>
          </a:xfrm>
          <a:custGeom>
            <a:avLst/>
            <a:gdLst/>
            <a:ahLst/>
            <a:cxnLst/>
            <a:rect r="r" b="b" t="t" l="l"/>
            <a:pathLst>
              <a:path h="218640" w="14601962">
                <a:moveTo>
                  <a:pt x="0" y="0"/>
                </a:moveTo>
                <a:lnTo>
                  <a:pt x="14601962" y="0"/>
                </a:lnTo>
                <a:lnTo>
                  <a:pt x="14601962" y="218639"/>
                </a:lnTo>
                <a:lnTo>
                  <a:pt x="0" y="218639"/>
                </a:lnTo>
                <a:lnTo>
                  <a:pt x="0" y="0"/>
                </a:lnTo>
                <a:close/>
              </a:path>
            </a:pathLst>
          </a:custGeom>
          <a:blipFill>
            <a:blip r:embed="rId3"/>
            <a:stretch>
              <a:fillRect l="0" t="0" r="0" b="0"/>
            </a:stretch>
          </a:blipFill>
        </p:spPr>
        <p:txBody>
          <a:bodyPr/>
          <a:p/>
        </p:txBody>
      </p:sp>
      <p:sp>
        <p:nvSpPr>
          <p:cNvPr name="Freeform 5" id="5"/>
          <p:cNvSpPr/>
          <p:nvPr/>
        </p:nvSpPr>
        <p:spPr>
          <a:xfrm flipH="false" flipV="false" rot="0">
            <a:off x="426574" y="2350377"/>
            <a:ext cx="1760986" cy="1082267"/>
          </a:xfrm>
          <a:custGeom>
            <a:avLst/>
            <a:gdLst/>
            <a:ahLst/>
            <a:cxnLst/>
            <a:rect r="r" b="b" t="t" l="l"/>
            <a:pathLst>
              <a:path h="1082267" w="1760986">
                <a:moveTo>
                  <a:pt x="0" y="0"/>
                </a:moveTo>
                <a:lnTo>
                  <a:pt x="1760986" y="0"/>
                </a:lnTo>
                <a:lnTo>
                  <a:pt x="1760986" y="1082267"/>
                </a:lnTo>
                <a:lnTo>
                  <a:pt x="0" y="1082267"/>
                </a:lnTo>
                <a:lnTo>
                  <a:pt x="0" y="0"/>
                </a:lnTo>
                <a:close/>
              </a:path>
            </a:pathLst>
          </a:custGeom>
          <a:blipFill>
            <a:blip r:embed="rId4"/>
            <a:stretch>
              <a:fillRect l="0" t="0" r="0" b="0"/>
            </a:stretch>
          </a:blipFill>
        </p:spPr>
        <p:txBody>
          <a:bodyPr/>
          <a:p/>
        </p:txBody>
      </p:sp>
      <p:sp>
        <p:nvSpPr>
          <p:cNvPr name="TextBox 6" id="6"/>
          <p:cNvSpPr txBox="true"/>
          <p:nvPr/>
        </p:nvSpPr>
        <p:spPr>
          <a:xfrm rot="0">
            <a:off x="1013195" y="2608258"/>
            <a:ext cx="478983" cy="499711"/>
          </a:xfrm>
          <a:prstGeom prst="rect">
            <a:avLst/>
          </a:prstGeom>
        </p:spPr>
        <p:txBody>
          <a:bodyPr anchor="t" rtlCol="false" tIns="0" lIns="0" bIns="0" rIns="0">
            <a:spAutoFit/>
          </a:bodyPr>
          <a:lstStyle/>
          <a:p>
            <a:pPr algn="l">
              <a:lnSpc>
                <a:spcPts val="4040"/>
              </a:lnSpc>
            </a:pPr>
            <a:r>
              <a:rPr lang="en-US" sz="3366" spc="-100" b="true">
                <a:solidFill>
                  <a:srgbClr val="FFFFFF">
                    <a:alpha val="94902"/>
                  </a:srgbClr>
                </a:solidFill>
                <a:latin typeface="Anantason Condensed Bold"/>
                <a:ea typeface="Anantason Condensed Bold"/>
                <a:cs typeface="Anantason Condensed Bold"/>
                <a:sym typeface="Anantason Condensed Bold"/>
              </a:rPr>
              <a:t>01</a:t>
            </a:r>
          </a:p>
        </p:txBody>
      </p:sp>
      <p:sp>
        <p:nvSpPr>
          <p:cNvPr name="TextBox 7" id="7"/>
          <p:cNvSpPr txBox="true"/>
          <p:nvPr/>
        </p:nvSpPr>
        <p:spPr>
          <a:xfrm rot="0">
            <a:off x="2384227" y="2703672"/>
            <a:ext cx="11733609" cy="321242"/>
          </a:xfrm>
          <a:prstGeom prst="rect">
            <a:avLst/>
          </a:prstGeom>
        </p:spPr>
        <p:txBody>
          <a:bodyPr anchor="t" rtlCol="false" tIns="0" lIns="0" bIns="0" rIns="0">
            <a:spAutoFit/>
          </a:bodyPr>
          <a:lstStyle/>
          <a:p>
            <a:pPr algn="l">
              <a:lnSpc>
                <a:spcPts val="2626"/>
              </a:lnSpc>
            </a:pPr>
            <a:r>
              <a:rPr lang="en-US" sz="2188" spc="-65">
                <a:solidFill>
                  <a:srgbClr val="FFFFFF">
                    <a:alpha val="94902"/>
                  </a:srgbClr>
                </a:solidFill>
                <a:latin typeface="Anantason Condensed"/>
                <a:ea typeface="Anantason Condensed"/>
                <a:cs typeface="Anantason Condensed"/>
                <a:sym typeface="Anantason Condensed"/>
              </a:rPr>
              <a:t>Anchor the session, not the interface — a fixed </a:t>
            </a:r>
            <a:r>
              <a:rPr lang="en-US" sz="2188" spc="-65" b="true">
                <a:solidFill>
                  <a:srgbClr val="16B2CD">
                    <a:alpha val="94902"/>
                  </a:srgbClr>
                </a:solidFill>
                <a:latin typeface="Anantason Condensed Bold"/>
                <a:ea typeface="Anantason Condensed Bold"/>
                <a:cs typeface="Anantason Condensed Bold"/>
                <a:sym typeface="Anantason Condensed Bold"/>
              </a:rPr>
              <a:t>anchor relay</a:t>
            </a:r>
            <a:r>
              <a:rPr lang="en-US" sz="2188" spc="-65">
                <a:solidFill>
                  <a:srgbClr val="FFFFFF">
                    <a:alpha val="94902"/>
                  </a:srgbClr>
                </a:solidFill>
                <a:latin typeface="Anantason Condensed"/>
                <a:ea typeface="Anantason Condensed"/>
                <a:cs typeface="Anantason Condensed"/>
                <a:sym typeface="Anantason Condensed"/>
              </a:rPr>
              <a:t> prevents every reset.</a:t>
            </a:r>
          </a:p>
        </p:txBody>
      </p:sp>
      <p:sp>
        <p:nvSpPr>
          <p:cNvPr name="Freeform 8" id="8"/>
          <p:cNvSpPr/>
          <p:nvPr/>
        </p:nvSpPr>
        <p:spPr>
          <a:xfrm flipH="false" flipV="false" rot="0">
            <a:off x="426574" y="3214004"/>
            <a:ext cx="1760986" cy="863627"/>
          </a:xfrm>
          <a:custGeom>
            <a:avLst/>
            <a:gdLst/>
            <a:ahLst/>
            <a:cxnLst/>
            <a:rect r="r" b="b" t="t" l="l"/>
            <a:pathLst>
              <a:path h="863627" w="1760986">
                <a:moveTo>
                  <a:pt x="0" y="0"/>
                </a:moveTo>
                <a:lnTo>
                  <a:pt x="1760986" y="0"/>
                </a:lnTo>
                <a:lnTo>
                  <a:pt x="1760986" y="863627"/>
                </a:lnTo>
                <a:lnTo>
                  <a:pt x="0" y="863627"/>
                </a:lnTo>
                <a:lnTo>
                  <a:pt x="0" y="0"/>
                </a:lnTo>
                <a:close/>
              </a:path>
            </a:pathLst>
          </a:custGeom>
          <a:blipFill>
            <a:blip r:embed="rId5"/>
            <a:stretch>
              <a:fillRect l="0" t="0" r="0" b="0"/>
            </a:stretch>
          </a:blipFill>
        </p:spPr>
        <p:txBody>
          <a:bodyPr/>
          <a:p/>
        </p:txBody>
      </p:sp>
      <p:sp>
        <p:nvSpPr>
          <p:cNvPr name="TextBox 9" id="9"/>
          <p:cNvSpPr txBox="true"/>
          <p:nvPr/>
        </p:nvSpPr>
        <p:spPr>
          <a:xfrm rot="0">
            <a:off x="1013195" y="3421543"/>
            <a:ext cx="478983" cy="499711"/>
          </a:xfrm>
          <a:prstGeom prst="rect">
            <a:avLst/>
          </a:prstGeom>
        </p:spPr>
        <p:txBody>
          <a:bodyPr anchor="t" rtlCol="false" tIns="0" lIns="0" bIns="0" rIns="0">
            <a:spAutoFit/>
          </a:bodyPr>
          <a:lstStyle/>
          <a:p>
            <a:pPr algn="l">
              <a:lnSpc>
                <a:spcPts val="4040"/>
              </a:lnSpc>
            </a:pPr>
            <a:r>
              <a:rPr lang="en-US" sz="3366" spc="-100" b="true">
                <a:solidFill>
                  <a:srgbClr val="FFFFFF">
                    <a:alpha val="94902"/>
                  </a:srgbClr>
                </a:solidFill>
                <a:latin typeface="Anantason Condensed Bold"/>
                <a:ea typeface="Anantason Condensed Bold"/>
                <a:cs typeface="Anantason Condensed Bold"/>
                <a:sym typeface="Anantason Condensed Bold"/>
              </a:rPr>
              <a:t>02</a:t>
            </a:r>
          </a:p>
        </p:txBody>
      </p:sp>
      <p:sp>
        <p:nvSpPr>
          <p:cNvPr name="TextBox 10" id="10"/>
          <p:cNvSpPr txBox="true"/>
          <p:nvPr/>
        </p:nvSpPr>
        <p:spPr>
          <a:xfrm rot="0">
            <a:off x="2384227" y="3501896"/>
            <a:ext cx="11733609" cy="321242"/>
          </a:xfrm>
          <a:prstGeom prst="rect">
            <a:avLst/>
          </a:prstGeom>
        </p:spPr>
        <p:txBody>
          <a:bodyPr anchor="t" rtlCol="false" tIns="0" lIns="0" bIns="0" rIns="0">
            <a:spAutoFit/>
          </a:bodyPr>
          <a:lstStyle/>
          <a:p>
            <a:pPr algn="l">
              <a:lnSpc>
                <a:spcPts val="2626"/>
              </a:lnSpc>
            </a:pPr>
            <a:r>
              <a:rPr lang="en-US" sz="2188" spc="-65">
                <a:solidFill>
                  <a:srgbClr val="FFFFFF">
                    <a:alpha val="94902"/>
                  </a:srgbClr>
                </a:solidFill>
                <a:latin typeface="Anantason Condensed"/>
                <a:ea typeface="Anantason Condensed"/>
                <a:cs typeface="Anantason Condensed"/>
                <a:sym typeface="Anantason Condensed"/>
              </a:rPr>
              <a:t>Act on the trend, not on the failure — a </a:t>
            </a:r>
            <a:r>
              <a:rPr lang="en-US" sz="2188" spc="-65" b="true">
                <a:solidFill>
                  <a:srgbClr val="16B2CD">
                    <a:alpha val="94902"/>
                  </a:srgbClr>
                </a:solidFill>
                <a:latin typeface="Anantason Condensed Bold"/>
                <a:ea typeface="Anantason Condensed Bold"/>
                <a:cs typeface="Anantason Condensed Bold"/>
                <a:sym typeface="Anantason Condensed Bold"/>
              </a:rPr>
              <a:t>3 s signal trend</a:t>
            </a:r>
            <a:r>
              <a:rPr lang="en-US" sz="2188" spc="-65">
                <a:solidFill>
                  <a:srgbClr val="FFFFFF">
                    <a:alpha val="94902"/>
                  </a:srgbClr>
                </a:solidFill>
                <a:latin typeface="Anantason Condensed"/>
                <a:ea typeface="Anantason Condensed"/>
                <a:cs typeface="Anantason Condensed"/>
                <a:sym typeface="Anantason Condensed"/>
              </a:rPr>
              <a:t> gives seconds of warning.</a:t>
            </a:r>
          </a:p>
        </p:txBody>
      </p:sp>
      <p:sp>
        <p:nvSpPr>
          <p:cNvPr name="Freeform 11" id="11"/>
          <p:cNvSpPr/>
          <p:nvPr/>
        </p:nvSpPr>
        <p:spPr>
          <a:xfrm flipH="false" flipV="false" rot="0">
            <a:off x="426574" y="3848060"/>
            <a:ext cx="1760986" cy="1082267"/>
          </a:xfrm>
          <a:custGeom>
            <a:avLst/>
            <a:gdLst/>
            <a:ahLst/>
            <a:cxnLst/>
            <a:rect r="r" b="b" t="t" l="l"/>
            <a:pathLst>
              <a:path h="1082267" w="1760986">
                <a:moveTo>
                  <a:pt x="0" y="0"/>
                </a:moveTo>
                <a:lnTo>
                  <a:pt x="1760986" y="0"/>
                </a:lnTo>
                <a:lnTo>
                  <a:pt x="1760986" y="1082266"/>
                </a:lnTo>
                <a:lnTo>
                  <a:pt x="0" y="1082266"/>
                </a:lnTo>
                <a:lnTo>
                  <a:pt x="0" y="0"/>
                </a:lnTo>
                <a:close/>
              </a:path>
            </a:pathLst>
          </a:custGeom>
          <a:blipFill>
            <a:blip r:embed="rId6"/>
            <a:stretch>
              <a:fillRect l="0" t="0" r="0" b="0"/>
            </a:stretch>
          </a:blipFill>
        </p:spPr>
        <p:txBody>
          <a:bodyPr/>
          <a:p/>
        </p:txBody>
      </p:sp>
      <p:sp>
        <p:nvSpPr>
          <p:cNvPr name="TextBox 12" id="12"/>
          <p:cNvSpPr txBox="true"/>
          <p:nvPr/>
        </p:nvSpPr>
        <p:spPr>
          <a:xfrm rot="0">
            <a:off x="1013195" y="4219768"/>
            <a:ext cx="478983" cy="499711"/>
          </a:xfrm>
          <a:prstGeom prst="rect">
            <a:avLst/>
          </a:prstGeom>
        </p:spPr>
        <p:txBody>
          <a:bodyPr anchor="t" rtlCol="false" tIns="0" lIns="0" bIns="0" rIns="0">
            <a:spAutoFit/>
          </a:bodyPr>
          <a:lstStyle/>
          <a:p>
            <a:pPr algn="l">
              <a:lnSpc>
                <a:spcPts val="4040"/>
              </a:lnSpc>
            </a:pPr>
            <a:r>
              <a:rPr lang="en-US" sz="3366" spc="-100" b="true">
                <a:solidFill>
                  <a:srgbClr val="FFFFFF">
                    <a:alpha val="94902"/>
                  </a:srgbClr>
                </a:solidFill>
                <a:latin typeface="Anantason Condensed Bold"/>
                <a:ea typeface="Anantason Condensed Bold"/>
                <a:cs typeface="Anantason Condensed Bold"/>
                <a:sym typeface="Anantason Condensed Bold"/>
              </a:rPr>
              <a:t>03</a:t>
            </a:r>
          </a:p>
        </p:txBody>
      </p:sp>
      <p:sp>
        <p:nvSpPr>
          <p:cNvPr name="TextBox 13" id="13"/>
          <p:cNvSpPr txBox="true"/>
          <p:nvPr/>
        </p:nvSpPr>
        <p:spPr>
          <a:xfrm rot="0">
            <a:off x="2384227" y="4315182"/>
            <a:ext cx="11733609" cy="321242"/>
          </a:xfrm>
          <a:prstGeom prst="rect">
            <a:avLst/>
          </a:prstGeom>
        </p:spPr>
        <p:txBody>
          <a:bodyPr anchor="t" rtlCol="false" tIns="0" lIns="0" bIns="0" rIns="0">
            <a:spAutoFit/>
          </a:bodyPr>
          <a:lstStyle/>
          <a:p>
            <a:pPr algn="l">
              <a:lnSpc>
                <a:spcPts val="2626"/>
              </a:lnSpc>
            </a:pPr>
            <a:r>
              <a:rPr lang="en-US" sz="2188" spc="-65">
                <a:solidFill>
                  <a:srgbClr val="FFFFFF">
                    <a:alpha val="94902"/>
                  </a:srgbClr>
                </a:solidFill>
                <a:latin typeface="Anantason Condensed"/>
                <a:ea typeface="Anantason Condensed"/>
                <a:cs typeface="Anantason Condensed"/>
                <a:sym typeface="Anantason Condensed"/>
              </a:rPr>
              <a:t>Prepare the next path just in time, and only then — test it at </a:t>
            </a:r>
            <a:r>
              <a:rPr lang="en-US" sz="2188" spc="-65" b="true">
                <a:solidFill>
                  <a:srgbClr val="16B2CD">
                    <a:alpha val="94902"/>
                  </a:srgbClr>
                </a:solidFill>
                <a:latin typeface="Anantason Condensed Bold"/>
                <a:ea typeface="Anantason Condensed Bold"/>
                <a:cs typeface="Anantason Condensed Bold"/>
                <a:sym typeface="Anantason Condensed Bold"/>
              </a:rPr>
              <a:t>1.8 W</a:t>
            </a:r>
            <a:r>
              <a:rPr lang="en-US" sz="2188" spc="-65">
                <a:solidFill>
                  <a:srgbClr val="FFFFFF">
                    <a:alpha val="94902"/>
                  </a:srgbClr>
                </a:solidFill>
                <a:latin typeface="Anantason Condensed"/>
                <a:ea typeface="Anantason Condensed"/>
                <a:cs typeface="Anantason Condensed"/>
                <a:sym typeface="Anantason Condensed"/>
              </a:rPr>
              <a:t>; do not keep radios on.</a:t>
            </a:r>
          </a:p>
        </p:txBody>
      </p:sp>
      <p:sp>
        <p:nvSpPr>
          <p:cNvPr name="Freeform 14" id="14"/>
          <p:cNvSpPr/>
          <p:nvPr/>
        </p:nvSpPr>
        <p:spPr>
          <a:xfrm flipH="false" flipV="false" rot="0">
            <a:off x="426574" y="4711687"/>
            <a:ext cx="1760986" cy="1082267"/>
          </a:xfrm>
          <a:custGeom>
            <a:avLst/>
            <a:gdLst/>
            <a:ahLst/>
            <a:cxnLst/>
            <a:rect r="r" b="b" t="t" l="l"/>
            <a:pathLst>
              <a:path h="1082267" w="1760986">
                <a:moveTo>
                  <a:pt x="0" y="0"/>
                </a:moveTo>
                <a:lnTo>
                  <a:pt x="1760986" y="0"/>
                </a:lnTo>
                <a:lnTo>
                  <a:pt x="1760986" y="1082266"/>
                </a:lnTo>
                <a:lnTo>
                  <a:pt x="0" y="1082266"/>
                </a:lnTo>
                <a:lnTo>
                  <a:pt x="0" y="0"/>
                </a:lnTo>
                <a:close/>
              </a:path>
            </a:pathLst>
          </a:custGeom>
          <a:blipFill>
            <a:blip r:embed="rId7"/>
            <a:stretch>
              <a:fillRect l="0" t="0" r="0" b="0"/>
            </a:stretch>
          </a:blipFill>
        </p:spPr>
        <p:txBody>
          <a:bodyPr/>
          <a:p/>
        </p:txBody>
      </p:sp>
      <p:sp>
        <p:nvSpPr>
          <p:cNvPr name="TextBox 15" id="15"/>
          <p:cNvSpPr txBox="true"/>
          <p:nvPr/>
        </p:nvSpPr>
        <p:spPr>
          <a:xfrm rot="0">
            <a:off x="1013195" y="5002932"/>
            <a:ext cx="478983" cy="499711"/>
          </a:xfrm>
          <a:prstGeom prst="rect">
            <a:avLst/>
          </a:prstGeom>
        </p:spPr>
        <p:txBody>
          <a:bodyPr anchor="t" rtlCol="false" tIns="0" lIns="0" bIns="0" rIns="0">
            <a:spAutoFit/>
          </a:bodyPr>
          <a:lstStyle/>
          <a:p>
            <a:pPr algn="l">
              <a:lnSpc>
                <a:spcPts val="4040"/>
              </a:lnSpc>
            </a:pPr>
            <a:r>
              <a:rPr lang="en-US" sz="3366" spc="-100" b="true">
                <a:solidFill>
                  <a:srgbClr val="FFFFFF">
                    <a:alpha val="94902"/>
                  </a:srgbClr>
                </a:solidFill>
                <a:latin typeface="Anantason Condensed Bold"/>
                <a:ea typeface="Anantason Condensed Bold"/>
                <a:cs typeface="Anantason Condensed Bold"/>
                <a:sym typeface="Anantason Condensed Bold"/>
              </a:rPr>
              <a:t>04</a:t>
            </a:r>
          </a:p>
        </p:txBody>
      </p:sp>
      <p:sp>
        <p:nvSpPr>
          <p:cNvPr name="Freeform 16" id="16"/>
          <p:cNvSpPr/>
          <p:nvPr/>
        </p:nvSpPr>
        <p:spPr>
          <a:xfrm flipH="false" flipV="false" rot="0">
            <a:off x="426574" y="5564382"/>
            <a:ext cx="1760986" cy="874559"/>
          </a:xfrm>
          <a:custGeom>
            <a:avLst/>
            <a:gdLst/>
            <a:ahLst/>
            <a:cxnLst/>
            <a:rect r="r" b="b" t="t" l="l"/>
            <a:pathLst>
              <a:path h="874559" w="1760986">
                <a:moveTo>
                  <a:pt x="0" y="0"/>
                </a:moveTo>
                <a:lnTo>
                  <a:pt x="1760986" y="0"/>
                </a:lnTo>
                <a:lnTo>
                  <a:pt x="1760986" y="874558"/>
                </a:lnTo>
                <a:lnTo>
                  <a:pt x="0" y="874558"/>
                </a:lnTo>
                <a:lnTo>
                  <a:pt x="0" y="0"/>
                </a:lnTo>
                <a:close/>
              </a:path>
            </a:pathLst>
          </a:custGeom>
          <a:blipFill>
            <a:blip r:embed="rId8"/>
            <a:stretch>
              <a:fillRect l="0" t="0" r="0" b="0"/>
            </a:stretch>
          </a:blipFill>
        </p:spPr>
        <p:txBody>
          <a:bodyPr/>
          <a:p/>
        </p:txBody>
      </p:sp>
      <p:sp>
        <p:nvSpPr>
          <p:cNvPr name="TextBox 17" id="17"/>
          <p:cNvSpPr txBox="true"/>
          <p:nvPr/>
        </p:nvSpPr>
        <p:spPr>
          <a:xfrm rot="0">
            <a:off x="1013195" y="5816217"/>
            <a:ext cx="478983" cy="499711"/>
          </a:xfrm>
          <a:prstGeom prst="rect">
            <a:avLst/>
          </a:prstGeom>
        </p:spPr>
        <p:txBody>
          <a:bodyPr anchor="t" rtlCol="false" tIns="0" lIns="0" bIns="0" rIns="0">
            <a:spAutoFit/>
          </a:bodyPr>
          <a:lstStyle/>
          <a:p>
            <a:pPr algn="l">
              <a:lnSpc>
                <a:spcPts val="4040"/>
              </a:lnSpc>
            </a:pPr>
            <a:r>
              <a:rPr lang="en-US" sz="3366" spc="-100" b="true">
                <a:solidFill>
                  <a:srgbClr val="FFFFFF">
                    <a:alpha val="94902"/>
                  </a:srgbClr>
                </a:solidFill>
                <a:latin typeface="Anantason Condensed Bold"/>
                <a:ea typeface="Anantason Condensed Bold"/>
                <a:cs typeface="Anantason Condensed Bold"/>
                <a:sym typeface="Anantason Condensed Bold"/>
              </a:rPr>
              <a:t>05</a:t>
            </a:r>
          </a:p>
        </p:txBody>
      </p:sp>
      <p:sp>
        <p:nvSpPr>
          <p:cNvPr name="Freeform 18" id="18"/>
          <p:cNvSpPr/>
          <p:nvPr/>
        </p:nvSpPr>
        <p:spPr>
          <a:xfrm flipH="false" flipV="false" rot="0">
            <a:off x="426574" y="6428009"/>
            <a:ext cx="1760986" cy="863627"/>
          </a:xfrm>
          <a:custGeom>
            <a:avLst/>
            <a:gdLst/>
            <a:ahLst/>
            <a:cxnLst/>
            <a:rect r="r" b="b" t="t" l="l"/>
            <a:pathLst>
              <a:path h="863627" w="1760986">
                <a:moveTo>
                  <a:pt x="0" y="0"/>
                </a:moveTo>
                <a:lnTo>
                  <a:pt x="1760986" y="0"/>
                </a:lnTo>
                <a:lnTo>
                  <a:pt x="1760986" y="863626"/>
                </a:lnTo>
                <a:lnTo>
                  <a:pt x="0" y="863626"/>
                </a:lnTo>
                <a:lnTo>
                  <a:pt x="0" y="0"/>
                </a:lnTo>
                <a:close/>
              </a:path>
            </a:pathLst>
          </a:custGeom>
          <a:blipFill>
            <a:blip r:embed="rId9"/>
            <a:stretch>
              <a:fillRect l="0" t="0" r="0" b="0"/>
            </a:stretch>
          </a:blipFill>
        </p:spPr>
        <p:txBody>
          <a:bodyPr/>
          <a:p/>
        </p:txBody>
      </p:sp>
      <p:sp>
        <p:nvSpPr>
          <p:cNvPr name="TextBox 19" id="19"/>
          <p:cNvSpPr txBox="true"/>
          <p:nvPr/>
        </p:nvSpPr>
        <p:spPr>
          <a:xfrm rot="0">
            <a:off x="1013195" y="6614442"/>
            <a:ext cx="478983" cy="499711"/>
          </a:xfrm>
          <a:prstGeom prst="rect">
            <a:avLst/>
          </a:prstGeom>
        </p:spPr>
        <p:txBody>
          <a:bodyPr anchor="t" rtlCol="false" tIns="0" lIns="0" bIns="0" rIns="0">
            <a:spAutoFit/>
          </a:bodyPr>
          <a:lstStyle/>
          <a:p>
            <a:pPr algn="l">
              <a:lnSpc>
                <a:spcPts val="4040"/>
              </a:lnSpc>
            </a:pPr>
            <a:r>
              <a:rPr lang="en-US" sz="3366" spc="-100" b="true">
                <a:solidFill>
                  <a:srgbClr val="FFFFFF">
                    <a:alpha val="94902"/>
                  </a:srgbClr>
                </a:solidFill>
                <a:latin typeface="Anantason Condensed Bold"/>
                <a:ea typeface="Anantason Condensed Bold"/>
                <a:cs typeface="Anantason Condensed Bold"/>
                <a:sym typeface="Anantason Condensed Bold"/>
              </a:rPr>
              <a:t>06</a:t>
            </a:r>
          </a:p>
        </p:txBody>
      </p:sp>
      <p:sp>
        <p:nvSpPr>
          <p:cNvPr name="TextBox 20" id="20"/>
          <p:cNvSpPr txBox="true"/>
          <p:nvPr/>
        </p:nvSpPr>
        <p:spPr>
          <a:xfrm rot="0">
            <a:off x="2384227" y="6694794"/>
            <a:ext cx="11733609" cy="321242"/>
          </a:xfrm>
          <a:prstGeom prst="rect">
            <a:avLst/>
          </a:prstGeom>
        </p:spPr>
        <p:txBody>
          <a:bodyPr anchor="t" rtlCol="false" tIns="0" lIns="0" bIns="0" rIns="0">
            <a:spAutoFit/>
          </a:bodyPr>
          <a:lstStyle/>
          <a:p>
            <a:pPr algn="l">
              <a:lnSpc>
                <a:spcPts val="2626"/>
              </a:lnSpc>
            </a:pPr>
            <a:r>
              <a:rPr lang="en-US" sz="2188" spc="-65">
                <a:solidFill>
                  <a:srgbClr val="FFFFFF">
                    <a:alpha val="94902"/>
                  </a:srgbClr>
                </a:solidFill>
                <a:latin typeface="Anantason Condensed"/>
                <a:ea typeface="Anantason Condensed"/>
                <a:cs typeface="Anantason Condensed"/>
                <a:sym typeface="Anantason Condensed"/>
              </a:rPr>
              <a:t>Detect a failed path faster than the application allows — within the </a:t>
            </a:r>
            <a:r>
              <a:rPr lang="en-US" sz="2188" spc="-65" b="true">
                <a:solidFill>
                  <a:srgbClr val="16B2CD">
                    <a:alpha val="94902"/>
                  </a:srgbClr>
                </a:solidFill>
                <a:latin typeface="Anantason Condensed Bold"/>
                <a:ea typeface="Anantason Condensed Bold"/>
                <a:cs typeface="Anantason Condensed Bold"/>
                <a:sym typeface="Anantason Condensed Bold"/>
              </a:rPr>
              <a:t>300 ms C2</a:t>
            </a:r>
            <a:r>
              <a:rPr lang="en-US" sz="2188" spc="-65">
                <a:solidFill>
                  <a:srgbClr val="FFFFFF">
                    <a:alpha val="94902"/>
                  </a:srgbClr>
                </a:solidFill>
                <a:latin typeface="Anantason Condensed"/>
                <a:ea typeface="Anantason Condensed"/>
                <a:cs typeface="Anantason Condensed"/>
                <a:sym typeface="Anantason Condensed"/>
              </a:rPr>
              <a:t> budget.</a:t>
            </a:r>
          </a:p>
        </p:txBody>
      </p:sp>
      <p:sp>
        <p:nvSpPr>
          <p:cNvPr name="Freeform 21" id="21"/>
          <p:cNvSpPr/>
          <p:nvPr/>
        </p:nvSpPr>
        <p:spPr>
          <a:xfrm flipH="false" flipV="false" rot="0">
            <a:off x="426574" y="7062064"/>
            <a:ext cx="1760986" cy="1082267"/>
          </a:xfrm>
          <a:custGeom>
            <a:avLst/>
            <a:gdLst/>
            <a:ahLst/>
            <a:cxnLst/>
            <a:rect r="r" b="b" t="t" l="l"/>
            <a:pathLst>
              <a:path h="1082267" w="1760986">
                <a:moveTo>
                  <a:pt x="0" y="0"/>
                </a:moveTo>
                <a:lnTo>
                  <a:pt x="1760986" y="0"/>
                </a:lnTo>
                <a:lnTo>
                  <a:pt x="1760986" y="1082266"/>
                </a:lnTo>
                <a:lnTo>
                  <a:pt x="0" y="1082266"/>
                </a:lnTo>
                <a:lnTo>
                  <a:pt x="0" y="0"/>
                </a:lnTo>
                <a:close/>
              </a:path>
            </a:pathLst>
          </a:custGeom>
          <a:blipFill>
            <a:blip r:embed="rId10"/>
            <a:stretch>
              <a:fillRect l="0" t="0" r="0" b="0"/>
            </a:stretch>
          </a:blipFill>
        </p:spPr>
        <p:txBody>
          <a:bodyPr/>
          <a:p/>
        </p:txBody>
      </p:sp>
      <p:sp>
        <p:nvSpPr>
          <p:cNvPr name="TextBox 22" id="22"/>
          <p:cNvSpPr txBox="true"/>
          <p:nvPr/>
        </p:nvSpPr>
        <p:spPr>
          <a:xfrm rot="0">
            <a:off x="1013195" y="7412666"/>
            <a:ext cx="478983" cy="499711"/>
          </a:xfrm>
          <a:prstGeom prst="rect">
            <a:avLst/>
          </a:prstGeom>
        </p:spPr>
        <p:txBody>
          <a:bodyPr anchor="t" rtlCol="false" tIns="0" lIns="0" bIns="0" rIns="0">
            <a:spAutoFit/>
          </a:bodyPr>
          <a:lstStyle/>
          <a:p>
            <a:pPr algn="l">
              <a:lnSpc>
                <a:spcPts val="4040"/>
              </a:lnSpc>
            </a:pPr>
            <a:r>
              <a:rPr lang="en-US" sz="3366" spc="-100" b="true">
                <a:solidFill>
                  <a:srgbClr val="FFFFFF">
                    <a:alpha val="94902"/>
                  </a:srgbClr>
                </a:solidFill>
                <a:latin typeface="Anantason Condensed Bold"/>
                <a:ea typeface="Anantason Condensed Bold"/>
                <a:cs typeface="Anantason Condensed Bold"/>
                <a:sym typeface="Anantason Condensed Bold"/>
              </a:rPr>
              <a:t>07</a:t>
            </a:r>
          </a:p>
        </p:txBody>
      </p:sp>
      <p:sp>
        <p:nvSpPr>
          <p:cNvPr name="Freeform 23" id="23"/>
          <p:cNvSpPr/>
          <p:nvPr/>
        </p:nvSpPr>
        <p:spPr>
          <a:xfrm flipH="false" flipV="false" rot="0">
            <a:off x="426574" y="7925691"/>
            <a:ext cx="1760986" cy="863627"/>
          </a:xfrm>
          <a:custGeom>
            <a:avLst/>
            <a:gdLst/>
            <a:ahLst/>
            <a:cxnLst/>
            <a:rect r="r" b="b" t="t" l="l"/>
            <a:pathLst>
              <a:path h="863627" w="1760986">
                <a:moveTo>
                  <a:pt x="0" y="0"/>
                </a:moveTo>
                <a:lnTo>
                  <a:pt x="1760986" y="0"/>
                </a:lnTo>
                <a:lnTo>
                  <a:pt x="1760986" y="863627"/>
                </a:lnTo>
                <a:lnTo>
                  <a:pt x="0" y="863627"/>
                </a:lnTo>
                <a:lnTo>
                  <a:pt x="0" y="0"/>
                </a:lnTo>
                <a:close/>
              </a:path>
            </a:pathLst>
          </a:custGeom>
          <a:blipFill>
            <a:blip r:embed="rId11"/>
            <a:stretch>
              <a:fillRect l="0" t="0" r="0" b="0"/>
            </a:stretch>
          </a:blipFill>
        </p:spPr>
        <p:txBody>
          <a:bodyPr/>
          <a:p/>
        </p:txBody>
      </p:sp>
      <p:sp>
        <p:nvSpPr>
          <p:cNvPr name="TextBox 24" id="24"/>
          <p:cNvSpPr txBox="true"/>
          <p:nvPr/>
        </p:nvSpPr>
        <p:spPr>
          <a:xfrm rot="0">
            <a:off x="2384227" y="8306304"/>
            <a:ext cx="11733609" cy="321242"/>
          </a:xfrm>
          <a:prstGeom prst="rect">
            <a:avLst/>
          </a:prstGeom>
        </p:spPr>
        <p:txBody>
          <a:bodyPr anchor="t" rtlCol="false" tIns="0" lIns="0" bIns="0" rIns="0">
            <a:spAutoFit/>
          </a:bodyPr>
          <a:lstStyle/>
          <a:p>
            <a:pPr algn="l">
              <a:lnSpc>
                <a:spcPts val="2626"/>
              </a:lnSpc>
            </a:pPr>
            <a:r>
              <a:rPr lang="en-US" sz="2188" spc="-65">
                <a:solidFill>
                  <a:srgbClr val="FFFFFF">
                    <a:alpha val="94902"/>
                  </a:srgbClr>
                </a:solidFill>
                <a:latin typeface="Anantason Condensed"/>
                <a:ea typeface="Anantason Condensed"/>
                <a:cs typeface="Anantason Condensed"/>
                <a:sym typeface="Anantason Condensed"/>
              </a:rPr>
              <a:t>Measure what </a:t>
            </a:r>
            <a:r>
              <a:rPr lang="en-US" sz="2188" spc="-65" b="true">
                <a:solidFill>
                  <a:srgbClr val="16B2CD">
                    <a:alpha val="94902"/>
                  </a:srgbClr>
                </a:solidFill>
                <a:latin typeface="Anantason Condensed Bold"/>
                <a:ea typeface="Anantason Condensed Bold"/>
                <a:cs typeface="Anantason Condensed Bold"/>
                <a:sym typeface="Anantason Condensed Bold"/>
              </a:rPr>
              <a:t>users feel</a:t>
            </a:r>
            <a:r>
              <a:rPr lang="en-US" sz="2188" spc="-65">
                <a:solidFill>
                  <a:srgbClr val="FFFFFF">
                    <a:alpha val="94902"/>
                  </a:srgbClr>
                </a:solidFill>
                <a:latin typeface="Anantason Condensed"/>
                <a:ea typeface="Anantason Condensed"/>
                <a:cs typeface="Anantason Condensed"/>
                <a:sym typeface="Anantason Condensed"/>
              </a:rPr>
              <a:t>, on matched pairs: interruption, delivery, voice MOS, power, same seeds.</a:t>
            </a:r>
          </a:p>
        </p:txBody>
      </p:sp>
      <p:sp>
        <p:nvSpPr>
          <p:cNvPr name="Freeform 25" id="25"/>
          <p:cNvSpPr/>
          <p:nvPr/>
        </p:nvSpPr>
        <p:spPr>
          <a:xfrm flipH="false" flipV="false" rot="0">
            <a:off x="426574" y="8778386"/>
            <a:ext cx="1760986" cy="874559"/>
          </a:xfrm>
          <a:custGeom>
            <a:avLst/>
            <a:gdLst/>
            <a:ahLst/>
            <a:cxnLst/>
            <a:rect r="r" b="b" t="t" l="l"/>
            <a:pathLst>
              <a:path h="874559" w="1760986">
                <a:moveTo>
                  <a:pt x="0" y="0"/>
                </a:moveTo>
                <a:lnTo>
                  <a:pt x="1760986" y="0"/>
                </a:lnTo>
                <a:lnTo>
                  <a:pt x="1760986" y="874559"/>
                </a:lnTo>
                <a:lnTo>
                  <a:pt x="0" y="874559"/>
                </a:lnTo>
                <a:lnTo>
                  <a:pt x="0" y="0"/>
                </a:lnTo>
                <a:close/>
              </a:path>
            </a:pathLst>
          </a:custGeom>
          <a:blipFill>
            <a:blip r:embed="rId12"/>
            <a:stretch>
              <a:fillRect l="0" t="0" r="0" b="0"/>
            </a:stretch>
          </a:blipFill>
        </p:spPr>
        <p:txBody>
          <a:bodyPr/>
          <a:p/>
        </p:txBody>
      </p:sp>
      <p:sp>
        <p:nvSpPr>
          <p:cNvPr name="TextBox 26" id="26"/>
          <p:cNvSpPr txBox="true"/>
          <p:nvPr/>
        </p:nvSpPr>
        <p:spPr>
          <a:xfrm rot="0">
            <a:off x="1013195" y="8994055"/>
            <a:ext cx="478983" cy="499711"/>
          </a:xfrm>
          <a:prstGeom prst="rect">
            <a:avLst/>
          </a:prstGeom>
        </p:spPr>
        <p:txBody>
          <a:bodyPr anchor="t" rtlCol="false" tIns="0" lIns="0" bIns="0" rIns="0">
            <a:spAutoFit/>
          </a:bodyPr>
          <a:lstStyle/>
          <a:p>
            <a:pPr algn="l">
              <a:lnSpc>
                <a:spcPts val="4040"/>
              </a:lnSpc>
            </a:pPr>
            <a:r>
              <a:rPr lang="en-US" sz="3366" spc="-100" b="true">
                <a:solidFill>
                  <a:srgbClr val="FFFFFF">
                    <a:alpha val="94902"/>
                  </a:srgbClr>
                </a:solidFill>
                <a:latin typeface="Anantason Condensed Bold"/>
                <a:ea typeface="Anantason Condensed Bold"/>
                <a:cs typeface="Anantason Condensed Bold"/>
                <a:sym typeface="Anantason Condensed Bold"/>
              </a:rPr>
              <a:t>09</a:t>
            </a:r>
          </a:p>
        </p:txBody>
      </p:sp>
      <p:sp>
        <p:nvSpPr>
          <p:cNvPr name="TextBox 27" id="27"/>
          <p:cNvSpPr txBox="true"/>
          <p:nvPr/>
        </p:nvSpPr>
        <p:spPr>
          <a:xfrm rot="0">
            <a:off x="2384227" y="9089468"/>
            <a:ext cx="11733609" cy="321242"/>
          </a:xfrm>
          <a:prstGeom prst="rect">
            <a:avLst/>
          </a:prstGeom>
        </p:spPr>
        <p:txBody>
          <a:bodyPr anchor="t" rtlCol="false" tIns="0" lIns="0" bIns="0" rIns="0">
            <a:spAutoFit/>
          </a:bodyPr>
          <a:lstStyle/>
          <a:p>
            <a:pPr algn="l">
              <a:lnSpc>
                <a:spcPts val="2626"/>
              </a:lnSpc>
            </a:pPr>
            <a:r>
              <a:rPr lang="en-US" sz="2188" spc="-65">
                <a:solidFill>
                  <a:srgbClr val="FFFFFF">
                    <a:alpha val="94902"/>
                  </a:srgbClr>
                </a:solidFill>
                <a:latin typeface="Anantason Condensed"/>
                <a:ea typeface="Anantason Condensed"/>
                <a:cs typeface="Anantason Condensed"/>
                <a:sym typeface="Anantason Condensed"/>
              </a:rPr>
              <a:t>Use what you know about the route — a </a:t>
            </a:r>
            <a:r>
              <a:rPr lang="en-US" sz="2188" spc="-65" b="true">
                <a:solidFill>
                  <a:srgbClr val="16B2CD">
                    <a:alpha val="94902"/>
                  </a:srgbClr>
                </a:solidFill>
                <a:latin typeface="Anantason Condensed Bold"/>
                <a:ea typeface="Anantason Condensed Bold"/>
                <a:cs typeface="Anantason Condensed Bold"/>
                <a:sym typeface="Anantason Condensed Bold"/>
              </a:rPr>
              <a:t>coverage map</a:t>
            </a:r>
            <a:r>
              <a:rPr lang="en-US" sz="2188" spc="-65">
                <a:solidFill>
                  <a:srgbClr val="FFFFFF">
                    <a:alpha val="94902"/>
                  </a:srgbClr>
                </a:solidFill>
                <a:latin typeface="Anantason Condensed"/>
                <a:ea typeface="Anantason Condensed"/>
                <a:cs typeface="Anantason Condensed"/>
                <a:sym typeface="Anantason Condensed"/>
              </a:rPr>
              <a:t> is better than reaction if two radios fail together.</a:t>
            </a:r>
          </a:p>
        </p:txBody>
      </p:sp>
      <p:sp>
        <p:nvSpPr>
          <p:cNvPr name="TextBox 28" id="28"/>
          <p:cNvSpPr txBox="true"/>
          <p:nvPr/>
        </p:nvSpPr>
        <p:spPr>
          <a:xfrm rot="0">
            <a:off x="2384227" y="5098345"/>
            <a:ext cx="11733609" cy="321242"/>
          </a:xfrm>
          <a:prstGeom prst="rect">
            <a:avLst/>
          </a:prstGeom>
        </p:spPr>
        <p:txBody>
          <a:bodyPr anchor="t" rtlCol="false" tIns="0" lIns="0" bIns="0" rIns="0">
            <a:spAutoFit/>
          </a:bodyPr>
          <a:lstStyle/>
          <a:p>
            <a:pPr algn="l">
              <a:lnSpc>
                <a:spcPts val="2626"/>
              </a:lnSpc>
            </a:pPr>
            <a:r>
              <a:rPr lang="en-US" sz="2188" spc="-65">
                <a:solidFill>
                  <a:srgbClr val="FFFFFF">
                    <a:alpha val="94902"/>
                  </a:srgbClr>
                </a:solidFill>
                <a:latin typeface="Anantason Condensed"/>
                <a:ea typeface="Anantason Condensed"/>
                <a:cs typeface="Anantason Condensed"/>
                <a:sym typeface="Anantason Condensed"/>
              </a:rPr>
              <a:t>Duplicate only what needs it, only around the handover — a </a:t>
            </a:r>
            <a:r>
              <a:rPr lang="en-US" sz="2188" spc="-65" b="true">
                <a:solidFill>
                  <a:srgbClr val="16B2CD">
                    <a:alpha val="94902"/>
                  </a:srgbClr>
                </a:solidFill>
                <a:latin typeface="Anantason Condensed Bold"/>
                <a:ea typeface="Anantason Condensed Bold"/>
                <a:cs typeface="Anantason Condensed Bold"/>
                <a:sym typeface="Anantason Condensed Bold"/>
              </a:rPr>
              <a:t>400 ms burst</a:t>
            </a:r>
            <a:r>
              <a:rPr lang="en-US" sz="2188" spc="-65">
                <a:solidFill>
                  <a:srgbClr val="FFFFFF">
                    <a:alpha val="94902"/>
                  </a:srgbClr>
                </a:solidFill>
                <a:latin typeface="Anantason Condensed"/>
                <a:ea typeface="Anantason Condensed"/>
                <a:cs typeface="Anantason Condensed"/>
                <a:sym typeface="Anantason Condensed"/>
              </a:rPr>
              <a:t> costs ≈ 1 % of protected bytes.</a:t>
            </a:r>
          </a:p>
        </p:txBody>
      </p:sp>
      <p:sp>
        <p:nvSpPr>
          <p:cNvPr name="TextBox 29" id="29"/>
          <p:cNvSpPr txBox="true"/>
          <p:nvPr/>
        </p:nvSpPr>
        <p:spPr>
          <a:xfrm rot="0">
            <a:off x="2384227" y="7508080"/>
            <a:ext cx="11733609" cy="321242"/>
          </a:xfrm>
          <a:prstGeom prst="rect">
            <a:avLst/>
          </a:prstGeom>
        </p:spPr>
        <p:txBody>
          <a:bodyPr anchor="t" rtlCol="false" tIns="0" lIns="0" bIns="0" rIns="0">
            <a:spAutoFit/>
          </a:bodyPr>
          <a:lstStyle/>
          <a:p>
            <a:pPr algn="l">
              <a:lnSpc>
                <a:spcPts val="2626"/>
              </a:lnSpc>
            </a:pPr>
            <a:r>
              <a:rPr lang="en-US" sz="2188" spc="-65" b="true">
                <a:solidFill>
                  <a:srgbClr val="16B2CD">
                    <a:alpha val="94902"/>
                  </a:srgbClr>
                </a:solidFill>
                <a:latin typeface="Anantason Condensed Bold"/>
                <a:ea typeface="Anantason Condensed Bold"/>
                <a:cs typeface="Anantason Condensed Bold"/>
                <a:sym typeface="Anantason Condensed Bold"/>
              </a:rPr>
              <a:t>Hold still</a:t>
            </a:r>
            <a:r>
              <a:rPr lang="en-US" sz="2188" spc="-65">
                <a:solidFill>
                  <a:srgbClr val="FFFFFF">
                    <a:alpha val="94902"/>
                  </a:srgbClr>
                </a:solidFill>
                <a:latin typeface="Anantason Condensed"/>
                <a:ea typeface="Anantason Condensed"/>
                <a:cs typeface="Anantason Condensed"/>
                <a:sym typeface="Anantason Condensed"/>
              </a:rPr>
              <a:t> unless a move clearly helps — a reversed trend cancels the prediction at no cost.</a:t>
            </a:r>
          </a:p>
        </p:txBody>
      </p:sp>
      <p:sp>
        <p:nvSpPr>
          <p:cNvPr name="TextBox 30" id="30"/>
          <p:cNvSpPr txBox="true"/>
          <p:nvPr/>
        </p:nvSpPr>
        <p:spPr>
          <a:xfrm rot="0">
            <a:off x="2384227" y="5896570"/>
            <a:ext cx="11733609" cy="321242"/>
          </a:xfrm>
          <a:prstGeom prst="rect">
            <a:avLst/>
          </a:prstGeom>
        </p:spPr>
        <p:txBody>
          <a:bodyPr anchor="t" rtlCol="false" tIns="0" lIns="0" bIns="0" rIns="0">
            <a:spAutoFit/>
          </a:bodyPr>
          <a:lstStyle/>
          <a:p>
            <a:pPr algn="l">
              <a:lnSpc>
                <a:spcPts val="2626"/>
              </a:lnSpc>
            </a:pPr>
            <a:r>
              <a:rPr lang="en-US" sz="2188" spc="-65">
                <a:solidFill>
                  <a:srgbClr val="FFFFFF">
                    <a:alpha val="94902"/>
                  </a:srgbClr>
                </a:solidFill>
                <a:latin typeface="Anantason Condensed"/>
                <a:ea typeface="Anantason Condensed"/>
                <a:cs typeface="Anantason Condensed"/>
                <a:sym typeface="Anantason Condensed"/>
              </a:rPr>
              <a:t>Deliver the </a:t>
            </a:r>
            <a:r>
              <a:rPr lang="en-US" sz="2188" spc="-65" b="true">
                <a:solidFill>
                  <a:srgbClr val="16B2CD">
                    <a:alpha val="94902"/>
                  </a:srgbClr>
                </a:solidFill>
                <a:latin typeface="Anantason Condensed Bold"/>
                <a:ea typeface="Anantason Condensed Bold"/>
                <a:cs typeface="Anantason Condensed Bold"/>
                <a:sym typeface="Anantason Condensed Bold"/>
              </a:rPr>
              <a:t>first copy</a:t>
            </a:r>
            <a:r>
              <a:rPr lang="en-US" sz="2188" spc="-65">
                <a:solidFill>
                  <a:srgbClr val="FFFFFF">
                    <a:alpha val="94902"/>
                  </a:srgbClr>
                </a:solidFill>
                <a:latin typeface="Anantason Condensed"/>
                <a:ea typeface="Anantason Condensed"/>
                <a:cs typeface="Anantason Condensed"/>
                <a:sym typeface="Anantason Condensed"/>
              </a:rPr>
              <a:t>; never make real-time traffic wait in order.</a:t>
            </a:r>
          </a:p>
        </p:txBody>
      </p:sp>
      <p:sp>
        <p:nvSpPr>
          <p:cNvPr name="TextBox 31" id="31"/>
          <p:cNvSpPr txBox="true"/>
          <p:nvPr/>
        </p:nvSpPr>
        <p:spPr>
          <a:xfrm rot="0">
            <a:off x="1013195" y="8210891"/>
            <a:ext cx="478983" cy="499711"/>
          </a:xfrm>
          <a:prstGeom prst="rect">
            <a:avLst/>
          </a:prstGeom>
        </p:spPr>
        <p:txBody>
          <a:bodyPr anchor="t" rtlCol="false" tIns="0" lIns="0" bIns="0" rIns="0">
            <a:spAutoFit/>
          </a:bodyPr>
          <a:lstStyle/>
          <a:p>
            <a:pPr algn="l">
              <a:lnSpc>
                <a:spcPts val="4040"/>
              </a:lnSpc>
            </a:pPr>
            <a:r>
              <a:rPr lang="en-US" sz="3366" spc="-100" b="true">
                <a:solidFill>
                  <a:srgbClr val="FFFFFF">
                    <a:alpha val="94902"/>
                  </a:srgbClr>
                </a:solidFill>
                <a:latin typeface="Anantason Condensed Bold"/>
                <a:ea typeface="Anantason Condensed Bold"/>
                <a:cs typeface="Anantason Condensed Bold"/>
                <a:sym typeface="Anantason Condensed Bold"/>
              </a:rPr>
              <a:t>08</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Freeform 3" id="3"/>
          <p:cNvSpPr/>
          <p:nvPr/>
        </p:nvSpPr>
        <p:spPr>
          <a:xfrm flipH="false" flipV="false" rot="0">
            <a:off x="10226842" y="1924030"/>
            <a:ext cx="8061158" cy="4296271"/>
          </a:xfrm>
          <a:custGeom>
            <a:avLst/>
            <a:gdLst/>
            <a:ahLst/>
            <a:cxnLst/>
            <a:rect r="r" b="b" t="t" l="l"/>
            <a:pathLst>
              <a:path h="4296271" w="8061158">
                <a:moveTo>
                  <a:pt x="0" y="0"/>
                </a:moveTo>
                <a:lnTo>
                  <a:pt x="8061158" y="0"/>
                </a:lnTo>
                <a:lnTo>
                  <a:pt x="8061158" y="4296271"/>
                </a:lnTo>
                <a:lnTo>
                  <a:pt x="0" y="4296271"/>
                </a:lnTo>
                <a:lnTo>
                  <a:pt x="0" y="0"/>
                </a:lnTo>
                <a:close/>
              </a:path>
            </a:pathLst>
          </a:custGeom>
          <a:blipFill>
            <a:blip r:embed="rId3"/>
            <a:stretch>
              <a:fillRect l="0" t="0" r="0" b="0"/>
            </a:stretch>
          </a:blipFill>
        </p:spPr>
        <p:txBody>
          <a:bodyPr/>
          <a:p/>
        </p:txBody>
      </p:sp>
      <p:sp>
        <p:nvSpPr>
          <p:cNvPr name="Freeform 4" id="4"/>
          <p:cNvSpPr/>
          <p:nvPr/>
        </p:nvSpPr>
        <p:spPr>
          <a:xfrm flipH="false" flipV="false" rot="0">
            <a:off x="11747196" y="3640352"/>
            <a:ext cx="6540804" cy="6646648"/>
          </a:xfrm>
          <a:custGeom>
            <a:avLst/>
            <a:gdLst/>
            <a:ahLst/>
            <a:cxnLst/>
            <a:rect r="r" b="b" t="t" l="l"/>
            <a:pathLst>
              <a:path h="6646648" w="6540804">
                <a:moveTo>
                  <a:pt x="0" y="0"/>
                </a:moveTo>
                <a:lnTo>
                  <a:pt x="6540804" y="0"/>
                </a:lnTo>
                <a:lnTo>
                  <a:pt x="6540804" y="6646648"/>
                </a:lnTo>
                <a:lnTo>
                  <a:pt x="0" y="6646648"/>
                </a:lnTo>
                <a:lnTo>
                  <a:pt x="0" y="0"/>
                </a:lnTo>
                <a:close/>
              </a:path>
            </a:pathLst>
          </a:custGeom>
          <a:blipFill>
            <a:blip r:embed="rId4"/>
            <a:stretch>
              <a:fillRect l="0" t="0" r="0" b="0"/>
            </a:stretch>
          </a:blipFill>
        </p:spPr>
        <p:txBody>
          <a:bodyPr/>
          <a:p/>
        </p:txBody>
      </p:sp>
      <p:sp>
        <p:nvSpPr>
          <p:cNvPr name="Freeform 5" id="5"/>
          <p:cNvSpPr/>
          <p:nvPr/>
        </p:nvSpPr>
        <p:spPr>
          <a:xfrm flipH="false" flipV="false" rot="0">
            <a:off x="10226842" y="6854356"/>
            <a:ext cx="1968804" cy="1508614"/>
          </a:xfrm>
          <a:custGeom>
            <a:avLst/>
            <a:gdLst/>
            <a:ahLst/>
            <a:cxnLst/>
            <a:rect r="r" b="b" t="t" l="l"/>
            <a:pathLst>
              <a:path h="1508614" w="1968804">
                <a:moveTo>
                  <a:pt x="0" y="0"/>
                </a:moveTo>
                <a:lnTo>
                  <a:pt x="1968804" y="0"/>
                </a:lnTo>
                <a:lnTo>
                  <a:pt x="1968804" y="1508614"/>
                </a:lnTo>
                <a:lnTo>
                  <a:pt x="0" y="1508614"/>
                </a:lnTo>
                <a:lnTo>
                  <a:pt x="0" y="0"/>
                </a:lnTo>
                <a:close/>
              </a:path>
            </a:pathLst>
          </a:custGeom>
          <a:blipFill>
            <a:blip r:embed="rId5"/>
            <a:stretch>
              <a:fillRect l="0" t="0" r="0" b="0"/>
            </a:stretch>
          </a:blipFill>
        </p:spPr>
        <p:txBody>
          <a:bodyPr/>
          <a:p/>
        </p:txBody>
      </p:sp>
      <p:sp>
        <p:nvSpPr>
          <p:cNvPr name="Freeform 6" id="6"/>
          <p:cNvSpPr/>
          <p:nvPr/>
        </p:nvSpPr>
        <p:spPr>
          <a:xfrm flipH="false" flipV="false" rot="0">
            <a:off x="11747196" y="5990729"/>
            <a:ext cx="2187560" cy="3224936"/>
          </a:xfrm>
          <a:custGeom>
            <a:avLst/>
            <a:gdLst/>
            <a:ahLst/>
            <a:cxnLst/>
            <a:rect r="r" b="b" t="t" l="l"/>
            <a:pathLst>
              <a:path h="3224936" w="2187560">
                <a:moveTo>
                  <a:pt x="0" y="0"/>
                </a:moveTo>
                <a:lnTo>
                  <a:pt x="2187560" y="0"/>
                </a:lnTo>
                <a:lnTo>
                  <a:pt x="2187560" y="3224936"/>
                </a:lnTo>
                <a:lnTo>
                  <a:pt x="0" y="3224936"/>
                </a:lnTo>
                <a:lnTo>
                  <a:pt x="0" y="0"/>
                </a:lnTo>
                <a:close/>
              </a:path>
            </a:pathLst>
          </a:custGeom>
          <a:blipFill>
            <a:blip r:embed="rId6"/>
            <a:stretch>
              <a:fillRect l="0" t="0" r="0" b="0"/>
            </a:stretch>
          </a:blipFill>
        </p:spPr>
        <p:txBody>
          <a:bodyPr/>
          <a:p/>
        </p:txBody>
      </p:sp>
      <p:sp>
        <p:nvSpPr>
          <p:cNvPr name="TextBox 7" id="7"/>
          <p:cNvSpPr txBox="true"/>
          <p:nvPr/>
        </p:nvSpPr>
        <p:spPr>
          <a:xfrm rot="0">
            <a:off x="469915" y="498142"/>
            <a:ext cx="9265572" cy="1832508"/>
          </a:xfrm>
          <a:prstGeom prst="rect">
            <a:avLst/>
          </a:prstGeom>
        </p:spPr>
        <p:txBody>
          <a:bodyPr anchor="t" rtlCol="false" tIns="0" lIns="0" bIns="0" rIns="0">
            <a:spAutoFit/>
          </a:bodyPr>
          <a:lstStyle/>
          <a:p>
            <a:pPr algn="l">
              <a:lnSpc>
                <a:spcPts val="7124"/>
              </a:lnSpc>
            </a:pPr>
            <a:r>
              <a:rPr lang="en-US" sz="7124" b="true">
                <a:solidFill>
                  <a:srgbClr val="FFFFFF">
                    <a:alpha val="94902"/>
                  </a:srgbClr>
                </a:solidFill>
                <a:latin typeface="Anantason Condensed Bold"/>
                <a:ea typeface="Anantason Condensed Bold"/>
                <a:cs typeface="Anantason Condensed Bold"/>
                <a:sym typeface="Anantason Condensed Bold"/>
              </a:rPr>
              <a:t>Plan for real-life use, limits, and declaration</a:t>
            </a:r>
          </a:p>
        </p:txBody>
      </p:sp>
      <p:sp>
        <p:nvSpPr>
          <p:cNvPr name="TextBox 8" id="8"/>
          <p:cNvSpPr txBox="true"/>
          <p:nvPr/>
        </p:nvSpPr>
        <p:spPr>
          <a:xfrm rot="0">
            <a:off x="471914" y="2440092"/>
            <a:ext cx="9065599" cy="442866"/>
          </a:xfrm>
          <a:prstGeom prst="rect">
            <a:avLst/>
          </a:prstGeom>
        </p:spPr>
        <p:txBody>
          <a:bodyPr anchor="t" rtlCol="false" tIns="0" lIns="0" bIns="0" rIns="0">
            <a:spAutoFit/>
          </a:bodyPr>
          <a:lstStyle/>
          <a:p>
            <a:pPr algn="l">
              <a:lnSpc>
                <a:spcPts val="3790"/>
              </a:lnSpc>
            </a:pPr>
            <a:r>
              <a:rPr lang="en-US" sz="2707">
                <a:solidFill>
                  <a:srgbClr val="FFFFFF"/>
                </a:solidFill>
                <a:latin typeface="Anantason Condensed"/>
                <a:ea typeface="Anantason Condensed"/>
                <a:cs typeface="Anantason Condensed"/>
                <a:sym typeface="Anantason Condensed"/>
              </a:rPr>
              <a:t>Deployment path, known limits, and our AI-use declaration</a:t>
            </a:r>
          </a:p>
        </p:txBody>
      </p:sp>
      <p:sp>
        <p:nvSpPr>
          <p:cNvPr name="TextBox 9" id="9"/>
          <p:cNvSpPr txBox="true"/>
          <p:nvPr/>
        </p:nvSpPr>
        <p:spPr>
          <a:xfrm rot="0">
            <a:off x="567465" y="3511908"/>
            <a:ext cx="2189455" cy="392630"/>
          </a:xfrm>
          <a:prstGeom prst="rect">
            <a:avLst/>
          </a:prstGeom>
        </p:spPr>
        <p:txBody>
          <a:bodyPr anchor="t" rtlCol="false" tIns="0" lIns="0" bIns="0" rIns="0">
            <a:spAutoFit/>
          </a:bodyPr>
          <a:lstStyle/>
          <a:p>
            <a:pPr algn="l">
              <a:lnSpc>
                <a:spcPts val="3185"/>
              </a:lnSpc>
            </a:pPr>
            <a:r>
              <a:rPr lang="en-US" b="true" sz="2654" spc="-53">
                <a:solidFill>
                  <a:srgbClr val="17B1C7"/>
                </a:solidFill>
                <a:latin typeface="Anantason Condensed Bold"/>
                <a:ea typeface="Anantason Condensed Bold"/>
                <a:cs typeface="Anantason Condensed Bold"/>
                <a:sym typeface="Anantason Condensed Bold"/>
              </a:rPr>
              <a:t>DEPLOYMENT</a:t>
            </a:r>
          </a:p>
        </p:txBody>
      </p:sp>
      <p:sp>
        <p:nvSpPr>
          <p:cNvPr name="TextBox 10" id="10"/>
          <p:cNvSpPr txBox="true"/>
          <p:nvPr/>
        </p:nvSpPr>
        <p:spPr>
          <a:xfrm rot="0">
            <a:off x="3228092" y="3362550"/>
            <a:ext cx="6696238" cy="1196985"/>
          </a:xfrm>
          <a:prstGeom prst="rect">
            <a:avLst/>
          </a:prstGeom>
        </p:spPr>
        <p:txBody>
          <a:bodyPr anchor="t" rtlCol="false" tIns="0" lIns="0" bIns="0" rIns="0">
            <a:spAutoFit/>
          </a:bodyPr>
          <a:lstStyle/>
          <a:p>
            <a:pPr algn="l">
              <a:lnSpc>
                <a:spcPts val="2498"/>
              </a:lnSpc>
            </a:pPr>
            <a:r>
              <a:rPr lang="en-US" sz="1784" spc="-35">
                <a:solidFill>
                  <a:srgbClr val="FFFFFF">
                    <a:alpha val="74902"/>
                  </a:srgbClr>
                </a:solidFill>
                <a:latin typeface="Anantason Condensed"/>
                <a:ea typeface="Anantason Condensed"/>
                <a:cs typeface="Anantason Condensed"/>
                <a:sym typeface="Anantason Condensed"/>
              </a:rPr>
              <a:t>A userspace agent on the vehicle's companion computer (Linux) controls modems through standard interfaces.</a:t>
            </a:r>
          </a:p>
          <a:p>
            <a:pPr algn="l">
              <a:lnSpc>
                <a:spcPts val="2498"/>
              </a:lnSpc>
            </a:pPr>
            <a:r>
              <a:rPr lang="en-US" sz="1784" spc="-35">
                <a:solidFill>
                  <a:srgbClr val="FFFFFF">
                    <a:alpha val="74902"/>
                  </a:srgbClr>
                </a:solidFill>
                <a:latin typeface="Anantason Condensed"/>
                <a:ea typeface="Anantason Condensed"/>
                <a:cs typeface="Anantason Condensed"/>
                <a:sym typeface="Anantason Condensed"/>
              </a:rPr>
              <a:t>The anchor relay is at the operator's ground station or cloud edge.</a:t>
            </a:r>
          </a:p>
          <a:p>
            <a:pPr algn="l">
              <a:lnSpc>
                <a:spcPts val="2498"/>
              </a:lnSpc>
            </a:pPr>
            <a:r>
              <a:rPr lang="en-US" sz="1784" spc="-35">
                <a:solidFill>
                  <a:srgbClr val="FFFFFF">
                    <a:alpha val="74902"/>
                  </a:srgbClr>
                </a:solidFill>
                <a:latin typeface="Anantason Condensed"/>
                <a:ea typeface="Anantason Condensed"/>
                <a:cs typeface="Anantason Condensed"/>
                <a:sym typeface="Anantason Condensed"/>
              </a:rPr>
              <a:t>It runs under current C2 and video applications; they need no change.</a:t>
            </a:r>
          </a:p>
        </p:txBody>
      </p:sp>
      <p:sp>
        <p:nvSpPr>
          <p:cNvPr name="Freeform 11" id="11"/>
          <p:cNvSpPr/>
          <p:nvPr/>
        </p:nvSpPr>
        <p:spPr>
          <a:xfrm flipH="false" flipV="false" rot="0">
            <a:off x="426574" y="4711687"/>
            <a:ext cx="9811206" cy="218640"/>
          </a:xfrm>
          <a:custGeom>
            <a:avLst/>
            <a:gdLst/>
            <a:ahLst/>
            <a:cxnLst/>
            <a:rect r="r" b="b" t="t" l="l"/>
            <a:pathLst>
              <a:path h="218640" w="9811206">
                <a:moveTo>
                  <a:pt x="0" y="0"/>
                </a:moveTo>
                <a:lnTo>
                  <a:pt x="9811206" y="0"/>
                </a:lnTo>
                <a:lnTo>
                  <a:pt x="9811206" y="218639"/>
                </a:lnTo>
                <a:lnTo>
                  <a:pt x="0" y="218639"/>
                </a:lnTo>
                <a:lnTo>
                  <a:pt x="0" y="0"/>
                </a:lnTo>
                <a:close/>
              </a:path>
            </a:pathLst>
          </a:custGeom>
          <a:blipFill>
            <a:blip r:embed="rId7"/>
            <a:stretch>
              <a:fillRect l="0" t="0" r="0" b="0"/>
            </a:stretch>
          </a:blipFill>
        </p:spPr>
        <p:txBody>
          <a:bodyPr/>
          <a:p/>
        </p:txBody>
      </p:sp>
      <p:sp>
        <p:nvSpPr>
          <p:cNvPr name="TextBox 12" id="12"/>
          <p:cNvSpPr txBox="true"/>
          <p:nvPr/>
        </p:nvSpPr>
        <p:spPr>
          <a:xfrm rot="0">
            <a:off x="578487" y="5108358"/>
            <a:ext cx="1087224" cy="392630"/>
          </a:xfrm>
          <a:prstGeom prst="rect">
            <a:avLst/>
          </a:prstGeom>
        </p:spPr>
        <p:txBody>
          <a:bodyPr anchor="t" rtlCol="false" tIns="0" lIns="0" bIns="0" rIns="0">
            <a:spAutoFit/>
          </a:bodyPr>
          <a:lstStyle/>
          <a:p>
            <a:pPr algn="l">
              <a:lnSpc>
                <a:spcPts val="3185"/>
              </a:lnSpc>
            </a:pPr>
            <a:r>
              <a:rPr lang="en-US" b="true" sz="2654" spc="-53">
                <a:solidFill>
                  <a:srgbClr val="17B1C7"/>
                </a:solidFill>
                <a:latin typeface="Anantason Condensed Bold"/>
                <a:ea typeface="Anantason Condensed Bold"/>
                <a:cs typeface="Anantason Condensed Bold"/>
                <a:sym typeface="Anantason Condensed Bold"/>
              </a:rPr>
              <a:t>LIMITS</a:t>
            </a:r>
          </a:p>
        </p:txBody>
      </p:sp>
      <p:sp>
        <p:nvSpPr>
          <p:cNvPr name="TextBox 13" id="13"/>
          <p:cNvSpPr txBox="true"/>
          <p:nvPr/>
        </p:nvSpPr>
        <p:spPr>
          <a:xfrm rot="0">
            <a:off x="3235452" y="4943939"/>
            <a:ext cx="5960221" cy="1500433"/>
          </a:xfrm>
          <a:prstGeom prst="rect">
            <a:avLst/>
          </a:prstGeom>
        </p:spPr>
        <p:txBody>
          <a:bodyPr anchor="t" rtlCol="false" tIns="0" lIns="0" bIns="0" rIns="0">
            <a:spAutoFit/>
          </a:bodyPr>
          <a:lstStyle/>
          <a:p>
            <a:pPr algn="l">
              <a:lnSpc>
                <a:spcPts val="2498"/>
              </a:lnSpc>
            </a:pPr>
            <a:r>
              <a:rPr lang="en-US" sz="1784" spc="-35">
                <a:solidFill>
                  <a:srgbClr val="FFFFFF">
                    <a:alpha val="74902"/>
                  </a:srgbClr>
                </a:solidFill>
                <a:latin typeface="Anantason Condensed"/>
                <a:ea typeface="Anantason Condensed"/>
                <a:cs typeface="Anantason Condensed"/>
                <a:sym typeface="Anantason Condensed"/>
              </a:rPr>
              <a:t>All results are simulated.</a:t>
            </a:r>
          </a:p>
          <a:p>
            <a:pPr algn="l">
              <a:lnSpc>
                <a:spcPts val="2498"/>
              </a:lnSpc>
            </a:pPr>
            <a:r>
              <a:rPr lang="en-US" sz="1784" spc="-35">
                <a:solidFill>
                  <a:srgbClr val="FFFFFF">
                    <a:alpha val="74902"/>
                  </a:srgbClr>
                </a:solidFill>
                <a:latin typeface="Anantason Condensed"/>
                <a:ea typeface="Anantason Condensed"/>
                <a:cs typeface="Anantason Condensed"/>
                <a:sym typeface="Anantason Condensed"/>
              </a:rPr>
              <a:t>We evaluate the radio model at ground level.</a:t>
            </a:r>
          </a:p>
          <a:p>
            <a:pPr algn="l">
              <a:lnSpc>
                <a:spcPts val="2498"/>
              </a:lnSpc>
            </a:pPr>
            <a:r>
              <a:rPr lang="en-US" sz="1784" spc="-35">
                <a:solidFill>
                  <a:srgbClr val="FFFFFF">
                    <a:alpha val="74902"/>
                  </a:srgbClr>
                </a:solidFill>
                <a:latin typeface="Anantason Condensed"/>
                <a:ea typeface="Anantason Condensed"/>
                <a:cs typeface="Anantason Condensed"/>
                <a:sym typeface="Anantason Condensed"/>
              </a:rPr>
              <a:t>Piloted rule needs a spare modem that resumes in ~</a:t>
            </a:r>
            <a:r>
              <a:rPr lang="en-US" sz="1784" spc="-35" b="true">
                <a:solidFill>
                  <a:srgbClr val="17B1C7">
                    <a:alpha val="74902"/>
                  </a:srgbClr>
                </a:solidFill>
                <a:latin typeface="Anantason Condensed Bold"/>
                <a:ea typeface="Anantason Condensed Bold"/>
                <a:cs typeface="Anantason Condensed Bold"/>
                <a:sym typeface="Anantason Condensed Bold"/>
              </a:rPr>
              <a:t>100 </a:t>
            </a:r>
            <a:r>
              <a:rPr lang="en-US" sz="1784" spc="-35">
                <a:solidFill>
                  <a:srgbClr val="FFFFFF">
                    <a:alpha val="74902"/>
                  </a:srgbClr>
                </a:solidFill>
                <a:latin typeface="Anantason Condensed"/>
                <a:ea typeface="Anantason Condensed"/>
                <a:cs typeface="Anantason Condensed"/>
                <a:sym typeface="Anantason Condensed"/>
              </a:rPr>
              <a:t>ms</a:t>
            </a:r>
          </a:p>
          <a:p>
            <a:pPr algn="l">
              <a:lnSpc>
                <a:spcPts val="2498"/>
              </a:lnSpc>
            </a:pPr>
            <a:r>
              <a:rPr lang="en-US" sz="1784" spc="-35">
                <a:solidFill>
                  <a:srgbClr val="FFFFFF">
                    <a:alpha val="74902"/>
                  </a:srgbClr>
                </a:solidFill>
                <a:latin typeface="Anantason Condensed"/>
                <a:ea typeface="Anantason Condensed"/>
                <a:cs typeface="Anantason Condensed"/>
                <a:sym typeface="Anantason Condensed"/>
              </a:rPr>
              <a:t>(5G RRC_INACTIVE or connected-mode DRX).</a:t>
            </a:r>
          </a:p>
          <a:p>
            <a:pPr algn="l">
              <a:lnSpc>
                <a:spcPts val="2498"/>
              </a:lnSpc>
            </a:pPr>
            <a:r>
              <a:rPr lang="en-US" sz="1784" spc="-35">
                <a:solidFill>
                  <a:srgbClr val="FFFFFF">
                    <a:alpha val="74902"/>
                  </a:srgbClr>
                </a:solidFill>
                <a:latin typeface="Anantason Condensed"/>
                <a:ea typeface="Anantason Condensed"/>
                <a:cs typeface="Anantason Condensed"/>
                <a:sym typeface="Anantason Condensed"/>
              </a:rPr>
              <a:t>At </a:t>
            </a:r>
            <a:r>
              <a:rPr lang="en-US" sz="1784" spc="-35" b="true">
                <a:solidFill>
                  <a:srgbClr val="B41F3A">
                    <a:alpha val="74902"/>
                  </a:srgbClr>
                </a:solidFill>
                <a:latin typeface="Anantason Condensed Bold"/>
                <a:ea typeface="Anantason Condensed Bold"/>
                <a:cs typeface="Anantason Condensed Bold"/>
                <a:sym typeface="Anantason Condensed Bold"/>
              </a:rPr>
              <a:t>260 ms</a:t>
            </a:r>
            <a:r>
              <a:rPr lang="en-US" sz="1784" spc="-35">
                <a:solidFill>
                  <a:srgbClr val="FFFFFF">
                    <a:alpha val="74902"/>
                  </a:srgbClr>
                </a:solidFill>
                <a:latin typeface="Anantason Condensed"/>
                <a:ea typeface="Anantason Condensed"/>
                <a:cs typeface="Anantason Condensed"/>
                <a:sym typeface="Anantason Condensed"/>
              </a:rPr>
              <a:t>, an unexpected outage still forces a hover.</a:t>
            </a:r>
          </a:p>
        </p:txBody>
      </p:sp>
      <p:sp>
        <p:nvSpPr>
          <p:cNvPr name="Freeform 14" id="14"/>
          <p:cNvSpPr/>
          <p:nvPr/>
        </p:nvSpPr>
        <p:spPr>
          <a:xfrm flipH="false" flipV="false" rot="0">
            <a:off x="426574" y="6635716"/>
            <a:ext cx="9811206" cy="229572"/>
          </a:xfrm>
          <a:custGeom>
            <a:avLst/>
            <a:gdLst/>
            <a:ahLst/>
            <a:cxnLst/>
            <a:rect r="r" b="b" t="t" l="l"/>
            <a:pathLst>
              <a:path h="229572" w="9811206">
                <a:moveTo>
                  <a:pt x="0" y="0"/>
                </a:moveTo>
                <a:lnTo>
                  <a:pt x="9811206" y="0"/>
                </a:lnTo>
                <a:lnTo>
                  <a:pt x="9811206" y="229572"/>
                </a:lnTo>
                <a:lnTo>
                  <a:pt x="0" y="229572"/>
                </a:lnTo>
                <a:lnTo>
                  <a:pt x="0" y="0"/>
                </a:lnTo>
                <a:close/>
              </a:path>
            </a:pathLst>
          </a:custGeom>
          <a:blipFill>
            <a:blip r:embed="rId8"/>
            <a:stretch>
              <a:fillRect l="0" t="0" r="0" b="0"/>
            </a:stretch>
          </a:blipFill>
        </p:spPr>
        <p:txBody>
          <a:bodyPr/>
          <a:p/>
        </p:txBody>
      </p:sp>
      <p:sp>
        <p:nvSpPr>
          <p:cNvPr name="TextBox 15" id="15"/>
          <p:cNvSpPr txBox="true"/>
          <p:nvPr/>
        </p:nvSpPr>
        <p:spPr>
          <a:xfrm rot="0">
            <a:off x="566418" y="6975902"/>
            <a:ext cx="2294133" cy="392630"/>
          </a:xfrm>
          <a:prstGeom prst="rect">
            <a:avLst/>
          </a:prstGeom>
        </p:spPr>
        <p:txBody>
          <a:bodyPr anchor="t" rtlCol="false" tIns="0" lIns="0" bIns="0" rIns="0">
            <a:spAutoFit/>
          </a:bodyPr>
          <a:lstStyle/>
          <a:p>
            <a:pPr algn="l">
              <a:lnSpc>
                <a:spcPts val="3185"/>
              </a:lnSpc>
            </a:pPr>
            <a:r>
              <a:rPr lang="en-US" b="true" sz="2654" spc="-53">
                <a:solidFill>
                  <a:srgbClr val="17B1C7"/>
                </a:solidFill>
                <a:latin typeface="Anantason Condensed Bold"/>
                <a:ea typeface="Anantason Condensed Bold"/>
                <a:cs typeface="Anantason Condensed Bold"/>
                <a:sym typeface="Anantason Condensed Bold"/>
              </a:rPr>
              <a:t>REAL-LIFE USE</a:t>
            </a:r>
          </a:p>
        </p:txBody>
      </p:sp>
      <p:sp>
        <p:nvSpPr>
          <p:cNvPr name="TextBox 16" id="16"/>
          <p:cNvSpPr txBox="true"/>
          <p:nvPr/>
        </p:nvSpPr>
        <p:spPr>
          <a:xfrm rot="0">
            <a:off x="3227950" y="6989848"/>
            <a:ext cx="6710513" cy="1427942"/>
          </a:xfrm>
          <a:prstGeom prst="rect">
            <a:avLst/>
          </a:prstGeom>
        </p:spPr>
        <p:txBody>
          <a:bodyPr anchor="t" rtlCol="false" tIns="0" lIns="0" bIns="0" rIns="0">
            <a:spAutoFit/>
          </a:bodyPr>
          <a:lstStyle/>
          <a:p>
            <a:pPr algn="l">
              <a:lnSpc>
                <a:spcPts val="2299"/>
              </a:lnSpc>
            </a:pPr>
            <a:r>
              <a:rPr lang="en-US" sz="1916" spc="-38" b="true">
                <a:solidFill>
                  <a:srgbClr val="17B1C7">
                    <a:alpha val="74902"/>
                  </a:srgbClr>
                </a:solidFill>
                <a:latin typeface="Anantason Condensed Bold"/>
                <a:ea typeface="Anantason Condensed Bold"/>
                <a:cs typeface="Anantason Condensed Bold"/>
                <a:sym typeface="Anantason Condensed Bold"/>
              </a:rPr>
              <a:t>Phase 1 </a:t>
            </a:r>
            <a:r>
              <a:rPr lang="en-US" sz="1916" spc="-38">
                <a:solidFill>
                  <a:srgbClr val="2B8B8B">
                    <a:alpha val="74902"/>
                  </a:srgbClr>
                </a:solidFill>
                <a:latin typeface="Anantason Condensed"/>
                <a:ea typeface="Anantason Condensed"/>
                <a:cs typeface="Anantason Condensed"/>
                <a:sym typeface="Anantason Condensed"/>
              </a:rPr>
              <a:t>(bench): </a:t>
            </a:r>
            <a:r>
              <a:rPr lang="en-US" sz="1916" spc="-38">
                <a:solidFill>
                  <a:srgbClr val="FFFFFF">
                    <a:alpha val="74902"/>
                  </a:srgbClr>
                </a:solidFill>
                <a:latin typeface="Anantason Condensed"/>
                <a:ea typeface="Anantason Condensed"/>
                <a:cs typeface="Anantason Condensed"/>
                <a:sym typeface="Anantason Condensed"/>
              </a:rPr>
              <a:t>laptop with Wi-Fi and a 5G dongle runs the </a:t>
            </a:r>
            <a:r>
              <a:rPr lang="en-US" sz="1916" spc="-38">
                <a:solidFill>
                  <a:srgbClr val="2B8B8B">
                    <a:alpha val="74902"/>
                  </a:srgbClr>
                </a:solidFill>
                <a:latin typeface="Anantason Condensed"/>
                <a:ea typeface="Anantason Condensed"/>
                <a:cs typeface="Anantason Condensed"/>
                <a:sym typeface="Anantason Condensed"/>
              </a:rPr>
              <a:t>included </a:t>
            </a:r>
            <a:r>
              <a:rPr lang="en-US" sz="1916" spc="-38">
                <a:solidFill>
                  <a:srgbClr val="FFFFFF">
                    <a:alpha val="74902"/>
                  </a:srgbClr>
                </a:solidFill>
                <a:latin typeface="Anantason Condensed"/>
                <a:ea typeface="Anantason Condensed"/>
                <a:cs typeface="Anantason Condensed"/>
                <a:sym typeface="Anantason Condensed"/>
              </a:rPr>
              <a:t>handover probe to measure one real network change. </a:t>
            </a:r>
            <a:r>
              <a:rPr lang="en-US" sz="1916" spc="-38" b="true">
                <a:solidFill>
                  <a:srgbClr val="17B1C7">
                    <a:alpha val="74902"/>
                  </a:srgbClr>
                </a:solidFill>
                <a:latin typeface="Anantason Condensed Bold"/>
                <a:ea typeface="Anantason Condensed Bold"/>
                <a:cs typeface="Anantason Condensed Bold"/>
                <a:sym typeface="Anantason Condensed Bold"/>
              </a:rPr>
              <a:t>Phase 2 </a:t>
            </a:r>
            <a:r>
              <a:rPr lang="en-US" sz="1916" spc="-38">
                <a:solidFill>
                  <a:srgbClr val="FFFFFF">
                    <a:alpha val="74902"/>
                  </a:srgbClr>
                </a:solidFill>
                <a:latin typeface="Anantason Condensed"/>
                <a:ea typeface="Anantason Condensed"/>
                <a:cs typeface="Anantason Condensed"/>
                <a:sym typeface="Anantason Condensed"/>
              </a:rPr>
              <a:t>(field): test drone with Wi-Fi, 5G and a LEO terminal on </a:t>
            </a:r>
            <a:r>
              <a:rPr lang="en-US" sz="1916" spc="-38">
                <a:solidFill>
                  <a:srgbClr val="2B8B8B">
                    <a:alpha val="74902"/>
                  </a:srgbClr>
                </a:solidFill>
                <a:latin typeface="Anantason Condensed"/>
                <a:ea typeface="Anantason Condensed"/>
                <a:cs typeface="Anantason Condensed"/>
                <a:sym typeface="Anantason Condensed"/>
              </a:rPr>
              <a:t>a surveyed corridor; first survey flights build the coverage map. </a:t>
            </a:r>
            <a:r>
              <a:rPr lang="en-US" sz="1916" spc="-38" b="true">
                <a:solidFill>
                  <a:srgbClr val="17B1C7">
                    <a:alpha val="74902"/>
                  </a:srgbClr>
                </a:solidFill>
                <a:latin typeface="Anantason Condensed Bold"/>
                <a:ea typeface="Anantason Condensed Bold"/>
                <a:cs typeface="Anantason Condensed Bold"/>
                <a:sym typeface="Anantason Condensed Bold"/>
              </a:rPr>
              <a:t>Phase 3 </a:t>
            </a:r>
            <a:r>
              <a:rPr lang="en-US" sz="1916" spc="-38">
                <a:solidFill>
                  <a:srgbClr val="2B8B8B">
                    <a:alpha val="74902"/>
                  </a:srgbClr>
                </a:solidFill>
                <a:latin typeface="Anantason Condensed"/>
                <a:ea typeface="Anantason Condensed"/>
                <a:cs typeface="Anantason Condensed"/>
                <a:sym typeface="Anantason Condensed"/>
              </a:rPr>
              <a:t>(pilot): </a:t>
            </a:r>
            <a:r>
              <a:rPr lang="en-US" sz="1916" spc="-38">
                <a:solidFill>
                  <a:srgbClr val="FFFFFF">
                    <a:alpha val="74902"/>
                  </a:srgbClr>
                </a:solidFill>
                <a:latin typeface="Anantason Condensed"/>
                <a:ea typeface="Anantason Condensed"/>
                <a:cs typeface="Anantason Condensed"/>
                <a:sym typeface="Anantason Condensed"/>
              </a:rPr>
              <a:t>one operator, one corridor, the paired-comparison </a:t>
            </a:r>
            <a:r>
              <a:rPr lang="en-US" sz="1916" spc="-38">
                <a:solidFill>
                  <a:srgbClr val="2B8B8B">
                    <a:alpha val="74902"/>
                  </a:srgbClr>
                </a:solidFill>
                <a:latin typeface="Anantason Condensed"/>
                <a:ea typeface="Anantason Condensed"/>
                <a:cs typeface="Anantason Condensed"/>
                <a:sym typeface="Anantason Condensed"/>
              </a:rPr>
              <a:t>method of this study </a:t>
            </a:r>
            <a:r>
              <a:rPr lang="en-US" sz="1916" spc="-38">
                <a:solidFill>
                  <a:srgbClr val="FFFFFF">
                    <a:alpha val="74902"/>
                  </a:srgbClr>
                </a:solidFill>
                <a:latin typeface="Anantason Condensed"/>
                <a:ea typeface="Anantason Condensed"/>
                <a:cs typeface="Anantason Condensed"/>
                <a:sym typeface="Anantason Condensed"/>
              </a:rPr>
              <a:t>applied to real flights.</a:t>
            </a:r>
          </a:p>
        </p:txBody>
      </p:sp>
      <p:sp>
        <p:nvSpPr>
          <p:cNvPr name="Freeform 17" id="17"/>
          <p:cNvSpPr/>
          <p:nvPr/>
        </p:nvSpPr>
        <p:spPr>
          <a:xfrm flipH="false" flipV="false" rot="0">
            <a:off x="426574" y="8570678"/>
            <a:ext cx="9811206" cy="218640"/>
          </a:xfrm>
          <a:custGeom>
            <a:avLst/>
            <a:gdLst/>
            <a:ahLst/>
            <a:cxnLst/>
            <a:rect r="r" b="b" t="t" l="l"/>
            <a:pathLst>
              <a:path h="218640" w="9811206">
                <a:moveTo>
                  <a:pt x="0" y="0"/>
                </a:moveTo>
                <a:lnTo>
                  <a:pt x="9811206" y="0"/>
                </a:lnTo>
                <a:lnTo>
                  <a:pt x="9811206" y="218640"/>
                </a:lnTo>
                <a:lnTo>
                  <a:pt x="0" y="218640"/>
                </a:lnTo>
                <a:lnTo>
                  <a:pt x="0" y="0"/>
                </a:lnTo>
                <a:close/>
              </a:path>
            </a:pathLst>
          </a:custGeom>
          <a:blipFill>
            <a:blip r:embed="rId9"/>
            <a:stretch>
              <a:fillRect l="0" t="0" r="0" b="0"/>
            </a:stretch>
          </a:blipFill>
        </p:spPr>
        <p:txBody>
          <a:bodyPr/>
          <a:p/>
        </p:txBody>
      </p:sp>
      <p:sp>
        <p:nvSpPr>
          <p:cNvPr name="TextBox 18" id="18"/>
          <p:cNvSpPr txBox="true"/>
          <p:nvPr/>
        </p:nvSpPr>
        <p:spPr>
          <a:xfrm rot="0">
            <a:off x="566739" y="8918750"/>
            <a:ext cx="2262084" cy="785328"/>
          </a:xfrm>
          <a:prstGeom prst="rect">
            <a:avLst/>
          </a:prstGeom>
        </p:spPr>
        <p:txBody>
          <a:bodyPr anchor="t" rtlCol="false" tIns="0" lIns="0" bIns="0" rIns="0">
            <a:spAutoFit/>
          </a:bodyPr>
          <a:lstStyle/>
          <a:p>
            <a:pPr algn="l">
              <a:lnSpc>
                <a:spcPts val="3185"/>
              </a:lnSpc>
            </a:pPr>
            <a:r>
              <a:rPr lang="en-US" b="true" sz="2654" spc="-53">
                <a:solidFill>
                  <a:srgbClr val="17B1C7"/>
                </a:solidFill>
                <a:latin typeface="Anantason Condensed Bold"/>
                <a:ea typeface="Anantason Condensed Bold"/>
                <a:cs typeface="Anantason Condensed Bold"/>
                <a:sym typeface="Anantason Condensed Bold"/>
              </a:rPr>
              <a:t>AI-USE DECLARATION</a:t>
            </a:r>
          </a:p>
        </p:txBody>
      </p:sp>
      <p:sp>
        <p:nvSpPr>
          <p:cNvPr name="TextBox 19" id="19"/>
          <p:cNvSpPr txBox="true"/>
          <p:nvPr/>
        </p:nvSpPr>
        <p:spPr>
          <a:xfrm rot="0">
            <a:off x="3219845" y="8859757"/>
            <a:ext cx="7520992" cy="1196985"/>
          </a:xfrm>
          <a:prstGeom prst="rect">
            <a:avLst/>
          </a:prstGeom>
        </p:spPr>
        <p:txBody>
          <a:bodyPr anchor="t" rtlCol="false" tIns="0" lIns="0" bIns="0" rIns="0">
            <a:spAutoFit/>
          </a:bodyPr>
          <a:lstStyle/>
          <a:p>
            <a:pPr algn="l">
              <a:lnSpc>
                <a:spcPts val="2498"/>
              </a:lnSpc>
            </a:pPr>
            <a:r>
              <a:rPr lang="en-US" sz="1784" spc="-35">
                <a:solidFill>
                  <a:srgbClr val="FFFFFF">
                    <a:alpha val="74902"/>
                  </a:srgbClr>
                </a:solidFill>
                <a:latin typeface="Anantason Condensed"/>
                <a:ea typeface="Anantason Condensed"/>
                <a:cs typeface="Anantason Condensed"/>
                <a:sym typeface="Anantason Condensed"/>
              </a:rPr>
              <a:t>AI tools (Anthropic Claude) helped with code, analysis drafts,</a:t>
            </a:r>
          </a:p>
          <a:p>
            <a:pPr algn="l">
              <a:lnSpc>
                <a:spcPts val="2498"/>
              </a:lnSpc>
            </a:pPr>
            <a:r>
              <a:rPr lang="en-US" sz="1784" spc="-35">
                <a:solidFill>
                  <a:srgbClr val="FFFFFF">
                    <a:alpha val="74902"/>
                  </a:srgbClr>
                </a:solidFill>
                <a:latin typeface="Anantason Condensed"/>
                <a:ea typeface="Anantason Condensed"/>
                <a:cs typeface="Anantason Condensed"/>
                <a:sym typeface="Anantason Condensed"/>
              </a:rPr>
              <a:t>this deck and the video. An AI voice (Kokoro) reads the narration.</a:t>
            </a:r>
          </a:p>
          <a:p>
            <a:pPr algn="l">
              <a:lnSpc>
                <a:spcPts val="2498"/>
              </a:lnSpc>
            </a:pPr>
            <a:r>
              <a:rPr lang="en-US" sz="1784" spc="-35">
                <a:solidFill>
                  <a:srgbClr val="FFFFFF">
                    <a:alpha val="74902"/>
                  </a:srgbClr>
                </a:solidFill>
                <a:latin typeface="Anantason Condensed"/>
                <a:ea typeface="Anantason Condensed"/>
                <a:cs typeface="Anantason Condensed"/>
                <a:sym typeface="Anantason Condensed"/>
              </a:rPr>
              <a:t>The design decisions, the experiments and their interpretation are</a:t>
            </a:r>
          </a:p>
          <a:p>
            <a:pPr algn="l">
              <a:lnSpc>
                <a:spcPts val="2498"/>
              </a:lnSpc>
            </a:pPr>
            <a:r>
              <a:rPr lang="en-US" sz="1784" spc="-35">
                <a:solidFill>
                  <a:srgbClr val="FFFFFF">
                    <a:alpha val="74902"/>
                  </a:srgbClr>
                </a:solidFill>
                <a:latin typeface="Anantason Condensed"/>
                <a:ea typeface="Anantason Condensed"/>
                <a:cs typeface="Anantason Condensed"/>
                <a:sym typeface="Anantason Condensed"/>
              </a:rPr>
              <a:t>the team’s own, and every member can explain their part in their own words.</a:t>
            </a:r>
          </a:p>
        </p:txBody>
      </p:sp>
      <p:sp>
        <p:nvSpPr>
          <p:cNvPr id="20" name="CTA site">
            <a:hlinkClick r:id="rId12"/>
          </p:cNvPr>
          <p:cNvSpPr/>
          <p:nvPr/>
        </p:nvSpPr>
        <p:spPr>
          <a:xfrm>
            <a:off x="11493500" y="762000"/>
            <a:ext cx="6096000" cy="1270000"/>
          </a:xfrm>
          <a:prstGeom prst="roundRect">
            <a:avLst>
              <a:gd name="adj" fmla="val 16000"/>
            </a:avLst>
          </a:prstGeom>
          <a:solidFill>
            <a:srgbClr val="0F9FC4"/>
          </a:solidFill>
          <a:ln w="19050">
            <a:solidFill>
              <a:srgbClr val="0F9FC4"/>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76200" bIns="76200"/>
          <a:lstStyle/>
          <a:p>
            <a:pPr algn="l"/>
            <a:r>
              <a:rPr sz="2200" b="1">
                <a:solidFill>
                  <a:srgbClr val="FFFFFF"/>
                </a:solidFill>
                <a:latin typeface="Anantason Condensed Bold"/>
              </a:rPr>
              <a:t>▶  TRY THE LIVE PROTOTYPE</a:t>
            </a:r>
          </a:p>
          <a:p>
            <a:pPr algn="l"/>
            <a:r>
              <a:rPr sz="2000" b="1">
                <a:solidFill>
                  <a:srgbClr val="FFFFFF"/>
                </a:solidFill>
                <a:latin typeface="Anantason Condensed Bold"/>
              </a:rPr>
              <a:t>flexipath.vercel.app</a:t>
            </a:r>
          </a:p>
          <a:p>
            <a:pPr algn="l"/>
            <a:r>
              <a:rPr sz="1400" b="0">
                <a:solidFill>
                  <a:srgbClr val="FFFFFF"/>
                </a:solidFill>
                <a:latin typeface="Anantason Condensed"/>
              </a:rPr>
              <a:t>guided demo, simulator and the 2-minute video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CC0DF"/>
      </a:hlink>
      <a:folHlink>
        <a:srgbClr val="0CC0D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DAHXgunmS1k</dc:identifier>
  <dcterms:modified xsi:type="dcterms:W3CDTF">2011-08-01T06:04:30Z</dcterms:modified>
  <cp:revision>1</cp:revision>
  <dc:title>FlexiPath — EDGE Challenge proposal deck</dc:title>
</cp:coreProperties>
</file>