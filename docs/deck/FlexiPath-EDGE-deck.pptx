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flexipath.vercel.app"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flexipath.vercel.app" TargetMode="External"/><Relationship Id="rId4"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hyperlink" Target="https://flexipath.vercel.app" TargetMode="External"/><Relationship Id="rId5" Type="http://schemas.openxmlformats.org/officeDocument/2006/relationships/image" Target="../media/image12.png"/><Relationship Id="rId6"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hero city light trails" descr="hero1.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01 / 10</a:t>
            </a:r>
          </a:p>
        </p:txBody>
      </p:sp>
      <p:sp>
        <p:nvSpPr>
          <p:cNvPr id="12" name="TextBox 11"/>
          <p:cNvSpPr txBox="1"/>
          <p:nvPr/>
        </p:nvSpPr>
        <p:spPr>
          <a:xfrm>
            <a:off x="7071055" y="246888"/>
            <a:ext cx="4572000" cy="228600"/>
          </a:xfrm>
          <a:prstGeom prst="rect">
            <a:avLst/>
          </a:prstGeom>
          <a:noFill/>
        </p:spPr>
        <p:txBody>
          <a:bodyPr wrap="square" lIns="0" rIns="0" tIns="0" bIns="0" anchor="t"/>
          <a:lstStyle/>
          <a:p>
            <a:pPr algn="r"/>
            <a:r>
              <a:rPr sz="1100" b="0" spc="150">
                <a:solidFill>
                  <a:srgbClr val="9AACBC"/>
                </a:solidFill>
                <a:latin typeface="Fira Code"/>
              </a:rPr>
              <a:t>ATRC  //  </a:t>
            </a:r>
            <a:r>
              <a:rPr sz="1100" b="1" spc="150">
                <a:solidFill>
                  <a:srgbClr val="F59E0B"/>
                </a:solidFill>
                <a:latin typeface="Fira Code"/>
              </a:rPr>
              <a:t>ATP 2026</a:t>
            </a:r>
          </a:p>
        </p:txBody>
      </p:sp>
      <p:sp>
        <p:nvSpPr>
          <p:cNvPr id="13" name="Rounded Rectangle 12"/>
          <p:cNvSpPr/>
          <p:nvPr/>
        </p:nvSpPr>
        <p:spPr>
          <a:xfrm>
            <a:off x="548640" y="731520"/>
            <a:ext cx="1463040" cy="292608"/>
          </a:xfrm>
          <a:prstGeom prst="roundRect">
            <a:avLst>
              <a:gd name="adj" fmla="val 12000"/>
            </a:avLst>
          </a:prstGeom>
          <a:solidFill>
            <a:srgbClr val="22D3EE">
              <a:alpha val="14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731520"/>
            <a:ext cx="1463040" cy="292608"/>
          </a:xfrm>
          <a:prstGeom prst="rect">
            <a:avLst/>
          </a:prstGeom>
          <a:noFill/>
        </p:spPr>
        <p:txBody>
          <a:bodyPr wrap="square" lIns="0" rIns="0" tIns="0" bIns="0" anchor="ctr"/>
          <a:lstStyle/>
          <a:p>
            <a:pPr algn="ctr"/>
            <a:r>
              <a:rPr sz="1100" b="1" spc="100">
                <a:solidFill>
                  <a:srgbClr val="22D3EE"/>
                </a:solidFill>
                <a:latin typeface="Fira Code"/>
              </a:rPr>
              <a:t>● ROUND 1</a:t>
            </a:r>
          </a:p>
        </p:txBody>
      </p:sp>
      <p:sp>
        <p:nvSpPr>
          <p:cNvPr id="15" name="Title"/>
          <p:cNvSpPr txBox="1"/>
          <p:nvPr/>
        </p:nvSpPr>
        <p:spPr>
          <a:xfrm>
            <a:off x="548640" y="1115568"/>
            <a:ext cx="5120640" cy="1737360"/>
          </a:xfrm>
          <a:prstGeom prst="rect">
            <a:avLst/>
          </a:prstGeom>
          <a:noFill/>
        </p:spPr>
        <p:txBody>
          <a:bodyPr wrap="square" lIns="0" rIns="0" tIns="0" bIns="0" anchor="t"/>
          <a:lstStyle/>
          <a:p>
            <a:pPr algn="l">
              <a:lnSpc>
                <a:spcPct val="90000"/>
              </a:lnSpc>
            </a:pPr>
            <a:r>
              <a:rPr sz="4600" b="1" cap="all" spc="200">
                <a:solidFill>
                  <a:srgbClr val="22D3EE"/>
                </a:solidFill>
                <a:latin typeface="Anantason Condensed"/>
              </a:rPr>
              <a:t>FlexiPath —</a:t>
            </a:r>
          </a:p>
          <a:p>
            <a:pPr algn="l">
              <a:lnSpc>
                <a:spcPct val="90000"/>
              </a:lnSpc>
            </a:pPr>
            <a:r>
              <a:rPr sz="4600" b="1" cap="all" spc="200">
                <a:solidFill>
                  <a:srgbClr val="F3F7FA"/>
                </a:solidFill>
                <a:latin typeface="Anantason Condensed"/>
              </a:rPr>
              <a:t>switch before the link fails</a:t>
            </a:r>
          </a:p>
        </p:txBody>
      </p:sp>
      <p:sp>
        <p:nvSpPr>
          <p:cNvPr id="16" name="TextBox 15"/>
          <p:cNvSpPr txBox="1"/>
          <p:nvPr/>
        </p:nvSpPr>
        <p:spPr>
          <a:xfrm>
            <a:off x="548640" y="3035808"/>
            <a:ext cx="6217920" cy="868680"/>
          </a:xfrm>
          <a:prstGeom prst="rect">
            <a:avLst/>
          </a:prstGeom>
          <a:noFill/>
        </p:spPr>
        <p:txBody>
          <a:bodyPr wrap="square" lIns="0" rIns="0" tIns="0" bIns="0" anchor="t"/>
          <a:lstStyle/>
          <a:p>
            <a:pPr algn="l"/>
            <a:r>
              <a:rPr sz="1800" b="0">
                <a:solidFill>
                  <a:srgbClr val="D9E2EA"/>
                </a:solidFill>
                <a:latin typeface="Lato"/>
              </a:rPr>
              <a:t>Keep a drone's control link, voice and video alive</a:t>
            </a:r>
          </a:p>
          <a:p>
            <a:pPr algn="l"/>
            <a:r>
              <a:rPr sz="1800" b="0">
                <a:solidFill>
                  <a:srgbClr val="D9E2EA"/>
                </a:solidFill>
                <a:latin typeface="Lato"/>
              </a:rPr>
              <a:t>when it moves between Wi-Fi, 5G, satellite and wired</a:t>
            </a:r>
          </a:p>
          <a:p>
            <a:pPr algn="l"/>
            <a:r>
              <a:rPr sz="1800" b="0">
                <a:solidFill>
                  <a:srgbClr val="D9E2EA"/>
                </a:solidFill>
                <a:latin typeface="Lato"/>
              </a:rPr>
              <a:t>networks. Switch before the signal fails.</a:t>
            </a:r>
          </a:p>
        </p:txBody>
      </p:sp>
      <p:cxnSp>
        <p:nvCxnSpPr>
          <p:cNvPr id="17" name="Connector 16"/>
          <p:cNvCxnSpPr/>
          <p:nvPr/>
        </p:nvCxnSpPr>
        <p:spPr>
          <a:xfrm>
            <a:off x="548640" y="4096512"/>
            <a:ext cx="11091672"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4206240"/>
            <a:ext cx="3017520" cy="274320"/>
          </a:xfrm>
          <a:prstGeom prst="rect">
            <a:avLst/>
          </a:prstGeom>
          <a:noFill/>
        </p:spPr>
        <p:txBody>
          <a:bodyPr wrap="square" lIns="0" rIns="0" tIns="0" bIns="0" anchor="t"/>
          <a:lstStyle/>
          <a:p>
            <a:pPr algn="l"/>
            <a:r>
              <a:rPr sz="1100" b="0" spc="150">
                <a:solidFill>
                  <a:srgbClr val="9AACBC"/>
                </a:solidFill>
                <a:latin typeface="Fira Code"/>
              </a:rPr>
              <a:t>TEAM</a:t>
            </a:r>
          </a:p>
        </p:txBody>
      </p:sp>
      <p:sp>
        <p:nvSpPr>
          <p:cNvPr id="19" name="TextBox 18"/>
          <p:cNvSpPr txBox="1"/>
          <p:nvPr/>
        </p:nvSpPr>
        <p:spPr>
          <a:xfrm>
            <a:off x="548640" y="4434840"/>
            <a:ext cx="3017520" cy="685800"/>
          </a:xfrm>
          <a:prstGeom prst="rect">
            <a:avLst/>
          </a:prstGeom>
          <a:noFill/>
        </p:spPr>
        <p:txBody>
          <a:bodyPr wrap="square" lIns="0" rIns="0" tIns="0" bIns="0" anchor="t"/>
          <a:lstStyle/>
          <a:p>
            <a:pPr algn="l"/>
            <a:r>
              <a:rPr sz="2000" b="1">
                <a:solidFill>
                  <a:srgbClr val="22D3EE"/>
                </a:solidFill>
                <a:latin typeface="Anantason Condensed"/>
              </a:rPr>
              <a:t>TEAM TAROT CLUB</a:t>
            </a:r>
          </a:p>
          <a:p>
            <a:pPr algn="l"/>
            <a:r>
              <a:rPr sz="1600" b="0">
                <a:solidFill>
                  <a:srgbClr val="D9E2EA"/>
                </a:solidFill>
                <a:latin typeface="Lato"/>
              </a:rPr>
              <a:t>Al Ain University</a:t>
            </a:r>
          </a:p>
        </p:txBody>
      </p:sp>
      <p:sp>
        <p:nvSpPr>
          <p:cNvPr id="20" name="TextBox 19"/>
          <p:cNvSpPr txBox="1"/>
          <p:nvPr/>
        </p:nvSpPr>
        <p:spPr>
          <a:xfrm>
            <a:off x="548640" y="5212080"/>
            <a:ext cx="3017520" cy="822960"/>
          </a:xfrm>
          <a:prstGeom prst="rect">
            <a:avLst/>
          </a:prstGeom>
          <a:noFill/>
        </p:spPr>
        <p:txBody>
          <a:bodyPr wrap="square" lIns="0" rIns="0" tIns="0" bIns="0" anchor="t"/>
          <a:lstStyle/>
          <a:p>
            <a:pPr algn="l"/>
            <a:r>
              <a:rPr sz="2000" b="1">
                <a:solidFill>
                  <a:srgbClr val="F59E0B"/>
                </a:solidFill>
                <a:latin typeface="Anantason Condensed"/>
              </a:rPr>
              <a:t>EDGE GROUP CHALLENGE</a:t>
            </a:r>
          </a:p>
          <a:p>
            <a:pPr algn="l"/>
            <a:r>
              <a:rPr sz="1600" b="0">
                <a:solidFill>
                  <a:srgbClr val="D9E2EA"/>
                </a:solidFill>
                <a:latin typeface="Lato"/>
              </a:rPr>
              <a:t>Advanced Technology</a:t>
            </a:r>
          </a:p>
          <a:p>
            <a:pPr algn="l"/>
            <a:r>
              <a:rPr sz="1600" b="0">
                <a:solidFill>
                  <a:srgbClr val="D9E2EA"/>
                </a:solidFill>
                <a:latin typeface="Lato"/>
              </a:rPr>
              <a:t>Pioneers 2026</a:t>
            </a:r>
          </a:p>
        </p:txBody>
      </p:sp>
      <p:sp>
        <p:nvSpPr>
          <p:cNvPr id="21" name="TextBox 20"/>
          <p:cNvSpPr txBox="1"/>
          <p:nvPr/>
        </p:nvSpPr>
        <p:spPr>
          <a:xfrm>
            <a:off x="3657600" y="4206240"/>
            <a:ext cx="3657600" cy="274320"/>
          </a:xfrm>
          <a:prstGeom prst="rect">
            <a:avLst/>
          </a:prstGeom>
          <a:noFill/>
        </p:spPr>
        <p:txBody>
          <a:bodyPr wrap="square" lIns="0" rIns="0" tIns="0" bIns="0" anchor="t"/>
          <a:lstStyle/>
          <a:p>
            <a:pPr algn="l"/>
            <a:r>
              <a:rPr sz="1100" b="0" spc="150">
                <a:solidFill>
                  <a:srgbClr val="9AACBC"/>
                </a:solidFill>
                <a:latin typeface="Fira Code"/>
              </a:rPr>
              <a:t>CREW</a:t>
            </a:r>
          </a:p>
        </p:txBody>
      </p:sp>
      <p:cxnSp>
        <p:nvCxnSpPr>
          <p:cNvPr id="22" name="Connector 21"/>
          <p:cNvCxnSpPr/>
          <p:nvPr/>
        </p:nvCxnSpPr>
        <p:spPr>
          <a:xfrm>
            <a:off x="3657600" y="4507992"/>
            <a:ext cx="0" cy="70408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85615" y="4462272"/>
            <a:ext cx="2176272" cy="868680"/>
          </a:xfrm>
          <a:prstGeom prst="rect">
            <a:avLst/>
          </a:prstGeom>
          <a:noFill/>
        </p:spPr>
        <p:txBody>
          <a:bodyPr wrap="square" lIns="0" rIns="0" tIns="0" bIns="0" anchor="t"/>
          <a:lstStyle/>
          <a:p>
            <a:pPr algn="l"/>
            <a:r>
              <a:rPr sz="1500" b="1">
                <a:solidFill>
                  <a:srgbClr val="F3F7FA"/>
                </a:solidFill>
                <a:latin typeface="Lato"/>
              </a:rPr>
              <a:t>Fuad Ahamed</a:t>
            </a:r>
          </a:p>
          <a:p>
            <a:pPr algn="l"/>
            <a:r>
              <a:rPr sz="1400" b="0">
                <a:solidFill>
                  <a:srgbClr val="D9E2EA"/>
                </a:solidFill>
                <a:latin typeface="Lato"/>
              </a:rPr>
              <a:t>system architecture and software developer</a:t>
            </a:r>
          </a:p>
        </p:txBody>
      </p:sp>
      <p:cxnSp>
        <p:nvCxnSpPr>
          <p:cNvPr id="24" name="Connector 23"/>
          <p:cNvCxnSpPr/>
          <p:nvPr/>
        </p:nvCxnSpPr>
        <p:spPr>
          <a:xfrm>
            <a:off x="5715000" y="4507992"/>
            <a:ext cx="0" cy="70408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3016" y="4462272"/>
            <a:ext cx="2176272" cy="868680"/>
          </a:xfrm>
          <a:prstGeom prst="rect">
            <a:avLst/>
          </a:prstGeom>
          <a:noFill/>
        </p:spPr>
        <p:txBody>
          <a:bodyPr wrap="square" lIns="0" rIns="0" tIns="0" bIns="0" anchor="t"/>
          <a:lstStyle/>
          <a:p>
            <a:pPr algn="l"/>
            <a:r>
              <a:rPr sz="1500" b="1">
                <a:solidFill>
                  <a:srgbClr val="F3F7FA"/>
                </a:solidFill>
                <a:latin typeface="Lato"/>
              </a:rPr>
              <a:t>Mohameden Sidi ahmed</a:t>
            </a:r>
          </a:p>
          <a:p>
            <a:pPr algn="l"/>
            <a:r>
              <a:rPr sz="1400" b="0">
                <a:solidFill>
                  <a:srgbClr val="D9E2EA"/>
                </a:solidFill>
                <a:latin typeface="Lato"/>
              </a:rPr>
              <a:t>networks and protocols research,</a:t>
            </a:r>
          </a:p>
          <a:p>
            <a:pPr algn="l"/>
            <a:r>
              <a:rPr sz="1400" b="0">
                <a:solidFill>
                  <a:srgbClr val="D9E2EA"/>
                </a:solidFill>
                <a:latin typeface="Lato"/>
              </a:rPr>
              <a:t>QoS/QoE guidelines</a:t>
            </a:r>
          </a:p>
        </p:txBody>
      </p:sp>
      <p:cxnSp>
        <p:nvCxnSpPr>
          <p:cNvPr id="26" name="Connector 25"/>
          <p:cNvCxnSpPr/>
          <p:nvPr/>
        </p:nvCxnSpPr>
        <p:spPr>
          <a:xfrm>
            <a:off x="3657600" y="5394959"/>
            <a:ext cx="0" cy="704089"/>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785615" y="5349240"/>
            <a:ext cx="2176272" cy="868680"/>
          </a:xfrm>
          <a:prstGeom prst="rect">
            <a:avLst/>
          </a:prstGeom>
          <a:noFill/>
        </p:spPr>
        <p:txBody>
          <a:bodyPr wrap="square" lIns="0" rIns="0" tIns="0" bIns="0" anchor="t"/>
          <a:lstStyle/>
          <a:p>
            <a:pPr algn="l"/>
            <a:r>
              <a:rPr sz="1500" b="1">
                <a:solidFill>
                  <a:srgbClr val="F3F7FA"/>
                </a:solidFill>
                <a:latin typeface="Lato"/>
              </a:rPr>
              <a:t>Reema Awad</a:t>
            </a:r>
          </a:p>
          <a:p>
            <a:pPr algn="l"/>
            <a:r>
              <a:rPr sz="1400" b="0">
                <a:solidFill>
                  <a:srgbClr val="D9E2EA"/>
                </a:solidFill>
                <a:latin typeface="Lato"/>
              </a:rPr>
              <a:t>experiments and data analysis</a:t>
            </a:r>
          </a:p>
        </p:txBody>
      </p:sp>
      <p:cxnSp>
        <p:nvCxnSpPr>
          <p:cNvPr id="28" name="Connector 27"/>
          <p:cNvCxnSpPr/>
          <p:nvPr/>
        </p:nvCxnSpPr>
        <p:spPr>
          <a:xfrm>
            <a:off x="5715000" y="5394959"/>
            <a:ext cx="0" cy="704089"/>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843016" y="5349240"/>
            <a:ext cx="2176272" cy="868680"/>
          </a:xfrm>
          <a:prstGeom prst="rect">
            <a:avLst/>
          </a:prstGeom>
          <a:noFill/>
        </p:spPr>
        <p:txBody>
          <a:bodyPr wrap="square" lIns="0" rIns="0" tIns="0" bIns="0" anchor="t"/>
          <a:lstStyle/>
          <a:p>
            <a:pPr algn="l"/>
            <a:r>
              <a:rPr sz="1500" b="1">
                <a:solidFill>
                  <a:srgbClr val="F3F7FA"/>
                </a:solidFill>
                <a:latin typeface="Lato"/>
              </a:rPr>
              <a:t>Nazer Alzaabi</a:t>
            </a:r>
          </a:p>
          <a:p>
            <a:pPr algn="l"/>
            <a:r>
              <a:rPr sz="1400" b="0">
                <a:solidFill>
                  <a:srgbClr val="D9E2EA"/>
                </a:solidFill>
                <a:latin typeface="Lato"/>
              </a:rPr>
              <a:t>product, demo and presentation</a:t>
            </a:r>
          </a:p>
        </p:txBody>
      </p:sp>
      <p:sp>
        <p:nvSpPr>
          <p:cNvPr id="30" name="TextBox 29"/>
          <p:cNvSpPr txBox="1"/>
          <p:nvPr/>
        </p:nvSpPr>
        <p:spPr>
          <a:xfrm>
            <a:off x="3657600" y="6236208"/>
            <a:ext cx="4206240" cy="274320"/>
          </a:xfrm>
          <a:prstGeom prst="rect">
            <a:avLst/>
          </a:prstGeom>
          <a:noFill/>
        </p:spPr>
        <p:txBody>
          <a:bodyPr wrap="square" lIns="0" rIns="0" tIns="0" bIns="0" anchor="t"/>
          <a:lstStyle/>
          <a:p>
            <a:pPr algn="l"/>
            <a:r>
              <a:rPr sz="1400" b="1">
                <a:solidFill>
                  <a:srgbClr val="22D3EE"/>
                </a:solidFill>
                <a:latin typeface="Lato"/>
              </a:rPr>
              <a:t>All members:</a:t>
            </a:r>
            <a:r>
              <a:rPr sz="1400" b="0">
                <a:solidFill>
                  <a:srgbClr val="D9E2EA"/>
                </a:solidFill>
                <a:latin typeface="Lato"/>
              </a:rPr>
              <a:t> Al Ain University</a:t>
            </a:r>
          </a:p>
        </p:txBody>
      </p:sp>
      <p:sp>
        <p:nvSpPr>
          <p:cNvPr id="31" name="Rectangle 30"/>
          <p:cNvSpPr/>
          <p:nvPr/>
        </p:nvSpPr>
        <p:spPr>
          <a:xfrm>
            <a:off x="8183879" y="4224528"/>
            <a:ext cx="3456432" cy="2331720"/>
          </a:xfrm>
          <a:prstGeom prst="rect">
            <a:avLst/>
          </a:prstGeom>
          <a:solidFill>
            <a:srgbClr val="0F161E">
              <a:alpha val="88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2" name="Connector 31"/>
          <p:cNvCxnSpPr/>
          <p:nvPr/>
        </p:nvCxnSpPr>
        <p:spPr>
          <a:xfrm>
            <a:off x="8183879" y="4224528"/>
            <a:ext cx="182880"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183879" y="4224528"/>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457432" y="4224528"/>
            <a:ext cx="18287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640311" y="4224528"/>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183879" y="6556248"/>
            <a:ext cx="182880"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183879" y="6373368"/>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457432" y="6556248"/>
            <a:ext cx="18287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1640311" y="6373368"/>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8330183" y="4352544"/>
            <a:ext cx="114300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QR live prototype" descr="qr.png"/>
          <p:cNvPicPr>
            <a:picLocks noChangeAspect="1"/>
          </p:cNvPicPr>
          <p:nvPr/>
        </p:nvPicPr>
        <p:blipFill>
          <a:blip r:embed="rId3"/>
          <a:stretch>
            <a:fillRect/>
          </a:stretch>
        </p:blipFill>
        <p:spPr>
          <a:xfrm>
            <a:off x="8348471" y="4370832"/>
            <a:ext cx="1106424" cy="1106424"/>
          </a:xfrm>
          <a:prstGeom prst="rect">
            <a:avLst/>
          </a:prstGeom>
        </p:spPr>
      </p:pic>
      <p:sp>
        <p:nvSpPr>
          <p:cNvPr id="42" name="TextBox 41"/>
          <p:cNvSpPr txBox="1"/>
          <p:nvPr/>
        </p:nvSpPr>
        <p:spPr>
          <a:xfrm>
            <a:off x="9601200" y="4370832"/>
            <a:ext cx="1965960" cy="1097280"/>
          </a:xfrm>
          <a:prstGeom prst="rect">
            <a:avLst/>
          </a:prstGeom>
          <a:noFill/>
        </p:spPr>
        <p:txBody>
          <a:bodyPr wrap="square" lIns="0" rIns="0" tIns="0" bIns="0" anchor="t"/>
          <a:lstStyle/>
          <a:p>
            <a:pPr algn="l"/>
            <a:r>
              <a:rPr sz="1200" b="1" spc="100">
                <a:solidFill>
                  <a:srgbClr val="F59E0B"/>
                </a:solidFill>
                <a:latin typeface="Fira Code"/>
              </a:rPr>
              <a:t>LIVE PROTOTYPE</a:t>
            </a:r>
          </a:p>
          <a:p>
            <a:pPr algn="l">
              <a:spcBef>
                <a:spcPts val="400"/>
              </a:spcBef>
            </a:pPr>
            <a:r>
              <a:rPr sz="1500" b="1">
                <a:solidFill>
                  <a:srgbClr val="22D3EE"/>
                </a:solidFill>
                <a:latin typeface="Lato"/>
                <a:hlinkClick r:id="rId4"/>
              </a:rPr>
              <a:t>flexipath.vercel.app</a:t>
            </a:r>
          </a:p>
        </p:txBody>
      </p:sp>
      <p:sp>
        <p:nvSpPr>
          <p:cNvPr id="43" name="TextBox 42"/>
          <p:cNvSpPr txBox="1"/>
          <p:nvPr/>
        </p:nvSpPr>
        <p:spPr>
          <a:xfrm>
            <a:off x="8330183" y="5577840"/>
            <a:ext cx="3182112" cy="914400"/>
          </a:xfrm>
          <a:prstGeom prst="rect">
            <a:avLst/>
          </a:prstGeom>
          <a:noFill/>
        </p:spPr>
        <p:txBody>
          <a:bodyPr wrap="square" lIns="0" rIns="0" tIns="0" bIns="0" anchor="t"/>
          <a:lstStyle/>
          <a:p>
            <a:pPr algn="l"/>
            <a:r>
              <a:rPr sz="1200">
                <a:solidFill>
                  <a:srgbClr val="22D3EE"/>
                </a:solidFill>
                <a:latin typeface="DejaVu Sans"/>
              </a:rPr>
              <a:t>▶</a:t>
            </a:r>
            <a:r>
              <a:rPr sz="1400" b="1">
                <a:solidFill>
                  <a:srgbClr val="F3F7FA"/>
                </a:solidFill>
                <a:latin typeface="Lato"/>
              </a:rPr>
              <a:t>  TRY THE LIVE PROTOTYPE</a:t>
            </a:r>
          </a:p>
          <a:p>
            <a:pPr algn="l"/>
            <a:r>
              <a:rPr sz="1400" b="1">
                <a:solidFill>
                  <a:srgbClr val="22D3EE"/>
                </a:solidFill>
                <a:latin typeface="Lato"/>
                <a:hlinkClick r:id="rId4"/>
              </a:rPr>
              <a:t>flexipath.vercel.app</a:t>
            </a:r>
          </a:p>
          <a:p>
            <a:pPr algn="l"/>
            <a:r>
              <a:rPr sz="1400" b="0">
                <a:solidFill>
                  <a:srgbClr val="D9E2EA"/>
                </a:solidFill>
                <a:latin typeface="Lato"/>
              </a:rPr>
              <a:t>guided demo, simulator and the</a:t>
            </a:r>
          </a:p>
          <a:p>
            <a:pPr algn="l"/>
            <a:r>
              <a:rPr sz="1400" b="0">
                <a:solidFill>
                  <a:srgbClr val="D9E2EA"/>
                </a:solidFill>
                <a:latin typeface="Lato"/>
              </a:rPr>
              <a:t>2-minute video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02 / EXECUTIVE BRIEF</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Executive summary</a:t>
            </a:r>
          </a:p>
        </p:txBody>
      </p:sp>
      <p:sp>
        <p:nvSpPr>
          <p:cNvPr id="14" name="TextBox 13"/>
          <p:cNvSpPr txBox="1"/>
          <p:nvPr/>
        </p:nvSpPr>
        <p:spPr>
          <a:xfrm>
            <a:off x="548640" y="1069848"/>
            <a:ext cx="10972800" cy="365760"/>
          </a:xfrm>
          <a:prstGeom prst="rect">
            <a:avLst/>
          </a:prstGeom>
          <a:noFill/>
        </p:spPr>
        <p:txBody>
          <a:bodyPr wrap="square" lIns="0" rIns="0" tIns="0" bIns="0" anchor="t"/>
          <a:lstStyle/>
          <a:p>
            <a:pPr algn="l"/>
            <a:r>
              <a:rPr sz="2000" b="1">
                <a:solidFill>
                  <a:srgbClr val="22D3EE"/>
                </a:solidFill>
                <a:latin typeface="Lato"/>
              </a:rPr>
              <a:t>FlexiPath keeps critical connections alive with little extra power</a:t>
            </a:r>
          </a:p>
        </p:txBody>
      </p:sp>
      <p:sp>
        <p:nvSpPr>
          <p:cNvPr id="15" name="Rectangle 14"/>
          <p:cNvSpPr/>
          <p:nvPr/>
        </p:nvSpPr>
        <p:spPr>
          <a:xfrm>
            <a:off x="548640" y="1600200"/>
            <a:ext cx="11091672" cy="868680"/>
          </a:xfrm>
          <a:prstGeom prst="rect">
            <a:avLst/>
          </a:prstGeom>
          <a:solidFill>
            <a:srgbClr val="0F161E">
              <a:alpha val="80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13232" y="1728216"/>
            <a:ext cx="1600200" cy="292608"/>
          </a:xfrm>
          <a:prstGeom prst="roundRect">
            <a:avLst>
              <a:gd name="adj" fmla="val 12000"/>
            </a:avLst>
          </a:prstGeom>
          <a:solidFill>
            <a:srgbClr val="F59E0B">
              <a:alpha val="14000"/>
            </a:srgbClr>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3232" y="1728216"/>
            <a:ext cx="1600200" cy="292608"/>
          </a:xfrm>
          <a:prstGeom prst="rect">
            <a:avLst/>
          </a:prstGeom>
          <a:noFill/>
        </p:spPr>
        <p:txBody>
          <a:bodyPr wrap="square" lIns="0" rIns="0" tIns="0" bIns="0" anchor="ctr"/>
          <a:lstStyle/>
          <a:p>
            <a:pPr algn="ctr"/>
            <a:r>
              <a:rPr sz="1200" b="1" spc="100">
                <a:solidFill>
                  <a:srgbClr val="F59E0B"/>
                </a:solidFill>
                <a:latin typeface="Fira Code"/>
              </a:rPr>
              <a:t>PROBLEM</a:t>
            </a:r>
          </a:p>
        </p:txBody>
      </p:sp>
      <p:sp>
        <p:nvSpPr>
          <p:cNvPr id="18" name="TextBox 17"/>
          <p:cNvSpPr txBox="1"/>
          <p:nvPr/>
        </p:nvSpPr>
        <p:spPr>
          <a:xfrm>
            <a:off x="2560320" y="1709928"/>
            <a:ext cx="8915400" cy="704088"/>
          </a:xfrm>
          <a:prstGeom prst="rect">
            <a:avLst/>
          </a:prstGeom>
          <a:noFill/>
        </p:spPr>
        <p:txBody>
          <a:bodyPr wrap="square" lIns="0" rIns="0" tIns="0" bIns="0" anchor="t"/>
          <a:lstStyle/>
          <a:p>
            <a:pPr algn="l">
              <a:spcAft>
                <a:spcPts val="300"/>
              </a:spcAft>
            </a:pPr>
            <a:r>
              <a:rPr sz="1400" b="0">
                <a:solidFill>
                  <a:srgbClr val="D9E2EA"/>
                </a:solidFill>
                <a:latin typeface="Lato"/>
              </a:rPr>
              <a:t>In our model, a legacy stack leaves one network before it joins the next. A moving user loses the connection. When the control link (C2) of a drone is silent for more than 300 ms, the drone must stop and hover (our piloted-flight rule).</a:t>
            </a:r>
          </a:p>
        </p:txBody>
      </p:sp>
      <p:sp>
        <p:nvSpPr>
          <p:cNvPr id="19" name="Rectangle 18"/>
          <p:cNvSpPr/>
          <p:nvPr/>
        </p:nvSpPr>
        <p:spPr>
          <a:xfrm>
            <a:off x="548640" y="2596896"/>
            <a:ext cx="11091672" cy="896112"/>
          </a:xfrm>
          <a:prstGeom prst="rect">
            <a:avLst/>
          </a:prstGeom>
          <a:solidFill>
            <a:srgbClr val="0F161E">
              <a:alpha val="80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13232" y="2724912"/>
            <a:ext cx="1600200" cy="292608"/>
          </a:xfrm>
          <a:prstGeom prst="roundRect">
            <a:avLst>
              <a:gd name="adj" fmla="val 12000"/>
            </a:avLst>
          </a:prstGeom>
          <a:solidFill>
            <a:srgbClr val="22D3EE">
              <a:alpha val="14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3232" y="2724912"/>
            <a:ext cx="1600200" cy="292608"/>
          </a:xfrm>
          <a:prstGeom prst="rect">
            <a:avLst/>
          </a:prstGeom>
          <a:noFill/>
        </p:spPr>
        <p:txBody>
          <a:bodyPr wrap="square" lIns="0" rIns="0" tIns="0" bIns="0" anchor="ctr"/>
          <a:lstStyle/>
          <a:p>
            <a:pPr algn="ctr"/>
            <a:r>
              <a:rPr sz="1200" b="1" spc="100">
                <a:solidFill>
                  <a:srgbClr val="22D3EE"/>
                </a:solidFill>
                <a:latin typeface="Fira Code"/>
              </a:rPr>
              <a:t>MECHANISM</a:t>
            </a:r>
          </a:p>
        </p:txBody>
      </p:sp>
      <p:sp>
        <p:nvSpPr>
          <p:cNvPr id="22" name="TextBox 21"/>
          <p:cNvSpPr txBox="1"/>
          <p:nvPr/>
        </p:nvSpPr>
        <p:spPr>
          <a:xfrm>
            <a:off x="2560320" y="2706624"/>
            <a:ext cx="8915400" cy="731520"/>
          </a:xfrm>
          <a:prstGeom prst="rect">
            <a:avLst/>
          </a:prstGeom>
          <a:noFill/>
        </p:spPr>
        <p:txBody>
          <a:bodyPr wrap="square" lIns="0" rIns="0" tIns="0" bIns="0" anchor="t"/>
          <a:lstStyle/>
          <a:p>
            <a:pPr algn="l">
              <a:spcAft>
                <a:spcPts val="300"/>
              </a:spcAft>
            </a:pPr>
            <a:r>
              <a:rPr sz="1400" b="0">
                <a:solidFill>
                  <a:srgbClr val="D9E2EA"/>
                </a:solidFill>
                <a:latin typeface="Lato"/>
              </a:rPr>
              <a:t>FlexiPath finds a fading signal seconds early. It wakes the next network and tests it. For 0.4 s, it sends only the critical commands on both networks. Then it switches with no gap. An anchor relay keeps each connection open.</a:t>
            </a:r>
          </a:p>
          <a:p>
            <a:pPr algn="l">
              <a:spcAft>
                <a:spcPts val="300"/>
              </a:spcAft>
            </a:pPr>
            <a:r>
              <a:rPr sz="1400" b="0">
                <a:solidFill>
                  <a:srgbClr val="D9E2EA"/>
                </a:solidFill>
                <a:latin typeface="Lato"/>
              </a:rPr>
              <a:t>Spare modems sleep at all other times to save power.</a:t>
            </a:r>
          </a:p>
        </p:txBody>
      </p:sp>
      <p:sp>
        <p:nvSpPr>
          <p:cNvPr id="23" name="Rectangle 22"/>
          <p:cNvSpPr/>
          <p:nvPr/>
        </p:nvSpPr>
        <p:spPr>
          <a:xfrm>
            <a:off x="548640" y="3630168"/>
            <a:ext cx="11091672" cy="1280160"/>
          </a:xfrm>
          <a:prstGeom prst="rect">
            <a:avLst/>
          </a:prstGeom>
          <a:solidFill>
            <a:srgbClr val="0F161E">
              <a:alpha val="80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713232" y="3758184"/>
            <a:ext cx="1600200" cy="292608"/>
          </a:xfrm>
          <a:prstGeom prst="roundRect">
            <a:avLst>
              <a:gd name="adj" fmla="val 12000"/>
            </a:avLst>
          </a:prstGeom>
          <a:solidFill>
            <a:srgbClr val="22D3EE">
              <a:alpha val="14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758184"/>
            <a:ext cx="1600200" cy="292608"/>
          </a:xfrm>
          <a:prstGeom prst="rect">
            <a:avLst/>
          </a:prstGeom>
          <a:noFill/>
        </p:spPr>
        <p:txBody>
          <a:bodyPr wrap="square" lIns="0" rIns="0" tIns="0" bIns="0" anchor="ctr"/>
          <a:lstStyle/>
          <a:p>
            <a:pPr algn="ctr"/>
            <a:r>
              <a:rPr sz="1200" b="1" spc="100">
                <a:solidFill>
                  <a:srgbClr val="22D3EE"/>
                </a:solidFill>
                <a:latin typeface="Fira Code"/>
              </a:rPr>
              <a:t>EVIDENCE</a:t>
            </a:r>
          </a:p>
        </p:txBody>
      </p:sp>
      <p:sp>
        <p:nvSpPr>
          <p:cNvPr id="26" name="TextBox 25"/>
          <p:cNvSpPr txBox="1"/>
          <p:nvPr/>
        </p:nvSpPr>
        <p:spPr>
          <a:xfrm>
            <a:off x="2560320" y="3739896"/>
            <a:ext cx="8915400" cy="1115568"/>
          </a:xfrm>
          <a:prstGeom prst="rect">
            <a:avLst/>
          </a:prstGeom>
          <a:noFill/>
        </p:spPr>
        <p:txBody>
          <a:bodyPr wrap="square" lIns="0" rIns="0" tIns="0" bIns="0" anchor="t"/>
          <a:lstStyle/>
          <a:p>
            <a:pPr algn="l">
              <a:spcAft>
                <a:spcPts val="300"/>
              </a:spcAft>
            </a:pPr>
            <a:r>
              <a:rPr sz="1400" b="0">
                <a:solidFill>
                  <a:srgbClr val="D9E2EA"/>
                </a:solidFill>
                <a:latin typeface="Lato"/>
              </a:rPr>
              <a:t>We run 160 paired simulated flights (8 scenarios, 5 seeds, 4 speeds) with a legacy stack and two existing methods. Reactive multipath (MPTCP/ATSSS) switches after failure. Always duplicate (PDCP duplication) sends twice.</a:t>
            </a:r>
          </a:p>
          <a:p>
            <a:pPr algn="l">
              <a:spcAft>
                <a:spcPts val="300"/>
              </a:spcAft>
            </a:pPr>
            <a:r>
              <a:rPr sz="1400" b="0">
                <a:solidFill>
                  <a:srgbClr val="D9E2EA"/>
                </a:solidFill>
                <a:latin typeface="Lato"/>
              </a:rPr>
              <a:t>With our 300 ms rule and 60 vs 250 ms outage detection, FlexiPath keeps C2 on 100 % of flights. A legacy stack keeps it on 0 %. Reactive multipath fails in three scenarios. Always duplicate uses 2.1–2.6× the power.</a:t>
            </a:r>
          </a:p>
        </p:txBody>
      </p:sp>
      <p:sp>
        <p:nvSpPr>
          <p:cNvPr id="27" name="Rectangle 26"/>
          <p:cNvSpPr/>
          <p:nvPr/>
        </p:nvSpPr>
        <p:spPr>
          <a:xfrm>
            <a:off x="548640" y="5047488"/>
            <a:ext cx="11091672" cy="1298448"/>
          </a:xfrm>
          <a:prstGeom prst="rect">
            <a:avLst/>
          </a:prstGeom>
          <a:solidFill>
            <a:srgbClr val="0F161E">
              <a:alpha val="80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13232" y="5175503"/>
            <a:ext cx="1600200" cy="292608"/>
          </a:xfrm>
          <a:prstGeom prst="roundRect">
            <a:avLst>
              <a:gd name="adj" fmla="val 12000"/>
            </a:avLst>
          </a:prstGeom>
          <a:solidFill>
            <a:srgbClr val="22D3EE">
              <a:alpha val="14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2" y="5175503"/>
            <a:ext cx="1600200" cy="292608"/>
          </a:xfrm>
          <a:prstGeom prst="rect">
            <a:avLst/>
          </a:prstGeom>
          <a:noFill/>
        </p:spPr>
        <p:txBody>
          <a:bodyPr wrap="square" lIns="0" rIns="0" tIns="0" bIns="0" anchor="ctr"/>
          <a:lstStyle/>
          <a:p>
            <a:pPr algn="ctr"/>
            <a:r>
              <a:rPr sz="1200" b="1" spc="100">
                <a:solidFill>
                  <a:srgbClr val="22D3EE"/>
                </a:solidFill>
                <a:latin typeface="Fira Code"/>
              </a:rPr>
              <a:t>DELIVERED</a:t>
            </a:r>
          </a:p>
        </p:txBody>
      </p:sp>
      <p:sp>
        <p:nvSpPr>
          <p:cNvPr id="30" name="TextBox 29"/>
          <p:cNvSpPr txBox="1"/>
          <p:nvPr/>
        </p:nvSpPr>
        <p:spPr>
          <a:xfrm>
            <a:off x="2560320" y="5157216"/>
            <a:ext cx="8915400" cy="1133856"/>
          </a:xfrm>
          <a:prstGeom prst="rect">
            <a:avLst/>
          </a:prstGeom>
          <a:noFill/>
        </p:spPr>
        <p:txBody>
          <a:bodyPr wrap="square" lIns="0" rIns="0" tIns="0" bIns="0" anchor="t"/>
          <a:lstStyle/>
          <a:p>
            <a:pPr algn="l">
              <a:spcAft>
                <a:spcPts val="300"/>
              </a:spcAft>
            </a:pPr>
            <a:r>
              <a:rPr sz="1400" b="1">
                <a:solidFill>
                  <a:srgbClr val="22D3EE"/>
                </a:solidFill>
                <a:latin typeface="Lato"/>
              </a:rPr>
              <a:t>4–7 points more reliability per extra watt for FlexiPath</a:t>
            </a:r>
            <a:r>
              <a:rPr sz="1400" b="0">
                <a:solidFill>
                  <a:srgbClr val="D9E2EA"/>
                </a:solidFill>
                <a:latin typeface="Lato"/>
              </a:rPr>
              <a:t> versus 0.3–0.9 for always duplicate.</a:t>
            </a:r>
          </a:p>
          <a:p>
            <a:pPr algn="l">
              <a:spcAft>
                <a:spcPts val="300"/>
              </a:spcAft>
            </a:pPr>
            <a:r>
              <a:rPr sz="1400" b="0">
                <a:solidFill>
                  <a:srgbClr val="D9E2EA"/>
                </a:solidFill>
                <a:latin typeface="Lato"/>
              </a:rPr>
              <a:t>A working prototype (interactive 3D digital twin with a guided demo), a deterministic simulation with a headless benchmark, and a documented model. We check its parameters against published data.</a:t>
            </a:r>
          </a:p>
          <a:p>
            <a:pPr algn="l">
              <a:spcAft>
                <a:spcPts val="300"/>
              </a:spcAft>
            </a:pPr>
            <a:r>
              <a:rPr sz="1400" b="0">
                <a:solidFill>
                  <a:srgbClr val="F59E0B"/>
                </a:solidFill>
                <a:latin typeface="Lato"/>
              </a:rPr>
              <a:t>All results are from simulation; we claim no live-network measurements.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03 / THREAT ASSESSMENT</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The problem and why it matters</a:t>
            </a:r>
          </a:p>
        </p:txBody>
      </p:sp>
      <p:sp>
        <p:nvSpPr>
          <p:cNvPr id="14" name="TextBox 13"/>
          <p:cNvSpPr txBox="1"/>
          <p:nvPr/>
        </p:nvSpPr>
        <p:spPr>
          <a:xfrm>
            <a:off x="548640" y="1325880"/>
            <a:ext cx="5120640" cy="2834640"/>
          </a:xfrm>
          <a:prstGeom prst="rect">
            <a:avLst/>
          </a:prstGeom>
          <a:noFill/>
        </p:spPr>
        <p:txBody>
          <a:bodyPr wrap="square" lIns="0" rIns="0" tIns="0" bIns="0" anchor="t"/>
          <a:lstStyle/>
          <a:p>
            <a:pPr algn="l">
              <a:spcAft>
                <a:spcPts val="1200"/>
              </a:spcAft>
            </a:pPr>
            <a:r>
              <a:rPr sz="1700" b="0">
                <a:solidFill>
                  <a:srgbClr val="D9E2EA"/>
                </a:solidFill>
                <a:latin typeface="Lato"/>
              </a:rPr>
              <a:t>In our model, every network change costs a legacy stack </a:t>
            </a:r>
            <a:r>
              <a:rPr sz="2200" b="1">
                <a:solidFill>
                  <a:srgbClr val="F59E0B"/>
                </a:solidFill>
                <a:latin typeface="Fira Code"/>
              </a:rPr>
              <a:t>3.8 s</a:t>
            </a:r>
            <a:r>
              <a:rPr sz="1700" b="0">
                <a:solidFill>
                  <a:srgbClr val="D9E2EA"/>
                </a:solidFill>
                <a:latin typeface="Lato"/>
              </a:rPr>
              <a:t> of silence.</a:t>
            </a:r>
          </a:p>
          <a:p>
            <a:pPr algn="l"/>
            <a:r>
              <a:rPr sz="1700" b="1">
                <a:solidFill>
                  <a:srgbClr val="F3F7FA"/>
                </a:solidFill>
                <a:latin typeface="Lato"/>
              </a:rPr>
              <a:t>Dropped calls. Frozen streams.</a:t>
            </a:r>
          </a:p>
          <a:p>
            <a:pPr algn="l">
              <a:spcAft>
                <a:spcPts val="1200"/>
              </a:spcAft>
            </a:pPr>
            <a:r>
              <a:rPr sz="1700" b="1">
                <a:solidFill>
                  <a:srgbClr val="F87171"/>
                </a:solidFill>
                <a:latin typeface="Fira Code"/>
              </a:rPr>
              <a:t>300 ms</a:t>
            </a:r>
            <a:r>
              <a:rPr sz="1700" b="1">
                <a:solidFill>
                  <a:srgbClr val="F3F7FA"/>
                </a:solidFill>
                <a:latin typeface="Lato"/>
              </a:rPr>
              <a:t> of silence makes a drone hover.</a:t>
            </a:r>
          </a:p>
          <a:p>
            <a:pPr algn="l">
              <a:spcAft>
                <a:spcPts val="1200"/>
              </a:spcAft>
            </a:pPr>
            <a:r>
              <a:rPr sz="1700" b="0">
                <a:solidFill>
                  <a:srgbClr val="D9E2EA"/>
                </a:solidFill>
                <a:latin typeface="Lato"/>
              </a:rPr>
              <a:t>Emergency response, industrial automation, connected transport and defence cannot wait.</a:t>
            </a:r>
          </a:p>
          <a:p>
            <a:pPr algn="l"/>
            <a:r>
              <a:rPr sz="1700" b="0">
                <a:solidFill>
                  <a:srgbClr val="22D3EE"/>
                </a:solidFill>
                <a:latin typeface="Lato"/>
              </a:rPr>
              <a:t>Two drones, one route: Wi-Fi → 5G → satellite.</a:t>
            </a:r>
          </a:p>
        </p:txBody>
      </p:sp>
      <p:pic>
        <p:nvPicPr>
          <p:cNvPr id="15" name="feed FEED 01  ·  ROUTE" descr="feed_coast.png"/>
          <p:cNvPicPr>
            <a:picLocks noChangeAspect="1"/>
          </p:cNvPicPr>
          <p:nvPr/>
        </p:nvPicPr>
        <p:blipFill>
          <a:blip r:embed="rId3"/>
          <a:stretch>
            <a:fillRect/>
          </a:stretch>
        </p:blipFill>
        <p:spPr>
          <a:xfrm>
            <a:off x="6035040" y="1325880"/>
            <a:ext cx="5605272" cy="2743200"/>
          </a:xfrm>
          <a:prstGeom prst="rect">
            <a:avLst/>
          </a:prstGeom>
        </p:spPr>
      </p:pic>
      <p:sp>
        <p:nvSpPr>
          <p:cNvPr id="16" name="Rectangle 15"/>
          <p:cNvSpPr/>
          <p:nvPr/>
        </p:nvSpPr>
        <p:spPr>
          <a:xfrm>
            <a:off x="6035040" y="1325880"/>
            <a:ext cx="5605272" cy="2743200"/>
          </a:xfrm>
          <a:prstGeom prst="rect">
            <a:avLst/>
          </a:prstGeom>
          <a:no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 name="Connector 16"/>
          <p:cNvCxnSpPr/>
          <p:nvPr/>
        </p:nvCxnSpPr>
        <p:spPr>
          <a:xfrm>
            <a:off x="5980176" y="1271016"/>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980176" y="127101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494007" y="1271016"/>
            <a:ext cx="20116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695176" y="127101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80176" y="4123944"/>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980176" y="392277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11494007" y="4123944"/>
            <a:ext cx="20116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1695176" y="392277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163055" y="1453895"/>
            <a:ext cx="109728" cy="10972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27648" y="1399032"/>
            <a:ext cx="2194560" cy="237744"/>
          </a:xfrm>
          <a:prstGeom prst="rect">
            <a:avLst/>
          </a:prstGeom>
          <a:noFill/>
        </p:spPr>
        <p:txBody>
          <a:bodyPr wrap="square" lIns="0" rIns="0" tIns="0" bIns="0" anchor="t"/>
          <a:lstStyle/>
          <a:p>
            <a:pPr algn="l"/>
            <a:r>
              <a:rPr sz="1100" b="0" spc="100">
                <a:solidFill>
                  <a:srgbClr val="22D3EE"/>
                </a:solidFill>
                <a:latin typeface="Fira Code"/>
              </a:rPr>
              <a:t>FEED 01  ·  ROUTE</a:t>
            </a:r>
          </a:p>
        </p:txBody>
      </p:sp>
      <p:cxnSp>
        <p:nvCxnSpPr>
          <p:cNvPr id="27" name="Connector 26"/>
          <p:cNvCxnSpPr/>
          <p:nvPr/>
        </p:nvCxnSpPr>
        <p:spPr>
          <a:xfrm>
            <a:off x="8673084" y="2697480"/>
            <a:ext cx="109727" cy="0"/>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892540" y="2697480"/>
            <a:ext cx="109727" cy="0"/>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37676" y="2532888"/>
            <a:ext cx="0" cy="109728"/>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837676" y="2752344"/>
            <a:ext cx="0" cy="109728"/>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pic>
        <p:nvPicPr>
          <p:cNvPr id="31" name="drone" descr="image16.png"/>
          <p:cNvPicPr>
            <a:picLocks noChangeAspect="1"/>
          </p:cNvPicPr>
          <p:nvPr/>
        </p:nvPicPr>
        <p:blipFill>
          <a:blip r:embed="rId4"/>
          <a:stretch>
            <a:fillRect/>
          </a:stretch>
        </p:blipFill>
        <p:spPr>
          <a:xfrm>
            <a:off x="7406640" y="1691640"/>
            <a:ext cx="1737360" cy="664087"/>
          </a:xfrm>
          <a:prstGeom prst="rect">
            <a:avLst/>
          </a:prstGeom>
        </p:spPr>
      </p:pic>
      <p:pic>
        <p:nvPicPr>
          <p:cNvPr id="32" name="satellite" descr="image17.png"/>
          <p:cNvPicPr>
            <a:picLocks noChangeAspect="1"/>
          </p:cNvPicPr>
          <p:nvPr/>
        </p:nvPicPr>
        <p:blipFill>
          <a:blip r:embed="rId5"/>
          <a:stretch>
            <a:fillRect/>
          </a:stretch>
        </p:blipFill>
        <p:spPr>
          <a:xfrm>
            <a:off x="10698480" y="1874519"/>
            <a:ext cx="685800" cy="573932"/>
          </a:xfrm>
          <a:prstGeom prst="rect">
            <a:avLst/>
          </a:prstGeom>
        </p:spPr>
      </p:pic>
      <p:sp>
        <p:nvSpPr>
          <p:cNvPr id="33" name="TextBox 32"/>
          <p:cNvSpPr txBox="1"/>
          <p:nvPr/>
        </p:nvSpPr>
        <p:spPr>
          <a:xfrm>
            <a:off x="548640" y="4297680"/>
            <a:ext cx="11064240" cy="274320"/>
          </a:xfrm>
          <a:prstGeom prst="rect">
            <a:avLst/>
          </a:prstGeom>
          <a:noFill/>
        </p:spPr>
        <p:txBody>
          <a:bodyPr wrap="square" lIns="0" rIns="0" tIns="0" bIns="0" anchor="t"/>
          <a:lstStyle/>
          <a:p>
            <a:pPr algn="l"/>
            <a:r>
              <a:rPr sz="1400" b="1">
                <a:solidFill>
                  <a:srgbClr val="F59E0B"/>
                </a:solidFill>
                <a:latin typeface="Lato"/>
              </a:rPr>
              <a:t>Why drones: we model a hover after 300 ms without C2 (our piloted-flight rule).</a:t>
            </a:r>
          </a:p>
        </p:txBody>
      </p:sp>
      <p:cxnSp>
        <p:nvCxnSpPr>
          <p:cNvPr id="34" name="Connector 33"/>
          <p:cNvCxnSpPr/>
          <p:nvPr/>
        </p:nvCxnSpPr>
        <p:spPr>
          <a:xfrm>
            <a:off x="685800" y="4800600"/>
            <a:ext cx="10835640" cy="0"/>
          </a:xfrm>
          <a:prstGeom prst="line">
            <a:avLst/>
          </a:prstGeom>
          <a:ln w="19050">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5800" y="4800600"/>
            <a:ext cx="81838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9680" y="4800600"/>
            <a:ext cx="2651760" cy="0"/>
          </a:xfrm>
          <a:prstGeom prst="line">
            <a:avLst/>
          </a:prstGeom>
          <a:ln w="25400">
            <a:solidFill>
              <a:srgbClr val="22D3EE"/>
            </a:solidFill>
            <a:prstDash val="dash"/>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03504" y="4718304"/>
            <a:ext cx="164592" cy="164592"/>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67512" y="4956048"/>
            <a:ext cx="2651760" cy="685800"/>
          </a:xfrm>
          <a:prstGeom prst="rect">
            <a:avLst/>
          </a:prstGeom>
          <a:noFill/>
        </p:spPr>
        <p:txBody>
          <a:bodyPr wrap="square" lIns="0" rIns="0" tIns="0" bIns="0" anchor="t"/>
          <a:lstStyle/>
          <a:p>
            <a:pPr algn="l"/>
            <a:r>
              <a:rPr sz="1700" b="1" spc="100">
                <a:solidFill>
                  <a:srgbClr val="F3F7FA"/>
                </a:solidFill>
                <a:latin typeface="Anantason Condensed"/>
              </a:rPr>
              <a:t>1. DOCK (WIRED)</a:t>
            </a:r>
          </a:p>
          <a:p>
            <a:pPr algn="l"/>
            <a:r>
              <a:rPr sz="1400" b="0">
                <a:solidFill>
                  <a:srgbClr val="D9E2EA"/>
                </a:solidFill>
                <a:latin typeface="Lato"/>
              </a:rPr>
              <a:t>Stable baseline mission prep</a:t>
            </a:r>
          </a:p>
        </p:txBody>
      </p:sp>
      <p:sp>
        <p:nvSpPr>
          <p:cNvPr id="39" name="Oval 38"/>
          <p:cNvSpPr/>
          <p:nvPr/>
        </p:nvSpPr>
        <p:spPr>
          <a:xfrm>
            <a:off x="3438144" y="4718304"/>
            <a:ext cx="164592" cy="164592"/>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502152" y="4956048"/>
            <a:ext cx="2651760" cy="685800"/>
          </a:xfrm>
          <a:prstGeom prst="rect">
            <a:avLst/>
          </a:prstGeom>
          <a:noFill/>
        </p:spPr>
        <p:txBody>
          <a:bodyPr wrap="square" lIns="0" rIns="0" tIns="0" bIns="0" anchor="t"/>
          <a:lstStyle/>
          <a:p>
            <a:pPr algn="l"/>
            <a:r>
              <a:rPr sz="1700" b="1" spc="100">
                <a:solidFill>
                  <a:srgbClr val="F3F7FA"/>
                </a:solidFill>
                <a:latin typeface="Anantason Condensed"/>
              </a:rPr>
              <a:t>2. WI-FI 6</a:t>
            </a:r>
          </a:p>
          <a:p>
            <a:pPr algn="l"/>
            <a:r>
              <a:rPr sz="1400" b="0">
                <a:solidFill>
                  <a:srgbClr val="D9E2EA"/>
                </a:solidFill>
                <a:latin typeface="Lato"/>
              </a:rPr>
              <a:t>Local coverage on the move</a:t>
            </a:r>
          </a:p>
        </p:txBody>
      </p:sp>
      <p:sp>
        <p:nvSpPr>
          <p:cNvPr id="41" name="Oval 40"/>
          <p:cNvSpPr/>
          <p:nvPr/>
        </p:nvSpPr>
        <p:spPr>
          <a:xfrm>
            <a:off x="6272784" y="4718304"/>
            <a:ext cx="164592" cy="164592"/>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36792" y="4956048"/>
            <a:ext cx="2651760" cy="685800"/>
          </a:xfrm>
          <a:prstGeom prst="rect">
            <a:avLst/>
          </a:prstGeom>
          <a:noFill/>
        </p:spPr>
        <p:txBody>
          <a:bodyPr wrap="square" lIns="0" rIns="0" tIns="0" bIns="0" anchor="t"/>
          <a:lstStyle/>
          <a:p>
            <a:pPr algn="l"/>
            <a:r>
              <a:rPr sz="1700" b="1" spc="100">
                <a:solidFill>
                  <a:srgbClr val="F3F7FA"/>
                </a:solidFill>
                <a:latin typeface="Anantason Condensed"/>
              </a:rPr>
              <a:t>3. 5G SA</a:t>
            </a:r>
          </a:p>
          <a:p>
            <a:pPr algn="l"/>
            <a:r>
              <a:rPr sz="1400" b="0">
                <a:solidFill>
                  <a:srgbClr val="D9E2EA"/>
                </a:solidFill>
                <a:latin typeface="Lato"/>
              </a:rPr>
              <a:t>Wide-area coverage at speed</a:t>
            </a:r>
          </a:p>
        </p:txBody>
      </p:sp>
      <p:sp>
        <p:nvSpPr>
          <p:cNvPr id="43" name="Oval 42"/>
          <p:cNvSpPr/>
          <p:nvPr/>
        </p:nvSpPr>
        <p:spPr>
          <a:xfrm>
            <a:off x="9107424" y="4718304"/>
            <a:ext cx="164592" cy="164592"/>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171432" y="4956048"/>
            <a:ext cx="2651760" cy="685800"/>
          </a:xfrm>
          <a:prstGeom prst="rect">
            <a:avLst/>
          </a:prstGeom>
          <a:noFill/>
        </p:spPr>
        <p:txBody>
          <a:bodyPr wrap="square" lIns="0" rIns="0" tIns="0" bIns="0" anchor="t"/>
          <a:lstStyle/>
          <a:p>
            <a:pPr algn="l"/>
            <a:r>
              <a:rPr sz="1700" b="1" spc="100">
                <a:solidFill>
                  <a:srgbClr val="F3F7FA"/>
                </a:solidFill>
                <a:latin typeface="Anantason Condensed"/>
              </a:rPr>
              <a:t>4. LEO SATELLITE</a:t>
            </a:r>
          </a:p>
          <a:p>
            <a:pPr algn="l"/>
            <a:r>
              <a:rPr sz="1400" b="0">
                <a:solidFill>
                  <a:srgbClr val="D9E2EA"/>
                </a:solidFill>
                <a:latin typeface="Lato"/>
              </a:rPr>
              <a:t>Global reach</a:t>
            </a:r>
          </a:p>
          <a:p>
            <a:pPr algn="l"/>
            <a:r>
              <a:rPr sz="1400" b="0">
                <a:solidFill>
                  <a:srgbClr val="D9E2EA"/>
                </a:solidFill>
                <a:latin typeface="Lato"/>
              </a:rPr>
              <a:t>beyond line of sight</a:t>
            </a:r>
          </a:p>
        </p:txBody>
      </p:sp>
      <p:sp>
        <p:nvSpPr>
          <p:cNvPr id="45" name="Rectangle 44"/>
          <p:cNvSpPr/>
          <p:nvPr/>
        </p:nvSpPr>
        <p:spPr>
          <a:xfrm>
            <a:off x="548640" y="5788152"/>
            <a:ext cx="3547872" cy="713232"/>
          </a:xfrm>
          <a:prstGeom prst="rect">
            <a:avLst/>
          </a:prstGeom>
          <a:solidFill>
            <a:srgbClr val="0F161E">
              <a:alpha val="85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76656" y="5833872"/>
            <a:ext cx="3401568" cy="640080"/>
          </a:xfrm>
          <a:prstGeom prst="rect">
            <a:avLst/>
          </a:prstGeom>
          <a:noFill/>
        </p:spPr>
        <p:txBody>
          <a:bodyPr wrap="square" lIns="0" rIns="0" tIns="0" bIns="0" anchor="ctr"/>
          <a:lstStyle/>
          <a:p>
            <a:pPr algn="l"/>
            <a:r>
              <a:rPr sz="1500" b="1" spc="50">
                <a:solidFill>
                  <a:srgbClr val="22D3EE"/>
                </a:solidFill>
                <a:latin typeface="Anantason Condensed"/>
              </a:rPr>
              <a:t>CONTROL LINK (C2)</a:t>
            </a:r>
          </a:p>
          <a:p>
            <a:pPr algn="l"/>
            <a:r>
              <a:rPr sz="1400" b="0">
                <a:solidFill>
                  <a:srgbClr val="D9E2EA"/>
                </a:solidFill>
                <a:latin typeface="Lato"/>
              </a:rPr>
              <a:t>Command and control</a:t>
            </a:r>
          </a:p>
        </p:txBody>
      </p:sp>
      <p:sp>
        <p:nvSpPr>
          <p:cNvPr id="47" name="Rectangle 46"/>
          <p:cNvSpPr/>
          <p:nvPr/>
        </p:nvSpPr>
        <p:spPr>
          <a:xfrm>
            <a:off x="4279392" y="5788152"/>
            <a:ext cx="3547872" cy="713232"/>
          </a:xfrm>
          <a:prstGeom prst="rect">
            <a:avLst/>
          </a:prstGeom>
          <a:solidFill>
            <a:srgbClr val="0F161E">
              <a:alpha val="85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407407" y="5833872"/>
            <a:ext cx="3401568" cy="640080"/>
          </a:xfrm>
          <a:prstGeom prst="rect">
            <a:avLst/>
          </a:prstGeom>
          <a:noFill/>
        </p:spPr>
        <p:txBody>
          <a:bodyPr wrap="square" lIns="0" rIns="0" tIns="0" bIns="0" anchor="ctr"/>
          <a:lstStyle/>
          <a:p>
            <a:pPr algn="l"/>
            <a:r>
              <a:rPr sz="1500" b="1" spc="50">
                <a:solidFill>
                  <a:srgbClr val="22D3EE"/>
                </a:solidFill>
                <a:latin typeface="Anantason Condensed"/>
              </a:rPr>
              <a:t>PUSH-TO-TALK VOICE (REAL-TIME)</a:t>
            </a:r>
          </a:p>
          <a:p>
            <a:pPr algn="l"/>
            <a:r>
              <a:rPr sz="1400" b="0">
                <a:solidFill>
                  <a:srgbClr val="D9E2EA"/>
                </a:solidFill>
                <a:latin typeface="Lato"/>
              </a:rPr>
              <a:t>Clear, low-latency communications</a:t>
            </a:r>
          </a:p>
        </p:txBody>
      </p:sp>
      <p:sp>
        <p:nvSpPr>
          <p:cNvPr id="49" name="Rectangle 48"/>
          <p:cNvSpPr/>
          <p:nvPr/>
        </p:nvSpPr>
        <p:spPr>
          <a:xfrm>
            <a:off x="8010144" y="5788152"/>
            <a:ext cx="3547872" cy="713232"/>
          </a:xfrm>
          <a:prstGeom prst="rect">
            <a:avLst/>
          </a:prstGeom>
          <a:solidFill>
            <a:srgbClr val="0F161E">
              <a:alpha val="85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38160" y="5833872"/>
            <a:ext cx="3401568" cy="640080"/>
          </a:xfrm>
          <a:prstGeom prst="rect">
            <a:avLst/>
          </a:prstGeom>
          <a:noFill/>
        </p:spPr>
        <p:txBody>
          <a:bodyPr wrap="square" lIns="0" rIns="0" tIns="0" bIns="0" anchor="ctr"/>
          <a:lstStyle/>
          <a:p>
            <a:pPr algn="l"/>
            <a:r>
              <a:rPr sz="1500" b="1" spc="50">
                <a:solidFill>
                  <a:srgbClr val="22D3EE"/>
                </a:solidFill>
                <a:latin typeface="Anantason Condensed"/>
              </a:rPr>
              <a:t>CAMERA UPLOADS (BULK)</a:t>
            </a:r>
          </a:p>
          <a:p>
            <a:pPr algn="l"/>
            <a:r>
              <a:rPr sz="1400" b="0">
                <a:solidFill>
                  <a:srgbClr val="D9E2EA"/>
                </a:solidFill>
                <a:latin typeface="Lato"/>
              </a:rPr>
              <a:t>High-throughput data transfer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04 / CRITERION 01</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Existing mechanisms we analysed (criterion 01)</a:t>
            </a:r>
          </a:p>
        </p:txBody>
      </p:sp>
      <p:sp>
        <p:nvSpPr>
          <p:cNvPr id="14" name="Rectangle 13"/>
          <p:cNvSpPr/>
          <p:nvPr/>
        </p:nvSpPr>
        <p:spPr>
          <a:xfrm>
            <a:off x="548640" y="1261872"/>
            <a:ext cx="3429000" cy="370332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1520" y="1389888"/>
            <a:ext cx="3154680" cy="365760"/>
          </a:xfrm>
          <a:prstGeom prst="rect">
            <a:avLst/>
          </a:prstGeom>
          <a:noFill/>
        </p:spPr>
        <p:txBody>
          <a:bodyPr wrap="square" lIns="0" rIns="0" tIns="0" bIns="0" anchor="t"/>
          <a:lstStyle/>
          <a:p>
            <a:pPr algn="l"/>
            <a:r>
              <a:rPr sz="1900" b="1" spc="100">
                <a:solidFill>
                  <a:srgbClr val="F59E0B"/>
                </a:solidFill>
                <a:latin typeface="Anantason Condensed"/>
              </a:rPr>
              <a:t>REACTIVE MULTIPATH</a:t>
            </a:r>
          </a:p>
        </p:txBody>
      </p:sp>
      <p:cxnSp>
        <p:nvCxnSpPr>
          <p:cNvPr id="16" name="Connector 15"/>
          <p:cNvCxnSpPr/>
          <p:nvPr/>
        </p:nvCxnSpPr>
        <p:spPr>
          <a:xfrm>
            <a:off x="731520" y="1810512"/>
            <a:ext cx="3063239"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 y="1901952"/>
            <a:ext cx="3108960" cy="1737360"/>
          </a:xfrm>
          <a:prstGeom prst="rect">
            <a:avLst/>
          </a:prstGeom>
          <a:noFill/>
        </p:spPr>
        <p:txBody>
          <a:bodyPr wrap="square" lIns="0" rIns="0" tIns="0" bIns="0" anchor="t"/>
          <a:lstStyle/>
          <a:p>
            <a:pPr algn="l">
              <a:spcAft>
                <a:spcPts val="800"/>
              </a:spcAft>
            </a:pPr>
            <a:r>
              <a:rPr sz="1400" b="0">
                <a:solidFill>
                  <a:srgbClr val="D9E2EA"/>
                </a:solidFill>
                <a:latin typeface="Lato"/>
              </a:rPr>
              <a:t>MPTCP backup subflow (RFC 8684) and 3GPP ATSSS active-standby.</a:t>
            </a:r>
          </a:p>
          <a:p>
            <a:pPr algn="l"/>
            <a:r>
              <a:rPr sz="1400" b="0">
                <a:solidFill>
                  <a:srgbClr val="D9E2EA"/>
                </a:solidFill>
                <a:latin typeface="Lato"/>
              </a:rPr>
              <a:t>Keeps a backup network on standby. It moves only after it confirms losses and the spare modem wakes up.</a:t>
            </a:r>
          </a:p>
        </p:txBody>
      </p:sp>
      <p:cxnSp>
        <p:nvCxnSpPr>
          <p:cNvPr id="18" name="Connector 17"/>
          <p:cNvCxnSpPr/>
          <p:nvPr/>
        </p:nvCxnSpPr>
        <p:spPr>
          <a:xfrm>
            <a:off x="731520" y="3730752"/>
            <a:ext cx="3063240" cy="0"/>
          </a:xfrm>
          <a:prstGeom prst="line">
            <a:avLst/>
          </a:prstGeom>
          <a:ln w="9525">
            <a:solidFill>
              <a:srgbClr val="26333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31520" y="3822191"/>
            <a:ext cx="1600200" cy="411480"/>
          </a:xfrm>
          <a:prstGeom prst="rect">
            <a:avLst/>
          </a:prstGeom>
          <a:noFill/>
        </p:spPr>
        <p:txBody>
          <a:bodyPr wrap="square" lIns="0" rIns="0" tIns="0" bIns="0" anchor="t"/>
          <a:lstStyle/>
          <a:p>
            <a:pPr algn="l"/>
            <a:r>
              <a:rPr sz="2100" b="1">
                <a:solidFill>
                  <a:srgbClr val="F87171"/>
                </a:solidFill>
                <a:latin typeface="Fira Code"/>
              </a:rPr>
              <a:t>0.35 s</a:t>
            </a:r>
          </a:p>
        </p:txBody>
      </p:sp>
      <p:sp>
        <p:nvSpPr>
          <p:cNvPr id="20" name="TextBox 19"/>
          <p:cNvSpPr txBox="1"/>
          <p:nvPr/>
        </p:nvSpPr>
        <p:spPr>
          <a:xfrm>
            <a:off x="731520" y="4242816"/>
            <a:ext cx="1600200" cy="731520"/>
          </a:xfrm>
          <a:prstGeom prst="rect">
            <a:avLst/>
          </a:prstGeom>
          <a:noFill/>
        </p:spPr>
        <p:txBody>
          <a:bodyPr wrap="square" lIns="0" rIns="0" tIns="0" bIns="0" anchor="t"/>
          <a:lstStyle/>
          <a:p>
            <a:pPr algn="l"/>
            <a:r>
              <a:rPr sz="1400" b="0">
                <a:solidFill>
                  <a:srgbClr val="D9E2EA"/>
                </a:solidFill>
                <a:latin typeface="Lato"/>
              </a:rPr>
              <a:t>gap, more than our</a:t>
            </a:r>
          </a:p>
          <a:p>
            <a:pPr algn="l"/>
            <a:r>
              <a:rPr sz="1400" b="0">
                <a:solidFill>
                  <a:srgbClr val="D9E2EA"/>
                </a:solidFill>
                <a:latin typeface="Lato"/>
              </a:rPr>
              <a:t>300 ms C2 budget</a:t>
            </a:r>
          </a:p>
        </p:txBody>
      </p:sp>
      <p:sp>
        <p:nvSpPr>
          <p:cNvPr id="21" name="TextBox 20"/>
          <p:cNvSpPr txBox="1"/>
          <p:nvPr/>
        </p:nvSpPr>
        <p:spPr>
          <a:xfrm>
            <a:off x="2377440" y="3822191"/>
            <a:ext cx="1463040" cy="411480"/>
          </a:xfrm>
          <a:prstGeom prst="rect">
            <a:avLst/>
          </a:prstGeom>
          <a:noFill/>
        </p:spPr>
        <p:txBody>
          <a:bodyPr wrap="square" lIns="0" rIns="0" tIns="0" bIns="0" anchor="t"/>
          <a:lstStyle/>
          <a:p>
            <a:pPr algn="l"/>
            <a:r>
              <a:rPr sz="2100" b="1">
                <a:solidFill>
                  <a:srgbClr val="F59E0B"/>
                </a:solidFill>
                <a:latin typeface="Fira Code"/>
              </a:rPr>
              <a:t>1.20 W</a:t>
            </a:r>
          </a:p>
        </p:txBody>
      </p:sp>
      <p:sp>
        <p:nvSpPr>
          <p:cNvPr id="22" name="TextBox 21"/>
          <p:cNvSpPr txBox="1"/>
          <p:nvPr/>
        </p:nvSpPr>
        <p:spPr>
          <a:xfrm>
            <a:off x="2377440" y="4242816"/>
            <a:ext cx="1463040" cy="731520"/>
          </a:xfrm>
          <a:prstGeom prst="rect">
            <a:avLst/>
          </a:prstGeom>
          <a:noFill/>
        </p:spPr>
        <p:txBody>
          <a:bodyPr wrap="square" lIns="0" rIns="0" tIns="0" bIns="0" anchor="t"/>
          <a:lstStyle/>
          <a:p>
            <a:pPr algn="l"/>
            <a:r>
              <a:rPr sz="1400" b="0">
                <a:solidFill>
                  <a:srgbClr val="D9E2EA"/>
                </a:solidFill>
                <a:latin typeface="Lato"/>
              </a:rPr>
              <a:t>low power</a:t>
            </a:r>
          </a:p>
          <a:p>
            <a:pPr algn="l"/>
            <a:r>
              <a:rPr sz="1400" b="0">
                <a:solidFill>
                  <a:srgbClr val="D9E2EA"/>
                </a:solidFill>
                <a:latin typeface="Lato"/>
              </a:rPr>
              <a:t>consumption</a:t>
            </a:r>
          </a:p>
        </p:txBody>
      </p:sp>
      <p:sp>
        <p:nvSpPr>
          <p:cNvPr id="23" name="Rectangle 22"/>
          <p:cNvSpPr/>
          <p:nvPr/>
        </p:nvSpPr>
        <p:spPr>
          <a:xfrm>
            <a:off x="4151376" y="1261872"/>
            <a:ext cx="4114800" cy="370332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334256" y="1389888"/>
            <a:ext cx="3840480" cy="365760"/>
          </a:xfrm>
          <a:prstGeom prst="rect">
            <a:avLst/>
          </a:prstGeom>
          <a:noFill/>
        </p:spPr>
        <p:txBody>
          <a:bodyPr wrap="square" lIns="0" rIns="0" tIns="0" bIns="0" anchor="t"/>
          <a:lstStyle/>
          <a:p>
            <a:pPr algn="l"/>
            <a:r>
              <a:rPr sz="1900" b="1" spc="100">
                <a:solidFill>
                  <a:srgbClr val="F59E0B"/>
                </a:solidFill>
                <a:latin typeface="Anantason Condensed"/>
              </a:rPr>
              <a:t>ALWAYS DUPLICATE</a:t>
            </a:r>
          </a:p>
        </p:txBody>
      </p:sp>
      <p:cxnSp>
        <p:nvCxnSpPr>
          <p:cNvPr id="25" name="Connector 24"/>
          <p:cNvCxnSpPr/>
          <p:nvPr/>
        </p:nvCxnSpPr>
        <p:spPr>
          <a:xfrm>
            <a:off x="4334256" y="1810512"/>
            <a:ext cx="3749040"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34256" y="1901952"/>
            <a:ext cx="3749039" cy="1051560"/>
          </a:xfrm>
          <a:prstGeom prst="rect">
            <a:avLst/>
          </a:prstGeom>
          <a:noFill/>
        </p:spPr>
        <p:txBody>
          <a:bodyPr wrap="square" lIns="0" rIns="0" tIns="0" bIns="0" anchor="t"/>
          <a:lstStyle/>
          <a:p>
            <a:pPr algn="l">
              <a:spcAft>
                <a:spcPts val="600"/>
              </a:spcAft>
            </a:pPr>
            <a:r>
              <a:rPr sz="1400" b="0">
                <a:solidFill>
                  <a:srgbClr val="D9E2EA"/>
                </a:solidFill>
                <a:latin typeface="Lato"/>
              </a:rPr>
              <a:t>MPTCP redundant scheduler and PDCP duplication.</a:t>
            </a:r>
          </a:p>
          <a:p>
            <a:pPr algn="l"/>
            <a:r>
              <a:rPr sz="1400" b="0">
                <a:solidFill>
                  <a:srgbClr val="D9E2EA"/>
                </a:solidFill>
                <a:latin typeface="Lato"/>
              </a:rPr>
              <a:t>Sends every important packet on two networks, all the time.</a:t>
            </a:r>
          </a:p>
        </p:txBody>
      </p:sp>
      <p:sp>
        <p:nvSpPr>
          <p:cNvPr id="27" name="TextBox 26"/>
          <p:cNvSpPr txBox="1"/>
          <p:nvPr/>
        </p:nvSpPr>
        <p:spPr>
          <a:xfrm>
            <a:off x="4334256" y="3017520"/>
            <a:ext cx="3749039" cy="548640"/>
          </a:xfrm>
          <a:prstGeom prst="rect">
            <a:avLst/>
          </a:prstGeom>
          <a:noFill/>
        </p:spPr>
        <p:txBody>
          <a:bodyPr wrap="square" lIns="0" rIns="0" tIns="0" bIns="0" anchor="t"/>
          <a:lstStyle/>
          <a:p>
            <a:pPr algn="l"/>
            <a:r>
              <a:rPr sz="1400" b="0">
                <a:solidFill>
                  <a:srgbClr val="F87171"/>
                </a:solidFill>
                <a:latin typeface="Lato"/>
              </a:rPr>
              <a:t>Still fails when both paths fail together (a shared radio shadow).</a:t>
            </a:r>
          </a:p>
        </p:txBody>
      </p:sp>
      <p:cxnSp>
        <p:nvCxnSpPr>
          <p:cNvPr id="28" name="Connector 27"/>
          <p:cNvCxnSpPr/>
          <p:nvPr/>
        </p:nvCxnSpPr>
        <p:spPr>
          <a:xfrm>
            <a:off x="4334256" y="3730752"/>
            <a:ext cx="3749040" cy="0"/>
          </a:xfrm>
          <a:prstGeom prst="line">
            <a:avLst/>
          </a:prstGeom>
          <a:ln w="9525">
            <a:solidFill>
              <a:srgbClr val="26333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334256" y="3822191"/>
            <a:ext cx="1417320" cy="411480"/>
          </a:xfrm>
          <a:prstGeom prst="rect">
            <a:avLst/>
          </a:prstGeom>
          <a:noFill/>
        </p:spPr>
        <p:txBody>
          <a:bodyPr wrap="square" lIns="0" rIns="0" tIns="0" bIns="0" anchor="t"/>
          <a:lstStyle/>
          <a:p>
            <a:pPr algn="l"/>
            <a:r>
              <a:rPr sz="2100" b="1">
                <a:solidFill>
                  <a:srgbClr val="F59E0B"/>
                </a:solidFill>
                <a:latin typeface="Fira Code"/>
              </a:rPr>
              <a:t>99–100 %</a:t>
            </a:r>
          </a:p>
        </p:txBody>
      </p:sp>
      <p:sp>
        <p:nvSpPr>
          <p:cNvPr id="30" name="TextBox 29"/>
          <p:cNvSpPr txBox="1"/>
          <p:nvPr/>
        </p:nvSpPr>
        <p:spPr>
          <a:xfrm>
            <a:off x="4334256" y="4242816"/>
            <a:ext cx="1417320" cy="731520"/>
          </a:xfrm>
          <a:prstGeom prst="rect">
            <a:avLst/>
          </a:prstGeom>
          <a:noFill/>
        </p:spPr>
        <p:txBody>
          <a:bodyPr wrap="square" lIns="0" rIns="0" tIns="0" bIns="0" anchor="t"/>
          <a:lstStyle/>
          <a:p>
            <a:pPr algn="l"/>
            <a:r>
              <a:rPr sz="1400" b="0">
                <a:solidFill>
                  <a:srgbClr val="D9E2EA"/>
                </a:solidFill>
                <a:latin typeface="Lato"/>
              </a:rPr>
              <a:t>critical delivery</a:t>
            </a:r>
          </a:p>
          <a:p>
            <a:pPr algn="l"/>
            <a:r>
              <a:rPr sz="1400" b="0">
                <a:solidFill>
                  <a:srgbClr val="D9E2EA"/>
                </a:solidFill>
                <a:latin typeface="Lato"/>
              </a:rPr>
              <a:t>(most reliable)</a:t>
            </a:r>
          </a:p>
        </p:txBody>
      </p:sp>
      <p:sp>
        <p:nvSpPr>
          <p:cNvPr id="31" name="TextBox 30"/>
          <p:cNvSpPr txBox="1"/>
          <p:nvPr/>
        </p:nvSpPr>
        <p:spPr>
          <a:xfrm>
            <a:off x="5852160" y="3822191"/>
            <a:ext cx="2286000" cy="411480"/>
          </a:xfrm>
          <a:prstGeom prst="rect">
            <a:avLst/>
          </a:prstGeom>
          <a:noFill/>
        </p:spPr>
        <p:txBody>
          <a:bodyPr wrap="square" lIns="0" rIns="0" tIns="0" bIns="0" anchor="t"/>
          <a:lstStyle/>
          <a:p>
            <a:pPr algn="l"/>
            <a:r>
              <a:rPr sz="2100" b="1">
                <a:solidFill>
                  <a:srgbClr val="F59E0B"/>
                </a:solidFill>
                <a:latin typeface="Fira Code"/>
              </a:rPr>
              <a:t>2.65–3.39 W</a:t>
            </a:r>
          </a:p>
        </p:txBody>
      </p:sp>
      <p:sp>
        <p:nvSpPr>
          <p:cNvPr id="32" name="TextBox 31"/>
          <p:cNvSpPr txBox="1"/>
          <p:nvPr/>
        </p:nvSpPr>
        <p:spPr>
          <a:xfrm>
            <a:off x="5852160" y="4242816"/>
            <a:ext cx="2286000" cy="731520"/>
          </a:xfrm>
          <a:prstGeom prst="rect">
            <a:avLst/>
          </a:prstGeom>
          <a:noFill/>
        </p:spPr>
        <p:txBody>
          <a:bodyPr wrap="square" lIns="0" rIns="0" tIns="0" bIns="0" anchor="t"/>
          <a:lstStyle/>
          <a:p>
            <a:pPr algn="l"/>
            <a:r>
              <a:rPr sz="1400" b="0">
                <a:solidFill>
                  <a:srgbClr val="D9E2EA"/>
                </a:solidFill>
                <a:latin typeface="Lato"/>
              </a:rPr>
              <a:t>high power consumption</a:t>
            </a:r>
          </a:p>
          <a:p>
            <a:pPr algn="l"/>
            <a:r>
              <a:rPr sz="1400" b="0">
                <a:solidFill>
                  <a:srgbClr val="D9E2EA"/>
                </a:solidFill>
                <a:latin typeface="Lato"/>
              </a:rPr>
              <a:t>and copies 49–100 % of protected bytes</a:t>
            </a:r>
          </a:p>
        </p:txBody>
      </p:sp>
      <p:sp>
        <p:nvSpPr>
          <p:cNvPr id="33" name="Rectangle 32"/>
          <p:cNvSpPr/>
          <p:nvPr/>
        </p:nvSpPr>
        <p:spPr>
          <a:xfrm>
            <a:off x="8439912" y="1261872"/>
            <a:ext cx="3200400" cy="370332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622792" y="1389888"/>
            <a:ext cx="2926080" cy="365760"/>
          </a:xfrm>
          <a:prstGeom prst="rect">
            <a:avLst/>
          </a:prstGeom>
          <a:noFill/>
        </p:spPr>
        <p:txBody>
          <a:bodyPr wrap="square" lIns="0" rIns="0" tIns="0" bIns="0" anchor="t"/>
          <a:lstStyle/>
          <a:p>
            <a:pPr algn="l"/>
            <a:r>
              <a:rPr sz="1700" b="1" spc="100">
                <a:solidFill>
                  <a:srgbClr val="F87171"/>
                </a:solidFill>
                <a:latin typeface="Anantason Condensed"/>
              </a:rPr>
              <a:t>COMMON SHORTCOMINGS</a:t>
            </a:r>
          </a:p>
        </p:txBody>
      </p:sp>
      <p:cxnSp>
        <p:nvCxnSpPr>
          <p:cNvPr id="35" name="Connector 34"/>
          <p:cNvCxnSpPr/>
          <p:nvPr/>
        </p:nvCxnSpPr>
        <p:spPr>
          <a:xfrm>
            <a:off x="8622792" y="1810512"/>
            <a:ext cx="2834640"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622792" y="1920240"/>
            <a:ext cx="274320" cy="292608"/>
          </a:xfrm>
          <a:prstGeom prst="rect">
            <a:avLst/>
          </a:prstGeom>
          <a:noFill/>
        </p:spPr>
        <p:txBody>
          <a:bodyPr wrap="square" lIns="0" rIns="0" tIns="0" bIns="0" anchor="t"/>
          <a:lstStyle/>
          <a:p>
            <a:pPr algn="l"/>
            <a:r>
              <a:rPr sz="1400" b="1">
                <a:solidFill>
                  <a:srgbClr val="F87171"/>
                </a:solidFill>
                <a:latin typeface="Fira Code"/>
              </a:rPr>
              <a:t>✕</a:t>
            </a:r>
          </a:p>
        </p:txBody>
      </p:sp>
      <p:sp>
        <p:nvSpPr>
          <p:cNvPr id="37" name="TextBox 36"/>
          <p:cNvSpPr txBox="1"/>
          <p:nvPr/>
        </p:nvSpPr>
        <p:spPr>
          <a:xfrm>
            <a:off x="8897112" y="1920240"/>
            <a:ext cx="2651760" cy="292608"/>
          </a:xfrm>
          <a:prstGeom prst="rect">
            <a:avLst/>
          </a:prstGeom>
          <a:noFill/>
        </p:spPr>
        <p:txBody>
          <a:bodyPr wrap="square" lIns="0" rIns="0" tIns="0" bIns="0" anchor="t"/>
          <a:lstStyle/>
          <a:p>
            <a:pPr algn="l"/>
            <a:r>
              <a:rPr sz="1400" b="0">
                <a:solidFill>
                  <a:srgbClr val="D9E2EA"/>
                </a:solidFill>
                <a:latin typeface="Lato"/>
              </a:rPr>
              <a:t>Neither looks ahead.</a:t>
            </a:r>
          </a:p>
        </p:txBody>
      </p:sp>
      <p:sp>
        <p:nvSpPr>
          <p:cNvPr id="38" name="TextBox 37"/>
          <p:cNvSpPr txBox="1"/>
          <p:nvPr/>
        </p:nvSpPr>
        <p:spPr>
          <a:xfrm>
            <a:off x="8622792" y="2249424"/>
            <a:ext cx="274320" cy="292608"/>
          </a:xfrm>
          <a:prstGeom prst="rect">
            <a:avLst/>
          </a:prstGeom>
          <a:noFill/>
        </p:spPr>
        <p:txBody>
          <a:bodyPr wrap="square" lIns="0" rIns="0" tIns="0" bIns="0" anchor="t"/>
          <a:lstStyle/>
          <a:p>
            <a:pPr algn="l"/>
            <a:r>
              <a:rPr sz="1400" b="1">
                <a:solidFill>
                  <a:srgbClr val="F87171"/>
                </a:solidFill>
                <a:latin typeface="Fira Code"/>
              </a:rPr>
              <a:t>✕</a:t>
            </a:r>
          </a:p>
        </p:txBody>
      </p:sp>
      <p:sp>
        <p:nvSpPr>
          <p:cNvPr id="39" name="TextBox 38"/>
          <p:cNvSpPr txBox="1"/>
          <p:nvPr/>
        </p:nvSpPr>
        <p:spPr>
          <a:xfrm>
            <a:off x="8897112" y="2249424"/>
            <a:ext cx="2651760" cy="292608"/>
          </a:xfrm>
          <a:prstGeom prst="rect">
            <a:avLst/>
          </a:prstGeom>
          <a:noFill/>
        </p:spPr>
        <p:txBody>
          <a:bodyPr wrap="square" lIns="0" rIns="0" tIns="0" bIns="0" anchor="t"/>
          <a:lstStyle/>
          <a:p>
            <a:pPr algn="l"/>
            <a:r>
              <a:rPr sz="1400" b="0">
                <a:solidFill>
                  <a:srgbClr val="D9E2EA"/>
                </a:solidFill>
                <a:latin typeface="Lato"/>
              </a:rPr>
              <a:t>Ignores the fading signal.</a:t>
            </a:r>
          </a:p>
        </p:txBody>
      </p:sp>
      <p:sp>
        <p:nvSpPr>
          <p:cNvPr id="40" name="TextBox 39"/>
          <p:cNvSpPr txBox="1"/>
          <p:nvPr/>
        </p:nvSpPr>
        <p:spPr>
          <a:xfrm>
            <a:off x="8622792" y="2578608"/>
            <a:ext cx="274320" cy="292608"/>
          </a:xfrm>
          <a:prstGeom prst="rect">
            <a:avLst/>
          </a:prstGeom>
          <a:noFill/>
        </p:spPr>
        <p:txBody>
          <a:bodyPr wrap="square" lIns="0" rIns="0" tIns="0" bIns="0" anchor="t"/>
          <a:lstStyle/>
          <a:p>
            <a:pPr algn="l"/>
            <a:r>
              <a:rPr sz="1400" b="1">
                <a:solidFill>
                  <a:srgbClr val="F87171"/>
                </a:solidFill>
                <a:latin typeface="Fira Code"/>
              </a:rPr>
              <a:t>✕</a:t>
            </a:r>
          </a:p>
        </p:txBody>
      </p:sp>
      <p:sp>
        <p:nvSpPr>
          <p:cNvPr id="41" name="TextBox 40"/>
          <p:cNvSpPr txBox="1"/>
          <p:nvPr/>
        </p:nvSpPr>
        <p:spPr>
          <a:xfrm>
            <a:off x="8897112" y="2578608"/>
            <a:ext cx="2651760" cy="292608"/>
          </a:xfrm>
          <a:prstGeom prst="rect">
            <a:avLst/>
          </a:prstGeom>
          <a:noFill/>
        </p:spPr>
        <p:txBody>
          <a:bodyPr wrap="square" lIns="0" rIns="0" tIns="0" bIns="0" anchor="t"/>
          <a:lstStyle/>
          <a:p>
            <a:pPr algn="l"/>
            <a:r>
              <a:rPr sz="1400" b="0">
                <a:solidFill>
                  <a:srgbClr val="D9E2EA"/>
                </a:solidFill>
                <a:latin typeface="Lato"/>
              </a:rPr>
              <a:t>Ignores the known route.</a:t>
            </a:r>
          </a:p>
        </p:txBody>
      </p:sp>
      <p:sp>
        <p:nvSpPr>
          <p:cNvPr id="42" name="TextBox 41"/>
          <p:cNvSpPr txBox="1"/>
          <p:nvPr/>
        </p:nvSpPr>
        <p:spPr>
          <a:xfrm>
            <a:off x="8622792" y="2971800"/>
            <a:ext cx="2880360" cy="548640"/>
          </a:xfrm>
          <a:prstGeom prst="rect">
            <a:avLst/>
          </a:prstGeom>
          <a:noFill/>
        </p:spPr>
        <p:txBody>
          <a:bodyPr wrap="square" lIns="0" rIns="0" tIns="0" bIns="0" anchor="t"/>
          <a:lstStyle/>
          <a:p>
            <a:pPr algn="l"/>
            <a:r>
              <a:rPr sz="1400" b="1">
                <a:solidFill>
                  <a:srgbClr val="F3F7FA"/>
                </a:solidFill>
                <a:latin typeface="Lato"/>
              </a:rPr>
              <a:t>Neither adds protection only at the moment a link fades.</a:t>
            </a:r>
          </a:p>
        </p:txBody>
      </p:sp>
      <p:pic>
        <p:nvPicPr>
          <p:cNvPr id="43" name="feed FEED 03" descr="feed_road_w.png"/>
          <p:cNvPicPr>
            <a:picLocks noChangeAspect="1"/>
          </p:cNvPicPr>
          <p:nvPr/>
        </p:nvPicPr>
        <p:blipFill>
          <a:blip r:embed="rId3"/>
          <a:stretch>
            <a:fillRect/>
          </a:stretch>
        </p:blipFill>
        <p:spPr>
          <a:xfrm>
            <a:off x="8622792" y="3749039"/>
            <a:ext cx="2834640" cy="1051560"/>
          </a:xfrm>
          <a:prstGeom prst="rect">
            <a:avLst/>
          </a:prstGeom>
        </p:spPr>
      </p:pic>
      <p:sp>
        <p:nvSpPr>
          <p:cNvPr id="44" name="Rectangle 43"/>
          <p:cNvSpPr/>
          <p:nvPr/>
        </p:nvSpPr>
        <p:spPr>
          <a:xfrm>
            <a:off x="8622792" y="3749039"/>
            <a:ext cx="2834640" cy="1051560"/>
          </a:xfrm>
          <a:prstGeom prst="rect">
            <a:avLst/>
          </a:prstGeom>
          <a:no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5" name="Connector 44"/>
          <p:cNvCxnSpPr/>
          <p:nvPr/>
        </p:nvCxnSpPr>
        <p:spPr>
          <a:xfrm>
            <a:off x="8567928" y="3694176"/>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567928" y="369417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11311128" y="3694176"/>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512296" y="369417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567928" y="4855464"/>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8567928" y="465429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11311128" y="4855464"/>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1512296" y="465429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8750808" y="3877055"/>
            <a:ext cx="109728" cy="10972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915400" y="3822191"/>
            <a:ext cx="2194560" cy="237744"/>
          </a:xfrm>
          <a:prstGeom prst="rect">
            <a:avLst/>
          </a:prstGeom>
          <a:noFill/>
        </p:spPr>
        <p:txBody>
          <a:bodyPr wrap="square" lIns="0" rIns="0" tIns="0" bIns="0" anchor="t"/>
          <a:lstStyle/>
          <a:p>
            <a:pPr algn="l"/>
            <a:r>
              <a:rPr sz="1100" b="0" spc="100">
                <a:solidFill>
                  <a:srgbClr val="22D3EE"/>
                </a:solidFill>
                <a:latin typeface="Fira Code"/>
              </a:rPr>
              <a:t>FEED 03</a:t>
            </a:r>
          </a:p>
        </p:txBody>
      </p:sp>
      <p:cxnSp>
        <p:nvCxnSpPr>
          <p:cNvPr id="55" name="Connector 54"/>
          <p:cNvCxnSpPr/>
          <p:nvPr/>
        </p:nvCxnSpPr>
        <p:spPr>
          <a:xfrm>
            <a:off x="9875520" y="4274820"/>
            <a:ext cx="109728" cy="0"/>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094976" y="4274820"/>
            <a:ext cx="109728" cy="0"/>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040112" y="4110228"/>
            <a:ext cx="0" cy="109728"/>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040112" y="4329683"/>
            <a:ext cx="0" cy="109729"/>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548640" y="5120640"/>
            <a:ext cx="11091672" cy="1097280"/>
          </a:xfrm>
          <a:prstGeom prst="rect">
            <a:avLst/>
          </a:prstGeom>
          <a:solidFill>
            <a:srgbClr val="0B2A31">
              <a:alpha val="60000"/>
            </a:srgbClr>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0" name="Connector 59"/>
          <p:cNvCxnSpPr/>
          <p:nvPr/>
        </p:nvCxnSpPr>
        <p:spPr>
          <a:xfrm>
            <a:off x="548640" y="5120640"/>
            <a:ext cx="164592"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5120640"/>
            <a:ext cx="0" cy="164591"/>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1475720" y="5120640"/>
            <a:ext cx="164592"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1640312" y="5120640"/>
            <a:ext cx="0" cy="164591"/>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8640" y="6217920"/>
            <a:ext cx="164592"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48640" y="6053328"/>
            <a:ext cx="0" cy="164592"/>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475720" y="6217920"/>
            <a:ext cx="164592"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1640312" y="6053328"/>
            <a:ext cx="0" cy="164592"/>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777240" y="5120640"/>
            <a:ext cx="1828800" cy="1078992"/>
          </a:xfrm>
          <a:prstGeom prst="rect">
            <a:avLst/>
          </a:prstGeom>
          <a:noFill/>
        </p:spPr>
        <p:txBody>
          <a:bodyPr wrap="square" lIns="0" rIns="0" tIns="0" bIns="0" anchor="ctr"/>
          <a:lstStyle/>
          <a:p>
            <a:pPr algn="l"/>
            <a:r>
              <a:rPr sz="2200" b="1" spc="150">
                <a:solidFill>
                  <a:srgbClr val="22D3EE"/>
                </a:solidFill>
                <a:latin typeface="Anantason Condensed"/>
              </a:rPr>
              <a:t>WHAT WE ADAPT</a:t>
            </a:r>
          </a:p>
        </p:txBody>
      </p:sp>
      <p:sp>
        <p:nvSpPr>
          <p:cNvPr id="69" name="TextBox 68"/>
          <p:cNvSpPr txBox="1"/>
          <p:nvPr/>
        </p:nvSpPr>
        <p:spPr>
          <a:xfrm>
            <a:off x="2743200" y="5193792"/>
            <a:ext cx="8778240" cy="987552"/>
          </a:xfrm>
          <a:prstGeom prst="rect">
            <a:avLst/>
          </a:prstGeom>
          <a:noFill/>
        </p:spPr>
        <p:txBody>
          <a:bodyPr wrap="square" lIns="0" rIns="0" tIns="0" bIns="0" anchor="ctr"/>
          <a:lstStyle/>
          <a:p>
            <a:pPr algn="l"/>
            <a:r>
              <a:rPr sz="1500" b="0">
                <a:solidFill>
                  <a:srgbClr val="D9E2EA"/>
                </a:solidFill>
                <a:latin typeface="Lato"/>
              </a:rPr>
              <a:t>Keep the </a:t>
            </a:r>
            <a:r>
              <a:rPr sz="1500" b="1">
                <a:solidFill>
                  <a:srgbClr val="22D3EE"/>
                </a:solidFill>
                <a:latin typeface="Lato"/>
              </a:rPr>
              <a:t>anchored session</a:t>
            </a:r>
            <a:r>
              <a:rPr sz="1500" b="0">
                <a:solidFill>
                  <a:srgbClr val="D9E2EA"/>
                </a:solidFill>
                <a:latin typeface="Lato"/>
              </a:rPr>
              <a:t> (from multipath).</a:t>
            </a:r>
          </a:p>
          <a:p>
            <a:pPr algn="l"/>
            <a:r>
              <a:rPr sz="1500" b="0">
                <a:solidFill>
                  <a:srgbClr val="D9E2EA"/>
                </a:solidFill>
                <a:latin typeface="Lato"/>
              </a:rPr>
              <a:t>Keep the </a:t>
            </a:r>
            <a:r>
              <a:rPr sz="1500" b="1">
                <a:solidFill>
                  <a:srgbClr val="22D3EE"/>
                </a:solidFill>
                <a:latin typeface="Lato"/>
              </a:rPr>
              <a:t>duplication</a:t>
            </a:r>
            <a:r>
              <a:rPr sz="1500" b="0">
                <a:solidFill>
                  <a:srgbClr val="D9E2EA"/>
                </a:solidFill>
                <a:latin typeface="Lato"/>
              </a:rPr>
              <a:t> (from PDCP), but use it only in a </a:t>
            </a:r>
            <a:r>
              <a:rPr sz="1500" b="1">
                <a:solidFill>
                  <a:srgbClr val="22D3EE"/>
                </a:solidFill>
                <a:latin typeface="Lato"/>
              </a:rPr>
              <a:t>400 ms</a:t>
            </a:r>
            <a:r>
              <a:rPr sz="1500" b="0">
                <a:solidFill>
                  <a:srgbClr val="D9E2EA"/>
                </a:solidFill>
                <a:latin typeface="Lato"/>
              </a:rPr>
              <a:t> burst around a predicted failure.</a:t>
            </a:r>
          </a:p>
          <a:p>
            <a:pPr algn="l"/>
            <a:r>
              <a:rPr sz="1500" b="0">
                <a:solidFill>
                  <a:srgbClr val="D9E2EA"/>
                </a:solidFill>
                <a:latin typeface="Lato"/>
              </a:rPr>
              <a:t>New in combination: </a:t>
            </a:r>
            <a:r>
              <a:rPr sz="1500" b="1">
                <a:solidFill>
                  <a:srgbClr val="22D3EE"/>
                </a:solidFill>
                <a:latin typeface="Lato"/>
              </a:rPr>
              <a:t>prediction</a:t>
            </a:r>
            <a:r>
              <a:rPr sz="1500" b="0">
                <a:solidFill>
                  <a:srgbClr val="D9E2EA"/>
                </a:solidFill>
                <a:latin typeface="Lato"/>
              </a:rPr>
              <a:t>, </a:t>
            </a:r>
            <a:r>
              <a:rPr sz="1500" b="1">
                <a:solidFill>
                  <a:srgbClr val="22D3EE"/>
                </a:solidFill>
                <a:latin typeface="Lato"/>
              </a:rPr>
              <a:t>route knowledge</a:t>
            </a:r>
            <a:r>
              <a:rPr sz="1500" b="0">
                <a:solidFill>
                  <a:srgbClr val="D9E2EA"/>
                </a:solidFill>
                <a:latin typeface="Lato"/>
              </a:rPr>
              <a:t> and </a:t>
            </a:r>
            <a:r>
              <a:rPr sz="1500" b="1">
                <a:solidFill>
                  <a:srgbClr val="22D3EE"/>
                </a:solidFill>
                <a:latin typeface="Lato"/>
              </a:rPr>
              <a:t>traffic classes</a:t>
            </a:r>
            <a:r>
              <a:rPr sz="1500" b="0">
                <a:solidFill>
                  <a:srgbClr val="D9E2EA"/>
                </a:solidFill>
                <a:latin typeface="Lato"/>
              </a:rPr>
              <a:t>.</a:t>
            </a:r>
          </a:p>
        </p:txBody>
      </p:sp>
      <p:sp>
        <p:nvSpPr>
          <p:cNvPr id="70" name="TextBox 69"/>
          <p:cNvSpPr txBox="1"/>
          <p:nvPr/>
        </p:nvSpPr>
        <p:spPr>
          <a:xfrm>
            <a:off x="548640" y="6291072"/>
            <a:ext cx="11091672" cy="384048"/>
          </a:xfrm>
          <a:prstGeom prst="rect">
            <a:avLst/>
          </a:prstGeom>
          <a:noFill/>
        </p:spPr>
        <p:txBody>
          <a:bodyPr wrap="square" lIns="0" rIns="0" tIns="0" bIns="0" anchor="t"/>
          <a:lstStyle/>
          <a:p>
            <a:pPr algn="l"/>
            <a:r>
              <a:rPr sz="1100" b="1">
                <a:solidFill>
                  <a:srgbClr val="D9E2EA"/>
                </a:solidFill>
                <a:latin typeface="Lato"/>
              </a:rPr>
              <a:t>References: </a:t>
            </a:r>
            <a:r>
              <a:rPr sz="1100" b="0">
                <a:solidFill>
                  <a:srgbClr val="9AACBC"/>
                </a:solidFill>
                <a:latin typeface="Lato"/>
              </a:rPr>
              <a:t>RFC 8684 MPTCP v1 (2020) · 3GPP TS 23.501 §5.32, ATSSS · 3GPP TS 38.323, PDCP duplication · 3GPP TS 22.125 §7.2, UAV C2 KPIs · Related: Elsight Halo, Peplink SpeedFusion, uAvionix muLTElink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05 / CRITERION 02</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The FlexiPath mechanism </a:t>
            </a:r>
            <a:r>
              <a:rPr sz="3000" b="1" cap="all" spc="50">
                <a:solidFill>
                  <a:srgbClr val="22D3EE"/>
                </a:solidFill>
                <a:latin typeface="Anantason Condensed"/>
              </a:rPr>
              <a:t>(criterion 02)</a:t>
            </a:r>
          </a:p>
        </p:txBody>
      </p:sp>
      <p:pic>
        <p:nvPicPr>
          <p:cNvPr id="14" name="light trail" descr="trail15.png"/>
          <p:cNvPicPr>
            <a:picLocks noChangeAspect="1"/>
          </p:cNvPicPr>
          <p:nvPr/>
        </p:nvPicPr>
        <p:blipFill>
          <a:blip r:embed="rId3"/>
          <a:stretch>
            <a:fillRect/>
          </a:stretch>
        </p:blipFill>
        <p:spPr>
          <a:xfrm>
            <a:off x="4023360" y="2377440"/>
            <a:ext cx="4114800" cy="1980549"/>
          </a:xfrm>
          <a:prstGeom prst="rect">
            <a:avLst/>
          </a:prstGeom>
        </p:spPr>
      </p:pic>
      <p:sp>
        <p:nvSpPr>
          <p:cNvPr id="15" name="Oval 14"/>
          <p:cNvSpPr/>
          <p:nvPr/>
        </p:nvSpPr>
        <p:spPr>
          <a:xfrm>
            <a:off x="4773168" y="2514600"/>
            <a:ext cx="2651760" cy="2651760"/>
          </a:xfrm>
          <a:prstGeom prst="ellipse">
            <a:avLst/>
          </a:prstGeom>
          <a:noFill/>
          <a:ln w="3175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663440" y="2404872"/>
            <a:ext cx="2871215" cy="2871215"/>
          </a:xfrm>
          <a:prstGeom prst="ellipse">
            <a:avLst/>
          </a:prstGeom>
          <a:no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5824728" y="2240280"/>
            <a:ext cx="548640" cy="548640"/>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824728" y="2240280"/>
            <a:ext cx="548640" cy="548640"/>
          </a:xfrm>
          <a:prstGeom prst="rect">
            <a:avLst/>
          </a:prstGeom>
          <a:noFill/>
        </p:spPr>
        <p:txBody>
          <a:bodyPr wrap="square" lIns="0" rIns="0" tIns="0" bIns="0" anchor="ctr"/>
          <a:lstStyle/>
          <a:p>
            <a:pPr algn="ctr"/>
            <a:r>
              <a:rPr sz="1600" b="1">
                <a:solidFill>
                  <a:srgbClr val="22D3EE"/>
                </a:solidFill>
                <a:latin typeface="Fira Code"/>
              </a:rPr>
              <a:t>01</a:t>
            </a:r>
          </a:p>
        </p:txBody>
      </p:sp>
      <p:sp>
        <p:nvSpPr>
          <p:cNvPr id="19" name="Oval 18"/>
          <p:cNvSpPr/>
          <p:nvPr/>
        </p:nvSpPr>
        <p:spPr>
          <a:xfrm>
            <a:off x="6972973" y="2903220"/>
            <a:ext cx="548640" cy="548640"/>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72973" y="2903220"/>
            <a:ext cx="548640" cy="548640"/>
          </a:xfrm>
          <a:prstGeom prst="rect">
            <a:avLst/>
          </a:prstGeom>
          <a:noFill/>
        </p:spPr>
        <p:txBody>
          <a:bodyPr wrap="square" lIns="0" rIns="0" tIns="0" bIns="0" anchor="ctr"/>
          <a:lstStyle/>
          <a:p>
            <a:pPr algn="ctr"/>
            <a:r>
              <a:rPr sz="1600" b="1">
                <a:solidFill>
                  <a:srgbClr val="22D3EE"/>
                </a:solidFill>
                <a:latin typeface="Fira Code"/>
              </a:rPr>
              <a:t>02</a:t>
            </a:r>
          </a:p>
        </p:txBody>
      </p:sp>
      <p:sp>
        <p:nvSpPr>
          <p:cNvPr id="21" name="Oval 20"/>
          <p:cNvSpPr/>
          <p:nvPr/>
        </p:nvSpPr>
        <p:spPr>
          <a:xfrm>
            <a:off x="6972973" y="4229100"/>
            <a:ext cx="548640" cy="548640"/>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72973" y="4229100"/>
            <a:ext cx="548640" cy="548640"/>
          </a:xfrm>
          <a:prstGeom prst="rect">
            <a:avLst/>
          </a:prstGeom>
          <a:noFill/>
        </p:spPr>
        <p:txBody>
          <a:bodyPr wrap="square" lIns="0" rIns="0" tIns="0" bIns="0" anchor="ctr"/>
          <a:lstStyle/>
          <a:p>
            <a:pPr algn="ctr"/>
            <a:r>
              <a:rPr sz="1600" b="1">
                <a:solidFill>
                  <a:srgbClr val="22D3EE"/>
                </a:solidFill>
                <a:latin typeface="Fira Code"/>
              </a:rPr>
              <a:t>03</a:t>
            </a:r>
          </a:p>
        </p:txBody>
      </p:sp>
      <p:sp>
        <p:nvSpPr>
          <p:cNvPr id="23" name="Oval 22"/>
          <p:cNvSpPr/>
          <p:nvPr/>
        </p:nvSpPr>
        <p:spPr>
          <a:xfrm>
            <a:off x="5824728" y="4892040"/>
            <a:ext cx="548640" cy="548640"/>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824728" y="4892040"/>
            <a:ext cx="548640" cy="548640"/>
          </a:xfrm>
          <a:prstGeom prst="rect">
            <a:avLst/>
          </a:prstGeom>
          <a:noFill/>
        </p:spPr>
        <p:txBody>
          <a:bodyPr wrap="square" lIns="0" rIns="0" tIns="0" bIns="0" anchor="ctr"/>
          <a:lstStyle/>
          <a:p>
            <a:pPr algn="ctr"/>
            <a:r>
              <a:rPr sz="1600" b="1">
                <a:solidFill>
                  <a:srgbClr val="22D3EE"/>
                </a:solidFill>
                <a:latin typeface="Fira Code"/>
              </a:rPr>
              <a:t>04</a:t>
            </a:r>
          </a:p>
        </p:txBody>
      </p:sp>
      <p:sp>
        <p:nvSpPr>
          <p:cNvPr id="25" name="Oval 24"/>
          <p:cNvSpPr/>
          <p:nvPr/>
        </p:nvSpPr>
        <p:spPr>
          <a:xfrm>
            <a:off x="4676482" y="4229100"/>
            <a:ext cx="548640" cy="548640"/>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676482" y="4229100"/>
            <a:ext cx="548640" cy="548640"/>
          </a:xfrm>
          <a:prstGeom prst="rect">
            <a:avLst/>
          </a:prstGeom>
          <a:noFill/>
        </p:spPr>
        <p:txBody>
          <a:bodyPr wrap="square" lIns="0" rIns="0" tIns="0" bIns="0" anchor="ctr"/>
          <a:lstStyle/>
          <a:p>
            <a:pPr algn="ctr"/>
            <a:r>
              <a:rPr sz="1600" b="1">
                <a:solidFill>
                  <a:srgbClr val="22D3EE"/>
                </a:solidFill>
                <a:latin typeface="Fira Code"/>
              </a:rPr>
              <a:t>05</a:t>
            </a:r>
          </a:p>
        </p:txBody>
      </p:sp>
      <p:sp>
        <p:nvSpPr>
          <p:cNvPr id="27" name="Oval 26"/>
          <p:cNvSpPr/>
          <p:nvPr/>
        </p:nvSpPr>
        <p:spPr>
          <a:xfrm>
            <a:off x="4676482" y="2903220"/>
            <a:ext cx="548640" cy="548640"/>
          </a:xfrm>
          <a:prstGeom prst="ellipse">
            <a:avLst/>
          </a:prstGeom>
          <a:solidFill>
            <a:srgbClr val="0B0F14"/>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676482" y="2903220"/>
            <a:ext cx="548640" cy="548640"/>
          </a:xfrm>
          <a:prstGeom prst="rect">
            <a:avLst/>
          </a:prstGeom>
          <a:noFill/>
        </p:spPr>
        <p:txBody>
          <a:bodyPr wrap="square" lIns="0" rIns="0" tIns="0" bIns="0" anchor="ctr"/>
          <a:lstStyle/>
          <a:p>
            <a:pPr algn="ctr"/>
            <a:r>
              <a:rPr sz="1600" b="1">
                <a:solidFill>
                  <a:srgbClr val="22D3EE"/>
                </a:solidFill>
                <a:latin typeface="Fira Code"/>
              </a:rPr>
              <a:t>06</a:t>
            </a:r>
          </a:p>
        </p:txBody>
      </p:sp>
      <p:sp>
        <p:nvSpPr>
          <p:cNvPr id="29" name="TextBox 28"/>
          <p:cNvSpPr txBox="1"/>
          <p:nvPr/>
        </p:nvSpPr>
        <p:spPr>
          <a:xfrm>
            <a:off x="5138928" y="3337560"/>
            <a:ext cx="1920240" cy="1005840"/>
          </a:xfrm>
          <a:prstGeom prst="rect">
            <a:avLst/>
          </a:prstGeom>
          <a:noFill/>
        </p:spPr>
        <p:txBody>
          <a:bodyPr wrap="square" lIns="0" rIns="0" tIns="0" bIns="0" anchor="ctr"/>
          <a:lstStyle/>
          <a:p>
            <a:pPr algn="ctr"/>
            <a:r>
              <a:rPr sz="2000" b="1" cap="all" spc="100">
                <a:solidFill>
                  <a:srgbClr val="F3F7FA"/>
                </a:solidFill>
                <a:latin typeface="Anantason Condensed"/>
              </a:rPr>
              <a:t>Continuous, zero-gap resilience</a:t>
            </a:r>
          </a:p>
        </p:txBody>
      </p:sp>
      <p:sp>
        <p:nvSpPr>
          <p:cNvPr id="30" name="Rectangle 29"/>
          <p:cNvSpPr/>
          <p:nvPr/>
        </p:nvSpPr>
        <p:spPr>
          <a:xfrm>
            <a:off x="7662672" y="1325880"/>
            <a:ext cx="3977639" cy="1581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808976" y="1417320"/>
            <a:ext cx="3657600" cy="292608"/>
          </a:xfrm>
          <a:prstGeom prst="rect">
            <a:avLst/>
          </a:prstGeom>
          <a:noFill/>
        </p:spPr>
        <p:txBody>
          <a:bodyPr wrap="square" lIns="0" rIns="0" tIns="0" bIns="0" anchor="t"/>
          <a:lstStyle/>
          <a:p>
            <a:pPr algn="l"/>
            <a:r>
              <a:rPr sz="1500" b="1">
                <a:solidFill>
                  <a:srgbClr val="22D3EE"/>
                </a:solidFill>
                <a:latin typeface="Fira Code"/>
              </a:rPr>
              <a:t>01  </a:t>
            </a:r>
            <a:r>
              <a:rPr sz="1700" b="1" cap="all" spc="100">
                <a:solidFill>
                  <a:srgbClr val="F3F7FA"/>
                </a:solidFill>
                <a:latin typeface="Anantason Condensed"/>
              </a:rPr>
              <a:t>DETECT</a:t>
            </a:r>
          </a:p>
        </p:txBody>
      </p:sp>
      <p:sp>
        <p:nvSpPr>
          <p:cNvPr id="32" name="TextBox 31"/>
          <p:cNvSpPr txBox="1"/>
          <p:nvPr/>
        </p:nvSpPr>
        <p:spPr>
          <a:xfrm>
            <a:off x="7808976" y="1737360"/>
            <a:ext cx="3703320" cy="1124712"/>
          </a:xfrm>
          <a:prstGeom prst="rect">
            <a:avLst/>
          </a:prstGeom>
          <a:noFill/>
        </p:spPr>
        <p:txBody>
          <a:bodyPr wrap="square" lIns="0" rIns="0" tIns="0" bIns="0" anchor="t"/>
          <a:lstStyle/>
          <a:p>
            <a:pPr algn="l">
              <a:spcAft>
                <a:spcPts val="200"/>
              </a:spcAft>
            </a:pPr>
            <a:r>
              <a:rPr sz="1400" b="0">
                <a:solidFill>
                  <a:srgbClr val="D9E2EA"/>
                </a:solidFill>
                <a:latin typeface="Lato"/>
              </a:rPr>
              <a:t>Measure the primary link ten times a second.</a:t>
            </a:r>
          </a:p>
          <a:p>
            <a:pPr algn="l">
              <a:spcAft>
                <a:spcPts val="200"/>
              </a:spcAft>
            </a:pPr>
            <a:r>
              <a:rPr sz="1400" b="0">
                <a:solidFill>
                  <a:srgbClr val="D9E2EA"/>
                </a:solidFill>
                <a:latin typeface="Lato"/>
              </a:rPr>
              <a:t>Spare modems sleep in DRX at 1.2 W and report signal once per cycle.</a:t>
            </a:r>
          </a:p>
        </p:txBody>
      </p:sp>
      <p:sp>
        <p:nvSpPr>
          <p:cNvPr id="33" name="Rectangle 32"/>
          <p:cNvSpPr/>
          <p:nvPr/>
        </p:nvSpPr>
        <p:spPr>
          <a:xfrm>
            <a:off x="7662672" y="3044952"/>
            <a:ext cx="3977639" cy="1746504"/>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808976" y="3136392"/>
            <a:ext cx="3657600" cy="292608"/>
          </a:xfrm>
          <a:prstGeom prst="rect">
            <a:avLst/>
          </a:prstGeom>
          <a:noFill/>
        </p:spPr>
        <p:txBody>
          <a:bodyPr wrap="square" lIns="0" rIns="0" tIns="0" bIns="0" anchor="t"/>
          <a:lstStyle/>
          <a:p>
            <a:pPr algn="l"/>
            <a:r>
              <a:rPr sz="1500" b="1">
                <a:solidFill>
                  <a:srgbClr val="22D3EE"/>
                </a:solidFill>
                <a:latin typeface="Fira Code"/>
              </a:rPr>
              <a:t>02  </a:t>
            </a:r>
            <a:r>
              <a:rPr sz="1700" b="1" cap="all" spc="100">
                <a:solidFill>
                  <a:srgbClr val="F3F7FA"/>
                </a:solidFill>
                <a:latin typeface="Anantason Condensed"/>
              </a:rPr>
              <a:t>PREDICT</a:t>
            </a:r>
          </a:p>
        </p:txBody>
      </p:sp>
      <p:sp>
        <p:nvSpPr>
          <p:cNvPr id="35" name="TextBox 34"/>
          <p:cNvSpPr txBox="1"/>
          <p:nvPr/>
        </p:nvSpPr>
        <p:spPr>
          <a:xfrm>
            <a:off x="7808976" y="3456432"/>
            <a:ext cx="3703320" cy="1289304"/>
          </a:xfrm>
          <a:prstGeom prst="rect">
            <a:avLst/>
          </a:prstGeom>
          <a:noFill/>
        </p:spPr>
        <p:txBody>
          <a:bodyPr wrap="square" lIns="0" rIns="0" tIns="0" bIns="0" anchor="t"/>
          <a:lstStyle/>
          <a:p>
            <a:pPr algn="l">
              <a:spcAft>
                <a:spcPts val="200"/>
              </a:spcAft>
            </a:pPr>
            <a:r>
              <a:rPr sz="1400" b="0">
                <a:solidFill>
                  <a:srgbClr val="D9E2EA"/>
                </a:solidFill>
                <a:latin typeface="Lato"/>
              </a:rPr>
              <a:t>Extend the signal trend to find where packet loss reaches 15 %.</a:t>
            </a:r>
          </a:p>
          <a:p>
            <a:pPr algn="l">
              <a:spcAft>
                <a:spcPts val="200"/>
              </a:spcAft>
            </a:pPr>
            <a:r>
              <a:rPr sz="1400" b="0">
                <a:solidFill>
                  <a:srgbClr val="D9E2EA"/>
                </a:solidFill>
                <a:latin typeface="Lato"/>
              </a:rPr>
              <a:t>Watch from 8 s to failure; act under 3 s.</a:t>
            </a:r>
          </a:p>
          <a:p>
            <a:pPr algn="l">
              <a:spcAft>
                <a:spcPts val="200"/>
              </a:spcAft>
            </a:pPr>
            <a:r>
              <a:rPr sz="1400" b="0">
                <a:solidFill>
                  <a:srgbClr val="D9E2EA"/>
                </a:solidFill>
                <a:latin typeface="Lato"/>
              </a:rPr>
              <a:t>The coverage map warns 8 s before a known shadow.</a:t>
            </a:r>
          </a:p>
        </p:txBody>
      </p:sp>
      <p:sp>
        <p:nvSpPr>
          <p:cNvPr id="36" name="Rectangle 35"/>
          <p:cNvSpPr/>
          <p:nvPr/>
        </p:nvSpPr>
        <p:spPr>
          <a:xfrm>
            <a:off x="7662672" y="4928616"/>
            <a:ext cx="3977639" cy="1572768"/>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808976" y="5020055"/>
            <a:ext cx="3657600" cy="292608"/>
          </a:xfrm>
          <a:prstGeom prst="rect">
            <a:avLst/>
          </a:prstGeom>
          <a:noFill/>
        </p:spPr>
        <p:txBody>
          <a:bodyPr wrap="square" lIns="0" rIns="0" tIns="0" bIns="0" anchor="t"/>
          <a:lstStyle/>
          <a:p>
            <a:pPr algn="l"/>
            <a:r>
              <a:rPr sz="1500" b="1">
                <a:solidFill>
                  <a:srgbClr val="22D3EE"/>
                </a:solidFill>
                <a:latin typeface="Fira Code"/>
              </a:rPr>
              <a:t>03  </a:t>
            </a:r>
            <a:r>
              <a:rPr sz="1700" b="1" cap="all" spc="100">
                <a:solidFill>
                  <a:srgbClr val="F3F7FA"/>
                </a:solidFill>
                <a:latin typeface="Anantason Condensed"/>
              </a:rPr>
              <a:t>PREPARE</a:t>
            </a:r>
          </a:p>
        </p:txBody>
      </p:sp>
      <p:sp>
        <p:nvSpPr>
          <p:cNvPr id="38" name="TextBox 37"/>
          <p:cNvSpPr txBox="1"/>
          <p:nvPr/>
        </p:nvSpPr>
        <p:spPr>
          <a:xfrm>
            <a:off x="7808976" y="5340096"/>
            <a:ext cx="3703320" cy="1115568"/>
          </a:xfrm>
          <a:prstGeom prst="rect">
            <a:avLst/>
          </a:prstGeom>
          <a:noFill/>
        </p:spPr>
        <p:txBody>
          <a:bodyPr wrap="square" lIns="0" rIns="0" tIns="0" bIns="0" anchor="t"/>
          <a:lstStyle/>
          <a:p>
            <a:pPr algn="l">
              <a:spcAft>
                <a:spcPts val="200"/>
              </a:spcAft>
            </a:pPr>
            <a:r>
              <a:rPr sz="1400" b="0">
                <a:solidFill>
                  <a:srgbClr val="D9E2EA"/>
                </a:solidFill>
                <a:latin typeface="Lato"/>
              </a:rPr>
              <a:t>Wake the best spare modem (1.8 W) and test it with small 64-byte heartbeats.</a:t>
            </a:r>
          </a:p>
          <a:p>
            <a:pPr algn="l">
              <a:spcAft>
                <a:spcPts val="200"/>
              </a:spcAft>
            </a:pPr>
            <a:r>
              <a:rPr sz="1400" b="0">
                <a:solidFill>
                  <a:srgbClr val="D9E2EA"/>
                </a:solidFill>
                <a:latin typeface="Lato"/>
              </a:rPr>
              <a:t>Check its delay and loss before it carries anything.</a:t>
            </a:r>
          </a:p>
        </p:txBody>
      </p:sp>
      <p:sp>
        <p:nvSpPr>
          <p:cNvPr id="39" name="Rectangle 38"/>
          <p:cNvSpPr/>
          <p:nvPr/>
        </p:nvSpPr>
        <p:spPr>
          <a:xfrm>
            <a:off x="548640" y="1325880"/>
            <a:ext cx="3977639" cy="13716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4944" y="1417320"/>
            <a:ext cx="3657600" cy="292608"/>
          </a:xfrm>
          <a:prstGeom prst="rect">
            <a:avLst/>
          </a:prstGeom>
          <a:noFill/>
        </p:spPr>
        <p:txBody>
          <a:bodyPr wrap="square" lIns="0" rIns="0" tIns="0" bIns="0" anchor="t"/>
          <a:lstStyle/>
          <a:p>
            <a:pPr algn="l"/>
            <a:r>
              <a:rPr sz="1500" b="1">
                <a:solidFill>
                  <a:srgbClr val="22D3EE"/>
                </a:solidFill>
                <a:latin typeface="Fira Code"/>
              </a:rPr>
              <a:t>06  </a:t>
            </a:r>
            <a:r>
              <a:rPr sz="1700" b="1" cap="all" spc="100">
                <a:solidFill>
                  <a:srgbClr val="F3F7FA"/>
                </a:solidFill>
                <a:latin typeface="Anantason Condensed"/>
              </a:rPr>
              <a:t>SWITCH and CONTINUE</a:t>
            </a:r>
          </a:p>
        </p:txBody>
      </p:sp>
      <p:sp>
        <p:nvSpPr>
          <p:cNvPr id="41" name="TextBox 40"/>
          <p:cNvSpPr txBox="1"/>
          <p:nvPr/>
        </p:nvSpPr>
        <p:spPr>
          <a:xfrm>
            <a:off x="694944" y="1737360"/>
            <a:ext cx="3703320" cy="914400"/>
          </a:xfrm>
          <a:prstGeom prst="rect">
            <a:avLst/>
          </a:prstGeom>
          <a:noFill/>
        </p:spPr>
        <p:txBody>
          <a:bodyPr wrap="square" lIns="0" rIns="0" tIns="0" bIns="0" anchor="t"/>
          <a:lstStyle/>
          <a:p>
            <a:pPr algn="l">
              <a:spcAft>
                <a:spcPts val="200"/>
              </a:spcAft>
            </a:pPr>
            <a:r>
              <a:rPr sz="1400" b="0">
                <a:solidFill>
                  <a:srgbClr val="D9E2EA"/>
                </a:solidFill>
                <a:latin typeface="Lato"/>
              </a:rPr>
              <a:t>Make the tested network the main one with a 0 ms gap. Put the old radio back to sleep.</a:t>
            </a:r>
          </a:p>
          <a:p>
            <a:pPr algn="l">
              <a:spcAft>
                <a:spcPts val="200"/>
              </a:spcAft>
            </a:pPr>
            <a:r>
              <a:rPr sz="1400" b="0">
                <a:solidFill>
                  <a:srgbClr val="D9E2EA"/>
                </a:solidFill>
                <a:latin typeface="Lato"/>
              </a:rPr>
              <a:t>Connections stay open in a tunnel to the anchor relay.</a:t>
            </a:r>
          </a:p>
        </p:txBody>
      </p:sp>
      <p:sp>
        <p:nvSpPr>
          <p:cNvPr id="42" name="Rectangle 41"/>
          <p:cNvSpPr/>
          <p:nvPr/>
        </p:nvSpPr>
        <p:spPr>
          <a:xfrm>
            <a:off x="548640" y="2807208"/>
            <a:ext cx="3977639" cy="13716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4944" y="2898648"/>
            <a:ext cx="3657600" cy="292608"/>
          </a:xfrm>
          <a:prstGeom prst="rect">
            <a:avLst/>
          </a:prstGeom>
          <a:noFill/>
        </p:spPr>
        <p:txBody>
          <a:bodyPr wrap="square" lIns="0" rIns="0" tIns="0" bIns="0" anchor="t"/>
          <a:lstStyle/>
          <a:p>
            <a:pPr algn="l"/>
            <a:r>
              <a:rPr sz="1500" b="1">
                <a:solidFill>
                  <a:srgbClr val="22D3EE"/>
                </a:solidFill>
                <a:latin typeface="Fira Code"/>
              </a:rPr>
              <a:t>05  </a:t>
            </a:r>
            <a:r>
              <a:rPr sz="1700" b="1" cap="all" spc="100">
                <a:solidFill>
                  <a:srgbClr val="F3F7FA"/>
                </a:solidFill>
                <a:latin typeface="Anantason Condensed"/>
              </a:rPr>
              <a:t>HONEST BEHAVIOUR</a:t>
            </a:r>
          </a:p>
        </p:txBody>
      </p:sp>
      <p:sp>
        <p:nvSpPr>
          <p:cNvPr id="44" name="TextBox 43"/>
          <p:cNvSpPr txBox="1"/>
          <p:nvPr/>
        </p:nvSpPr>
        <p:spPr>
          <a:xfrm>
            <a:off x="694944" y="3218688"/>
            <a:ext cx="3703320" cy="914400"/>
          </a:xfrm>
          <a:prstGeom prst="rect">
            <a:avLst/>
          </a:prstGeom>
          <a:noFill/>
        </p:spPr>
        <p:txBody>
          <a:bodyPr wrap="square" lIns="0" rIns="0" tIns="0" bIns="0" anchor="t"/>
          <a:lstStyle/>
          <a:p>
            <a:pPr algn="l">
              <a:spcAft>
                <a:spcPts val="200"/>
              </a:spcAft>
            </a:pPr>
            <a:r>
              <a:rPr sz="1400" b="0">
                <a:solidFill>
                  <a:srgbClr val="D9E2EA"/>
                </a:solidFill>
                <a:latin typeface="Lato"/>
              </a:rPr>
              <a:t>A reversed trend cancels the prediction at no cost.</a:t>
            </a:r>
          </a:p>
          <a:p>
            <a:pPr algn="l">
              <a:spcAft>
                <a:spcPts val="200"/>
              </a:spcAft>
            </a:pPr>
            <a:r>
              <a:rPr sz="1400" b="0">
                <a:solidFill>
                  <a:srgbClr val="D9E2EA"/>
                </a:solidFill>
                <a:latin typeface="Lato"/>
              </a:rPr>
              <a:t>If an outage comes with no warning, use a fast failover (160 ms in our model).</a:t>
            </a:r>
          </a:p>
        </p:txBody>
      </p:sp>
      <p:sp>
        <p:nvSpPr>
          <p:cNvPr id="45" name="Rectangle 44"/>
          <p:cNvSpPr/>
          <p:nvPr/>
        </p:nvSpPr>
        <p:spPr>
          <a:xfrm>
            <a:off x="548640" y="4288536"/>
            <a:ext cx="3977639" cy="2203704"/>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94944" y="4379976"/>
            <a:ext cx="3657600" cy="292608"/>
          </a:xfrm>
          <a:prstGeom prst="rect">
            <a:avLst/>
          </a:prstGeom>
          <a:noFill/>
        </p:spPr>
        <p:txBody>
          <a:bodyPr wrap="square" lIns="0" rIns="0" tIns="0" bIns="0" anchor="t"/>
          <a:lstStyle/>
          <a:p>
            <a:pPr algn="l"/>
            <a:r>
              <a:rPr sz="1500" b="1">
                <a:solidFill>
                  <a:srgbClr val="22D3EE"/>
                </a:solidFill>
                <a:latin typeface="Fira Code"/>
              </a:rPr>
              <a:t>04  </a:t>
            </a:r>
            <a:r>
              <a:rPr sz="1700" b="1" cap="all" spc="100">
                <a:solidFill>
                  <a:srgbClr val="F3F7FA"/>
                </a:solidFill>
                <a:latin typeface="Anantason Condensed"/>
              </a:rPr>
              <a:t>REPLICATE</a:t>
            </a:r>
          </a:p>
        </p:txBody>
      </p:sp>
      <p:sp>
        <p:nvSpPr>
          <p:cNvPr id="47" name="TextBox 46"/>
          <p:cNvSpPr txBox="1"/>
          <p:nvPr/>
        </p:nvSpPr>
        <p:spPr>
          <a:xfrm>
            <a:off x="694944" y="4700016"/>
            <a:ext cx="3703320" cy="1746504"/>
          </a:xfrm>
          <a:prstGeom prst="rect">
            <a:avLst/>
          </a:prstGeom>
          <a:noFill/>
        </p:spPr>
        <p:txBody>
          <a:bodyPr wrap="square" lIns="0" rIns="0" tIns="0" bIns="0" anchor="t"/>
          <a:lstStyle/>
          <a:p>
            <a:pPr algn="l">
              <a:spcAft>
                <a:spcPts val="200"/>
              </a:spcAft>
            </a:pPr>
            <a:r>
              <a:rPr sz="1400" b="0">
                <a:solidFill>
                  <a:srgbClr val="D9E2EA"/>
                </a:solidFill>
                <a:latin typeface="Lato"/>
              </a:rPr>
              <a:t>For a 400 ms burst (3.4 W), send critical traffic on both paths. Add real-time traffic if its loss is over budget.</a:t>
            </a:r>
          </a:p>
          <a:p>
            <a:pPr algn="l">
              <a:spcAft>
                <a:spcPts val="200"/>
              </a:spcAft>
            </a:pPr>
            <a:r>
              <a:rPr sz="1400" b="0">
                <a:solidFill>
                  <a:srgbClr val="D9E2EA"/>
                </a:solidFill>
                <a:latin typeface="Lato"/>
              </a:rPr>
              <a:t>The receiver keeps the first copy of each sequence number and discards the late duplicate, so head-of-line delay is 0 ms.</a:t>
            </a:r>
          </a:p>
          <a:p>
            <a:pPr algn="l">
              <a:spcAft>
                <a:spcPts val="200"/>
              </a:spcAft>
            </a:pPr>
            <a:r>
              <a:rPr sz="1400" b="0">
                <a:solidFill>
                  <a:srgbClr val="D9E2EA"/>
                </a:solidFill>
                <a:latin typeface="Lato"/>
              </a:rPr>
              <a:t>Never copy bulk traffic; only pace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06 / ARCHITECTURE</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System design</a:t>
            </a:r>
          </a:p>
        </p:txBody>
      </p:sp>
      <p:sp>
        <p:nvSpPr>
          <p:cNvPr id="14" name="TextBox 13"/>
          <p:cNvSpPr txBox="1"/>
          <p:nvPr/>
        </p:nvSpPr>
        <p:spPr>
          <a:xfrm>
            <a:off x="548640" y="1069848"/>
            <a:ext cx="10972800" cy="365760"/>
          </a:xfrm>
          <a:prstGeom prst="rect">
            <a:avLst/>
          </a:prstGeom>
          <a:noFill/>
        </p:spPr>
        <p:txBody>
          <a:bodyPr wrap="square" lIns="0" rIns="0" tIns="0" bIns="0" anchor="t"/>
          <a:lstStyle/>
          <a:p>
            <a:pPr algn="l"/>
            <a:r>
              <a:rPr sz="2000" b="1">
                <a:solidFill>
                  <a:srgbClr val="22D3EE"/>
                </a:solidFill>
                <a:latin typeface="Lato"/>
              </a:rPr>
              <a:t>One engine. Multiple radios. Continuous sessions.</a:t>
            </a:r>
          </a:p>
        </p:txBody>
      </p:sp>
      <p:sp>
        <p:nvSpPr>
          <p:cNvPr id="15" name="Rectangle 14"/>
          <p:cNvSpPr/>
          <p:nvPr/>
        </p:nvSpPr>
        <p:spPr>
          <a:xfrm>
            <a:off x="457200" y="1554480"/>
            <a:ext cx="7991856" cy="3017520"/>
          </a:xfrm>
          <a:prstGeom prst="rect">
            <a:avLst/>
          </a:prstGeom>
          <a:noFill/>
          <a:ln w="12700">
            <a:solidFill>
              <a:srgbClr val="3448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52160" y="1353312"/>
            <a:ext cx="2596896" cy="201168"/>
          </a:xfrm>
          <a:prstGeom prst="rect">
            <a:avLst/>
          </a:prstGeom>
          <a:noFill/>
        </p:spPr>
        <p:txBody>
          <a:bodyPr wrap="square" lIns="0" rIns="0" tIns="0" bIns="0" anchor="t"/>
          <a:lstStyle/>
          <a:p>
            <a:pPr algn="r"/>
            <a:r>
              <a:rPr sz="1100" b="0" spc="150">
                <a:solidFill>
                  <a:srgbClr val="9AACBC"/>
                </a:solidFill>
                <a:latin typeface="Fira Code"/>
              </a:rPr>
              <a:t>ON VEHICLE</a:t>
            </a:r>
          </a:p>
        </p:txBody>
      </p:sp>
      <p:sp>
        <p:nvSpPr>
          <p:cNvPr id="17" name="Rectangle 16"/>
          <p:cNvSpPr/>
          <p:nvPr/>
        </p:nvSpPr>
        <p:spPr>
          <a:xfrm>
            <a:off x="548640" y="1645919"/>
            <a:ext cx="1554480" cy="2834640"/>
          </a:xfrm>
          <a:prstGeom prst="rect">
            <a:avLst/>
          </a:prstGeom>
          <a:solidFill>
            <a:srgbClr val="0F161E">
              <a:alpha val="60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1737360"/>
            <a:ext cx="1554480" cy="292608"/>
          </a:xfrm>
          <a:prstGeom prst="rect">
            <a:avLst/>
          </a:prstGeom>
          <a:noFill/>
        </p:spPr>
        <p:txBody>
          <a:bodyPr wrap="square" lIns="0" rIns="0" tIns="0" bIns="0" anchor="t"/>
          <a:lstStyle/>
          <a:p>
            <a:pPr algn="ctr"/>
            <a:r>
              <a:rPr sz="1500" b="1" cap="all" spc="80">
                <a:solidFill>
                  <a:srgbClr val="22D3EE"/>
                </a:solidFill>
                <a:latin typeface="Anantason Condensed"/>
              </a:rPr>
              <a:t>APPLICATIONS</a:t>
            </a:r>
          </a:p>
        </p:txBody>
      </p:sp>
      <p:sp>
        <p:nvSpPr>
          <p:cNvPr id="19" name="Rectangle 18"/>
          <p:cNvSpPr/>
          <p:nvPr/>
        </p:nvSpPr>
        <p:spPr>
          <a:xfrm>
            <a:off x="640080" y="2148840"/>
            <a:ext cx="1371600" cy="68580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3231" y="2148840"/>
            <a:ext cx="1225296" cy="685800"/>
          </a:xfrm>
          <a:prstGeom prst="rect">
            <a:avLst/>
          </a:prstGeom>
          <a:noFill/>
        </p:spPr>
        <p:txBody>
          <a:bodyPr wrap="square" lIns="0" rIns="0" tIns="0" bIns="0" anchor="ctr"/>
          <a:lstStyle/>
          <a:p>
            <a:pPr algn="ctr"/>
            <a:r>
              <a:rPr sz="1400" b="0">
                <a:solidFill>
                  <a:srgbClr val="F3F7FA"/>
                </a:solidFill>
                <a:latin typeface="Lato"/>
              </a:rPr>
              <a:t>C2 link</a:t>
            </a:r>
          </a:p>
          <a:p>
            <a:pPr algn="ctr"/>
            <a:r>
              <a:rPr sz="1400" b="0">
                <a:solidFill>
                  <a:srgbClr val="D9E2EA"/>
                </a:solidFill>
                <a:latin typeface="Lato"/>
              </a:rPr>
              <a:t>(critical)</a:t>
            </a:r>
          </a:p>
        </p:txBody>
      </p:sp>
      <p:sp>
        <p:nvSpPr>
          <p:cNvPr id="21" name="Rectangle 20"/>
          <p:cNvSpPr/>
          <p:nvPr/>
        </p:nvSpPr>
        <p:spPr>
          <a:xfrm>
            <a:off x="640080" y="2926080"/>
            <a:ext cx="1371600" cy="68580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13231" y="2926080"/>
            <a:ext cx="1225296" cy="685800"/>
          </a:xfrm>
          <a:prstGeom prst="rect">
            <a:avLst/>
          </a:prstGeom>
          <a:noFill/>
        </p:spPr>
        <p:txBody>
          <a:bodyPr wrap="square" lIns="0" rIns="0" tIns="0" bIns="0" anchor="ctr"/>
          <a:lstStyle/>
          <a:p>
            <a:pPr algn="ctr"/>
            <a:r>
              <a:rPr sz="1400" b="0">
                <a:solidFill>
                  <a:srgbClr val="F3F7FA"/>
                </a:solidFill>
                <a:latin typeface="Lato"/>
              </a:rPr>
              <a:t>push-to-talk voice</a:t>
            </a:r>
          </a:p>
          <a:p>
            <a:pPr algn="ctr"/>
            <a:r>
              <a:rPr sz="1400" b="0">
                <a:solidFill>
                  <a:srgbClr val="D9E2EA"/>
                </a:solidFill>
                <a:latin typeface="Lato"/>
              </a:rPr>
              <a:t>(real-time)</a:t>
            </a:r>
          </a:p>
        </p:txBody>
      </p:sp>
      <p:sp>
        <p:nvSpPr>
          <p:cNvPr id="23" name="Rectangle 22"/>
          <p:cNvSpPr/>
          <p:nvPr/>
        </p:nvSpPr>
        <p:spPr>
          <a:xfrm>
            <a:off x="640080" y="3703320"/>
            <a:ext cx="1371600" cy="68580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1" y="3703320"/>
            <a:ext cx="1225296" cy="685800"/>
          </a:xfrm>
          <a:prstGeom prst="rect">
            <a:avLst/>
          </a:prstGeom>
          <a:noFill/>
        </p:spPr>
        <p:txBody>
          <a:bodyPr wrap="square" lIns="0" rIns="0" tIns="0" bIns="0" anchor="ctr"/>
          <a:lstStyle/>
          <a:p>
            <a:pPr algn="ctr"/>
            <a:r>
              <a:rPr sz="1400" b="0">
                <a:solidFill>
                  <a:srgbClr val="F3F7FA"/>
                </a:solidFill>
                <a:latin typeface="Lato"/>
              </a:rPr>
              <a:t>camera and survey</a:t>
            </a:r>
          </a:p>
          <a:p>
            <a:pPr algn="ctr"/>
            <a:r>
              <a:rPr sz="1400" b="1">
                <a:solidFill>
                  <a:srgbClr val="F3F7FA"/>
                </a:solidFill>
                <a:latin typeface="Lato"/>
              </a:rPr>
              <a:t>uploads (bulk)</a:t>
            </a:r>
          </a:p>
        </p:txBody>
      </p:sp>
      <p:cxnSp>
        <p:nvCxnSpPr>
          <p:cNvPr id="25" name="Connector 24"/>
          <p:cNvCxnSpPr/>
          <p:nvPr/>
        </p:nvCxnSpPr>
        <p:spPr>
          <a:xfrm>
            <a:off x="2121408" y="2487168"/>
            <a:ext cx="256032" cy="0"/>
          </a:xfrm>
          <a:prstGeom prst="line">
            <a:avLst/>
          </a:prstGeom>
          <a:ln w="15875">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121408" y="3264408"/>
            <a:ext cx="256032" cy="0"/>
          </a:xfrm>
          <a:prstGeom prst="line">
            <a:avLst/>
          </a:prstGeom>
          <a:ln w="15875">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121408" y="4041648"/>
            <a:ext cx="256032" cy="0"/>
          </a:xfrm>
          <a:prstGeom prst="line">
            <a:avLst/>
          </a:prstGeom>
          <a:ln w="15875">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2395728" y="1645919"/>
            <a:ext cx="3657600" cy="2834640"/>
          </a:xfrm>
          <a:prstGeom prst="rect">
            <a:avLst/>
          </a:prstGeom>
          <a:solidFill>
            <a:srgbClr val="0B2A31">
              <a:alpha val="45000"/>
            </a:srgbClr>
          </a:solid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9" name="Connector 28"/>
          <p:cNvCxnSpPr/>
          <p:nvPr/>
        </p:nvCxnSpPr>
        <p:spPr>
          <a:xfrm>
            <a:off x="2395728" y="1645919"/>
            <a:ext cx="164592"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395728" y="1645919"/>
            <a:ext cx="0" cy="164592"/>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888736" y="1645919"/>
            <a:ext cx="164592"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053328" y="1645919"/>
            <a:ext cx="0" cy="164592"/>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395728" y="4480560"/>
            <a:ext cx="164592"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395728" y="4315968"/>
            <a:ext cx="0" cy="164592"/>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5888736" y="4480560"/>
            <a:ext cx="164592"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053328" y="4315968"/>
            <a:ext cx="0" cy="164592"/>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395728" y="1737360"/>
            <a:ext cx="3657600" cy="292608"/>
          </a:xfrm>
          <a:prstGeom prst="rect">
            <a:avLst/>
          </a:prstGeom>
          <a:noFill/>
        </p:spPr>
        <p:txBody>
          <a:bodyPr wrap="square" lIns="0" rIns="0" tIns="0" bIns="0" anchor="t"/>
          <a:lstStyle/>
          <a:p>
            <a:pPr algn="ctr"/>
            <a:r>
              <a:rPr sz="1500" b="1" cap="all" spc="80">
                <a:solidFill>
                  <a:srgbClr val="22D3EE"/>
                </a:solidFill>
                <a:latin typeface="Anantason Condensed"/>
              </a:rPr>
              <a:t>FLEXIPATH ENGINE ON VEHICLE</a:t>
            </a:r>
          </a:p>
        </p:txBody>
      </p:sp>
      <p:sp>
        <p:nvSpPr>
          <p:cNvPr id="38" name="Rectangle 37"/>
          <p:cNvSpPr/>
          <p:nvPr/>
        </p:nvSpPr>
        <p:spPr>
          <a:xfrm>
            <a:off x="2505456" y="2148840"/>
            <a:ext cx="1051560" cy="109728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578608" y="2148840"/>
            <a:ext cx="905255" cy="1097280"/>
          </a:xfrm>
          <a:prstGeom prst="rect">
            <a:avLst/>
          </a:prstGeom>
          <a:noFill/>
        </p:spPr>
        <p:txBody>
          <a:bodyPr wrap="square" lIns="0" rIns="0" tIns="0" bIns="0" anchor="ctr"/>
          <a:lstStyle/>
          <a:p>
            <a:pPr algn="ctr"/>
            <a:r>
              <a:rPr sz="1400" b="0">
                <a:solidFill>
                  <a:srgbClr val="D9E2EA"/>
                </a:solidFill>
                <a:latin typeface="Lato"/>
              </a:rPr>
              <a:t>link monitor</a:t>
            </a:r>
          </a:p>
          <a:p>
            <a:pPr algn="ctr"/>
            <a:r>
              <a:rPr sz="1400" b="0">
                <a:solidFill>
                  <a:srgbClr val="D9E2EA"/>
                </a:solidFill>
                <a:latin typeface="Lato"/>
              </a:rPr>
              <a:t>and predictor</a:t>
            </a:r>
          </a:p>
        </p:txBody>
      </p:sp>
      <p:sp>
        <p:nvSpPr>
          <p:cNvPr id="40" name="Rectangle 39"/>
          <p:cNvSpPr/>
          <p:nvPr/>
        </p:nvSpPr>
        <p:spPr>
          <a:xfrm>
            <a:off x="3630168" y="2148840"/>
            <a:ext cx="777240" cy="109728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3703320" y="2148840"/>
            <a:ext cx="630936" cy="1097280"/>
          </a:xfrm>
          <a:prstGeom prst="rect">
            <a:avLst/>
          </a:prstGeom>
          <a:noFill/>
        </p:spPr>
        <p:txBody>
          <a:bodyPr wrap="square" lIns="0" rIns="0" tIns="0" bIns="0" anchor="ctr"/>
          <a:lstStyle/>
          <a:p>
            <a:pPr algn="ctr"/>
            <a:r>
              <a:rPr sz="1400" b="0">
                <a:solidFill>
                  <a:srgbClr val="D9E2EA"/>
                </a:solidFill>
                <a:latin typeface="Lato"/>
              </a:rPr>
              <a:t>path scorer</a:t>
            </a:r>
          </a:p>
        </p:txBody>
      </p:sp>
      <p:sp>
        <p:nvSpPr>
          <p:cNvPr id="42" name="Rectangle 41"/>
          <p:cNvSpPr/>
          <p:nvPr/>
        </p:nvSpPr>
        <p:spPr>
          <a:xfrm>
            <a:off x="4480560" y="2148840"/>
            <a:ext cx="1463040" cy="109728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4553712" y="2148840"/>
            <a:ext cx="1316736" cy="1097280"/>
          </a:xfrm>
          <a:prstGeom prst="rect">
            <a:avLst/>
          </a:prstGeom>
          <a:noFill/>
        </p:spPr>
        <p:txBody>
          <a:bodyPr wrap="square" lIns="0" rIns="0" tIns="0" bIns="0" anchor="ctr"/>
          <a:lstStyle/>
          <a:p>
            <a:pPr algn="ctr"/>
            <a:r>
              <a:rPr sz="1400" b="1">
                <a:solidFill>
                  <a:srgbClr val="F3F7FA"/>
                </a:solidFill>
                <a:latin typeface="Lato"/>
              </a:rPr>
              <a:t>traffic manager</a:t>
            </a:r>
          </a:p>
          <a:p>
            <a:pPr algn="ctr"/>
            <a:r>
              <a:rPr sz="1400" b="0">
                <a:solidFill>
                  <a:srgbClr val="D9E2EA"/>
                </a:solidFill>
                <a:latin typeface="Lato"/>
              </a:rPr>
              <a:t>replication, pacing, reordering buffer</a:t>
            </a:r>
          </a:p>
        </p:txBody>
      </p:sp>
      <p:sp>
        <p:nvSpPr>
          <p:cNvPr id="44" name="Rectangle 43"/>
          <p:cNvSpPr/>
          <p:nvPr/>
        </p:nvSpPr>
        <p:spPr>
          <a:xfrm>
            <a:off x="2505456" y="3337560"/>
            <a:ext cx="1901952" cy="105156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2578608" y="3337560"/>
            <a:ext cx="1755648" cy="1051560"/>
          </a:xfrm>
          <a:prstGeom prst="rect">
            <a:avLst/>
          </a:prstGeom>
          <a:noFill/>
        </p:spPr>
        <p:txBody>
          <a:bodyPr wrap="square" lIns="0" rIns="0" tIns="0" bIns="0" anchor="ctr"/>
          <a:lstStyle/>
          <a:p>
            <a:pPr algn="ctr"/>
            <a:r>
              <a:rPr sz="1400" b="1">
                <a:solidFill>
                  <a:srgbClr val="F3F7FA"/>
                </a:solidFill>
                <a:latin typeface="Lato"/>
              </a:rPr>
              <a:t>radio power manager</a:t>
            </a:r>
          </a:p>
          <a:p>
            <a:pPr algn="ctr"/>
            <a:r>
              <a:rPr sz="1400" b="0">
                <a:solidFill>
                  <a:srgbClr val="D9E2EA"/>
                </a:solidFill>
                <a:latin typeface="Lato"/>
              </a:rPr>
              <a:t>DRX / warm probe / burst</a:t>
            </a:r>
          </a:p>
        </p:txBody>
      </p:sp>
      <p:sp>
        <p:nvSpPr>
          <p:cNvPr id="46" name="Rectangle 45"/>
          <p:cNvSpPr/>
          <p:nvPr/>
        </p:nvSpPr>
        <p:spPr>
          <a:xfrm>
            <a:off x="4480560" y="3337560"/>
            <a:ext cx="1463040" cy="1051560"/>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553712" y="3337560"/>
            <a:ext cx="1316736" cy="1051560"/>
          </a:xfrm>
          <a:prstGeom prst="rect">
            <a:avLst/>
          </a:prstGeom>
          <a:noFill/>
        </p:spPr>
        <p:txBody>
          <a:bodyPr wrap="square" lIns="0" rIns="0" tIns="0" bIns="0" anchor="ctr"/>
          <a:lstStyle/>
          <a:p>
            <a:pPr algn="ctr"/>
            <a:r>
              <a:rPr sz="1400" b="0">
                <a:solidFill>
                  <a:srgbClr val="D9E2EA"/>
                </a:solidFill>
                <a:latin typeface="Lato"/>
              </a:rPr>
              <a:t>coverage map</a:t>
            </a:r>
          </a:p>
        </p:txBody>
      </p:sp>
      <p:sp>
        <p:nvSpPr>
          <p:cNvPr id="48" name="Rectangle 47"/>
          <p:cNvSpPr/>
          <p:nvPr/>
        </p:nvSpPr>
        <p:spPr>
          <a:xfrm>
            <a:off x="6345936" y="1645919"/>
            <a:ext cx="2011680" cy="2834640"/>
          </a:xfrm>
          <a:prstGeom prst="rect">
            <a:avLst/>
          </a:prstGeom>
          <a:solidFill>
            <a:srgbClr val="0F161E">
              <a:alpha val="60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45936" y="1737360"/>
            <a:ext cx="2011680" cy="292608"/>
          </a:xfrm>
          <a:prstGeom prst="rect">
            <a:avLst/>
          </a:prstGeom>
          <a:noFill/>
        </p:spPr>
        <p:txBody>
          <a:bodyPr wrap="square" lIns="0" rIns="0" tIns="0" bIns="0" anchor="t"/>
          <a:lstStyle/>
          <a:p>
            <a:pPr algn="ctr"/>
            <a:r>
              <a:rPr sz="1500" b="1" cap="all" spc="80">
                <a:solidFill>
                  <a:srgbClr val="22D3EE"/>
                </a:solidFill>
                <a:latin typeface="Anantason Condensed"/>
              </a:rPr>
              <a:t>RADIOS</a:t>
            </a:r>
          </a:p>
        </p:txBody>
      </p:sp>
      <p:sp>
        <p:nvSpPr>
          <p:cNvPr id="50" name="Rectangle 49"/>
          <p:cNvSpPr/>
          <p:nvPr/>
        </p:nvSpPr>
        <p:spPr>
          <a:xfrm>
            <a:off x="6437376" y="2103120"/>
            <a:ext cx="1828800" cy="374904"/>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10528" y="2103120"/>
            <a:ext cx="1682496" cy="374904"/>
          </a:xfrm>
          <a:prstGeom prst="rect">
            <a:avLst/>
          </a:prstGeom>
          <a:noFill/>
        </p:spPr>
        <p:txBody>
          <a:bodyPr wrap="square" lIns="0" rIns="0" tIns="0" bIns="0" anchor="ctr"/>
          <a:lstStyle/>
          <a:p>
            <a:pPr algn="ctr"/>
            <a:r>
              <a:rPr sz="1400" b="0">
                <a:solidFill>
                  <a:srgbClr val="F3F7FA"/>
                </a:solidFill>
                <a:latin typeface="Lato"/>
              </a:rPr>
              <a:t>wired dock port</a:t>
            </a:r>
          </a:p>
        </p:txBody>
      </p:sp>
      <p:cxnSp>
        <p:nvCxnSpPr>
          <p:cNvPr id="52" name="Connector 51"/>
          <p:cNvCxnSpPr/>
          <p:nvPr/>
        </p:nvCxnSpPr>
        <p:spPr>
          <a:xfrm flipV="1">
            <a:off x="6071616" y="2290572"/>
            <a:ext cx="356616" cy="800100"/>
          </a:xfrm>
          <a:prstGeom prst="line">
            <a:avLst/>
          </a:prstGeom>
          <a:ln w="12700">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266176" y="2290572"/>
            <a:ext cx="374904" cy="800100"/>
          </a:xfrm>
          <a:prstGeom prst="line">
            <a:avLst/>
          </a:prstGeom>
          <a:ln w="12700">
            <a:solidFill>
              <a:srgbClr val="F59E0B"/>
            </a:solidFill>
            <a:tailEnd type="triangle" w="sm" len="sm"/>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437376" y="2532887"/>
            <a:ext cx="1828800" cy="374904"/>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510528" y="2532887"/>
            <a:ext cx="1682496" cy="374904"/>
          </a:xfrm>
          <a:prstGeom prst="rect">
            <a:avLst/>
          </a:prstGeom>
          <a:noFill/>
        </p:spPr>
        <p:txBody>
          <a:bodyPr wrap="square" lIns="0" rIns="0" tIns="0" bIns="0" anchor="ctr"/>
          <a:lstStyle/>
          <a:p>
            <a:pPr algn="ctr"/>
            <a:r>
              <a:rPr sz="1400" b="0">
                <a:solidFill>
                  <a:srgbClr val="F3F7FA"/>
                </a:solidFill>
                <a:latin typeface="Lato"/>
              </a:rPr>
              <a:t>Wi-Fi 6</a:t>
            </a:r>
          </a:p>
        </p:txBody>
      </p:sp>
      <p:cxnSp>
        <p:nvCxnSpPr>
          <p:cNvPr id="56" name="Connector 55"/>
          <p:cNvCxnSpPr/>
          <p:nvPr/>
        </p:nvCxnSpPr>
        <p:spPr>
          <a:xfrm flipV="1">
            <a:off x="6071616" y="2720339"/>
            <a:ext cx="356616" cy="370333"/>
          </a:xfrm>
          <a:prstGeom prst="line">
            <a:avLst/>
          </a:prstGeom>
          <a:ln w="12700">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266176" y="2720339"/>
            <a:ext cx="374904" cy="370333"/>
          </a:xfrm>
          <a:prstGeom prst="line">
            <a:avLst/>
          </a:prstGeom>
          <a:ln w="12700">
            <a:solidFill>
              <a:srgbClr val="F59E0B"/>
            </a:solidFill>
            <a:tailEnd type="triangle" w="sm" len="sm"/>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6437376" y="2962656"/>
            <a:ext cx="1828800" cy="374904"/>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510528" y="2962656"/>
            <a:ext cx="1682496" cy="374904"/>
          </a:xfrm>
          <a:prstGeom prst="rect">
            <a:avLst/>
          </a:prstGeom>
          <a:noFill/>
        </p:spPr>
        <p:txBody>
          <a:bodyPr wrap="square" lIns="0" rIns="0" tIns="0" bIns="0" anchor="ctr"/>
          <a:lstStyle/>
          <a:p>
            <a:pPr algn="ctr"/>
            <a:r>
              <a:rPr sz="1400" b="0">
                <a:solidFill>
                  <a:srgbClr val="F3F7FA"/>
                </a:solidFill>
                <a:latin typeface="Lato"/>
              </a:rPr>
              <a:t>5G SA</a:t>
            </a:r>
          </a:p>
        </p:txBody>
      </p:sp>
      <p:cxnSp>
        <p:nvCxnSpPr>
          <p:cNvPr id="60" name="Connector 59"/>
          <p:cNvCxnSpPr/>
          <p:nvPr/>
        </p:nvCxnSpPr>
        <p:spPr>
          <a:xfrm>
            <a:off x="6071616" y="3090672"/>
            <a:ext cx="356616" cy="59436"/>
          </a:xfrm>
          <a:prstGeom prst="line">
            <a:avLst/>
          </a:prstGeom>
          <a:ln w="12700">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266176" y="3090672"/>
            <a:ext cx="374904" cy="59436"/>
          </a:xfrm>
          <a:prstGeom prst="line">
            <a:avLst/>
          </a:prstGeom>
          <a:ln w="12700">
            <a:solidFill>
              <a:srgbClr val="F59E0B"/>
            </a:solidFill>
            <a:tailEnd type="triangle" w="sm" len="sm"/>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6437376" y="3392424"/>
            <a:ext cx="1828800" cy="374904"/>
          </a:xfrm>
          <a:prstGeom prst="rect">
            <a:avLst/>
          </a:prstGeom>
          <a:solidFill>
            <a:srgbClr val="131C26"/>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510528" y="3392424"/>
            <a:ext cx="1682496" cy="374904"/>
          </a:xfrm>
          <a:prstGeom prst="rect">
            <a:avLst/>
          </a:prstGeom>
          <a:noFill/>
        </p:spPr>
        <p:txBody>
          <a:bodyPr wrap="square" lIns="0" rIns="0" tIns="0" bIns="0" anchor="ctr"/>
          <a:lstStyle/>
          <a:p>
            <a:pPr algn="ctr"/>
            <a:r>
              <a:rPr sz="1400" b="0">
                <a:solidFill>
                  <a:srgbClr val="F3F7FA"/>
                </a:solidFill>
                <a:latin typeface="Lato"/>
              </a:rPr>
              <a:t>LEO satellite</a:t>
            </a:r>
          </a:p>
        </p:txBody>
      </p:sp>
      <p:cxnSp>
        <p:nvCxnSpPr>
          <p:cNvPr id="64" name="Connector 63"/>
          <p:cNvCxnSpPr/>
          <p:nvPr/>
        </p:nvCxnSpPr>
        <p:spPr>
          <a:xfrm>
            <a:off x="6071616" y="3090672"/>
            <a:ext cx="356616" cy="489204"/>
          </a:xfrm>
          <a:prstGeom prst="line">
            <a:avLst/>
          </a:prstGeom>
          <a:ln w="12700">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266176" y="3090672"/>
            <a:ext cx="374904" cy="489204"/>
          </a:xfrm>
          <a:prstGeom prst="line">
            <a:avLst/>
          </a:prstGeom>
          <a:ln w="12700">
            <a:solidFill>
              <a:srgbClr val="F59E0B"/>
            </a:solidFill>
            <a:tailEnd type="triangle" w="sm" len="sm"/>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437376" y="3813048"/>
            <a:ext cx="1828800" cy="658368"/>
          </a:xfrm>
          <a:prstGeom prst="rect">
            <a:avLst/>
          </a:prstGeom>
          <a:noFill/>
        </p:spPr>
        <p:txBody>
          <a:bodyPr wrap="square" lIns="0" rIns="0" tIns="0" bIns="0" anchor="t"/>
          <a:lstStyle/>
          <a:p>
            <a:pPr algn="ctr"/>
            <a:r>
              <a:rPr sz="1400" b="0">
                <a:solidFill>
                  <a:srgbClr val="9AACBC"/>
                </a:solidFill>
                <a:latin typeface="Lato"/>
              </a:rPr>
              <a:t>link model:</a:t>
            </a:r>
          </a:p>
          <a:p>
            <a:pPr algn="ctr"/>
            <a:r>
              <a:rPr sz="1400" b="0">
                <a:solidFill>
                  <a:srgbClr val="9AACBC"/>
                </a:solidFill>
                <a:latin typeface="Lato"/>
              </a:rPr>
              <a:t>signal, loss, RTT, jitter, capacity</a:t>
            </a:r>
          </a:p>
        </p:txBody>
      </p:sp>
      <p:sp>
        <p:nvSpPr>
          <p:cNvPr id="67" name="Rectangle 66"/>
          <p:cNvSpPr/>
          <p:nvPr/>
        </p:nvSpPr>
        <p:spPr>
          <a:xfrm>
            <a:off x="8659368" y="1645919"/>
            <a:ext cx="1600200" cy="2834640"/>
          </a:xfrm>
          <a:prstGeom prst="rect">
            <a:avLst/>
          </a:prstGeom>
          <a:solidFill>
            <a:srgbClr val="0F161E">
              <a:alpha val="60000"/>
            </a:srgbClr>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659368" y="1737360"/>
            <a:ext cx="1600200" cy="292608"/>
          </a:xfrm>
          <a:prstGeom prst="rect">
            <a:avLst/>
          </a:prstGeom>
          <a:noFill/>
        </p:spPr>
        <p:txBody>
          <a:bodyPr wrap="square" lIns="0" rIns="0" tIns="0" bIns="0" anchor="t"/>
          <a:lstStyle/>
          <a:p>
            <a:pPr algn="ctr"/>
            <a:r>
              <a:rPr sz="1500" b="1" cap="all" spc="80">
                <a:solidFill>
                  <a:srgbClr val="F59E0B"/>
                </a:solidFill>
                <a:latin typeface="Anantason Condensed"/>
              </a:rPr>
              <a:t>ANCHOR RELAY</a:t>
            </a:r>
          </a:p>
        </p:txBody>
      </p:sp>
      <p:sp>
        <p:nvSpPr>
          <p:cNvPr id="69" name="TextBox 68"/>
          <p:cNvSpPr txBox="1"/>
          <p:nvPr/>
        </p:nvSpPr>
        <p:spPr>
          <a:xfrm>
            <a:off x="8723376" y="2148840"/>
            <a:ext cx="1472184" cy="731520"/>
          </a:xfrm>
          <a:prstGeom prst="rect">
            <a:avLst/>
          </a:prstGeom>
          <a:noFill/>
        </p:spPr>
        <p:txBody>
          <a:bodyPr wrap="square" lIns="0" rIns="0" tIns="0" bIns="0" anchor="t"/>
          <a:lstStyle/>
          <a:p>
            <a:pPr algn="ctr"/>
            <a:r>
              <a:rPr sz="1400" b="0">
                <a:solidFill>
                  <a:srgbClr val="D9E2EA"/>
                </a:solidFill>
                <a:latin typeface="Lato"/>
              </a:rPr>
              <a:t>a fixed address</a:t>
            </a:r>
          </a:p>
          <a:p>
            <a:pPr algn="ctr"/>
            <a:r>
              <a:rPr sz="1400" b="0">
                <a:solidFill>
                  <a:srgbClr val="D9E2EA"/>
                </a:solidFill>
                <a:latin typeface="Lato"/>
              </a:rPr>
              <a:t>in the operator's network</a:t>
            </a:r>
          </a:p>
        </p:txBody>
      </p:sp>
      <p:cxnSp>
        <p:nvCxnSpPr>
          <p:cNvPr id="70" name="Connector 69"/>
          <p:cNvCxnSpPr/>
          <p:nvPr/>
        </p:nvCxnSpPr>
        <p:spPr>
          <a:xfrm>
            <a:off x="8887968" y="3017520"/>
            <a:ext cx="1143000"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723376" y="3154680"/>
            <a:ext cx="1472184" cy="731520"/>
          </a:xfrm>
          <a:prstGeom prst="rect">
            <a:avLst/>
          </a:prstGeom>
          <a:noFill/>
        </p:spPr>
        <p:txBody>
          <a:bodyPr wrap="square" lIns="0" rIns="0" tIns="0" bIns="0" anchor="t"/>
          <a:lstStyle/>
          <a:p>
            <a:pPr algn="ctr"/>
            <a:r>
              <a:rPr sz="1400" b="0">
                <a:solidFill>
                  <a:srgbClr val="D9E2EA"/>
                </a:solidFill>
                <a:latin typeface="Lato"/>
              </a:rPr>
              <a:t>the vehicle's</a:t>
            </a:r>
          </a:p>
          <a:p>
            <a:pPr algn="ctr"/>
            <a:r>
              <a:rPr sz="1400" b="0">
                <a:solidFill>
                  <a:srgbClr val="D9E2EA"/>
                </a:solidFill>
                <a:latin typeface="Lato"/>
              </a:rPr>
              <a:t>tunnel rebinds</a:t>
            </a:r>
          </a:p>
          <a:p>
            <a:pPr algn="ctr"/>
            <a:r>
              <a:rPr sz="1400" b="0">
                <a:solidFill>
                  <a:srgbClr val="D9E2EA"/>
                </a:solidFill>
                <a:latin typeface="Lato"/>
              </a:rPr>
              <a:t>across radios</a:t>
            </a:r>
          </a:p>
        </p:txBody>
      </p:sp>
      <p:cxnSp>
        <p:nvCxnSpPr>
          <p:cNvPr id="72" name="Connector 71"/>
          <p:cNvCxnSpPr/>
          <p:nvPr/>
        </p:nvCxnSpPr>
        <p:spPr>
          <a:xfrm>
            <a:off x="10277856" y="3090672"/>
            <a:ext cx="246888" cy="0"/>
          </a:xfrm>
          <a:prstGeom prst="line">
            <a:avLst/>
          </a:prstGeom>
          <a:ln w="15875">
            <a:solidFill>
              <a:srgbClr val="F59E0B"/>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10543032" y="2331720"/>
            <a:ext cx="1097280" cy="1517904"/>
          </a:xfrm>
          <a:prstGeom prst="rect">
            <a:avLst/>
          </a:prstGeom>
          <a:solidFill>
            <a:srgbClr val="0F161E">
              <a:alpha val="60000"/>
            </a:srgbClr>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588752" y="2331720"/>
            <a:ext cx="1005839" cy="1517904"/>
          </a:xfrm>
          <a:prstGeom prst="rect">
            <a:avLst/>
          </a:prstGeom>
          <a:noFill/>
        </p:spPr>
        <p:txBody>
          <a:bodyPr wrap="square" lIns="0" rIns="0" tIns="0" bIns="0" anchor="ctr"/>
          <a:lstStyle/>
          <a:p>
            <a:pPr algn="ctr"/>
            <a:r>
              <a:rPr sz="1400" b="0">
                <a:solidFill>
                  <a:srgbClr val="F59E0B"/>
                </a:solidFill>
                <a:latin typeface="Lato"/>
              </a:rPr>
              <a:t>the remote side</a:t>
            </a:r>
          </a:p>
          <a:p>
            <a:pPr algn="ctr"/>
            <a:r>
              <a:rPr sz="1400" b="0">
                <a:solidFill>
                  <a:srgbClr val="F59E0B"/>
                </a:solidFill>
                <a:latin typeface="Lato"/>
              </a:rPr>
              <a:t>never changes</a:t>
            </a:r>
          </a:p>
        </p:txBody>
      </p:sp>
      <p:sp>
        <p:nvSpPr>
          <p:cNvPr id="75" name="Rectangle 74"/>
          <p:cNvSpPr/>
          <p:nvPr/>
        </p:nvSpPr>
        <p:spPr>
          <a:xfrm>
            <a:off x="548640" y="4681728"/>
            <a:ext cx="11091672" cy="1097280"/>
          </a:xfrm>
          <a:prstGeom prst="rect">
            <a:avLst/>
          </a:prstGeom>
          <a:solidFill>
            <a:srgbClr val="0F161E">
              <a:alpha val="85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731520" y="4754880"/>
            <a:ext cx="10789920" cy="320040"/>
          </a:xfrm>
          <a:prstGeom prst="rect">
            <a:avLst/>
          </a:prstGeom>
          <a:noFill/>
        </p:spPr>
        <p:txBody>
          <a:bodyPr wrap="square" lIns="0" rIns="0" tIns="0" bIns="0" anchor="t"/>
          <a:lstStyle/>
          <a:p>
            <a:pPr algn="l"/>
            <a:r>
              <a:rPr sz="1600" b="1" spc="150">
                <a:solidFill>
                  <a:srgbClr val="F3F7FA"/>
                </a:solidFill>
                <a:latin typeface="Anantason Condensed"/>
              </a:rPr>
              <a:t>EXPLAINABILITY AND </a:t>
            </a:r>
            <a:r>
              <a:rPr sz="1600" b="1" spc="150">
                <a:solidFill>
                  <a:srgbClr val="22D3EE"/>
                </a:solidFill>
                <a:latin typeface="Anantason Condensed"/>
              </a:rPr>
              <a:t>DASHBOARD</a:t>
            </a:r>
          </a:p>
        </p:txBody>
      </p:sp>
      <p:sp>
        <p:nvSpPr>
          <p:cNvPr id="77" name="TextBox 76"/>
          <p:cNvSpPr txBox="1"/>
          <p:nvPr/>
        </p:nvSpPr>
        <p:spPr>
          <a:xfrm>
            <a:off x="4297680" y="4773168"/>
            <a:ext cx="7223760" cy="292608"/>
          </a:xfrm>
          <a:prstGeom prst="rect">
            <a:avLst/>
          </a:prstGeom>
          <a:noFill/>
        </p:spPr>
        <p:txBody>
          <a:bodyPr wrap="square" lIns="0" rIns="0" tIns="0" bIns="0" anchor="t"/>
          <a:lstStyle/>
          <a:p>
            <a:pPr algn="r"/>
            <a:r>
              <a:rPr sz="1400" b="0">
                <a:solidFill>
                  <a:srgbClr val="D9E2EA"/>
                </a:solidFill>
                <a:latin typeface="Lato"/>
              </a:rPr>
              <a:t>it records each decision with the values at that tick:</a:t>
            </a:r>
          </a:p>
        </p:txBody>
      </p:sp>
      <p:sp>
        <p:nvSpPr>
          <p:cNvPr id="78" name="Rounded Rectangle 77"/>
          <p:cNvSpPr/>
          <p:nvPr/>
        </p:nvSpPr>
        <p:spPr>
          <a:xfrm>
            <a:off x="731520" y="5212080"/>
            <a:ext cx="132588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731520" y="5212080"/>
            <a:ext cx="1325880" cy="384048"/>
          </a:xfrm>
          <a:prstGeom prst="rect">
            <a:avLst/>
          </a:prstGeom>
          <a:noFill/>
        </p:spPr>
        <p:txBody>
          <a:bodyPr wrap="square" lIns="0" rIns="0" tIns="0" bIns="0" anchor="ctr"/>
          <a:lstStyle/>
          <a:p>
            <a:pPr algn="ctr"/>
            <a:r>
              <a:rPr sz="1400" b="0">
                <a:solidFill>
                  <a:srgbClr val="22D3EE"/>
                </a:solidFill>
                <a:latin typeface="Lato"/>
              </a:rPr>
              <a:t>current path</a:t>
            </a:r>
          </a:p>
        </p:txBody>
      </p:sp>
      <p:sp>
        <p:nvSpPr>
          <p:cNvPr id="80" name="Rounded Rectangle 79"/>
          <p:cNvSpPr/>
          <p:nvPr/>
        </p:nvSpPr>
        <p:spPr>
          <a:xfrm>
            <a:off x="2194560" y="5212080"/>
            <a:ext cx="82296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2194560" y="5212080"/>
            <a:ext cx="822960" cy="384048"/>
          </a:xfrm>
          <a:prstGeom prst="rect">
            <a:avLst/>
          </a:prstGeom>
          <a:noFill/>
        </p:spPr>
        <p:txBody>
          <a:bodyPr wrap="square" lIns="0" rIns="0" tIns="0" bIns="0" anchor="ctr"/>
          <a:lstStyle/>
          <a:p>
            <a:pPr algn="ctr"/>
            <a:r>
              <a:rPr sz="1400" b="0">
                <a:solidFill>
                  <a:srgbClr val="22D3EE"/>
                </a:solidFill>
                <a:latin typeface="Lato"/>
              </a:rPr>
              <a:t>trend</a:t>
            </a:r>
          </a:p>
        </p:txBody>
      </p:sp>
      <p:sp>
        <p:nvSpPr>
          <p:cNvPr id="82" name="Rounded Rectangle 81"/>
          <p:cNvSpPr/>
          <p:nvPr/>
        </p:nvSpPr>
        <p:spPr>
          <a:xfrm>
            <a:off x="3154680" y="5212080"/>
            <a:ext cx="141732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3154680" y="5212080"/>
            <a:ext cx="1417320" cy="384048"/>
          </a:xfrm>
          <a:prstGeom prst="rect">
            <a:avLst/>
          </a:prstGeom>
          <a:noFill/>
        </p:spPr>
        <p:txBody>
          <a:bodyPr wrap="square" lIns="0" rIns="0" tIns="0" bIns="0" anchor="ctr"/>
          <a:lstStyle/>
          <a:p>
            <a:pPr algn="ctr"/>
            <a:r>
              <a:rPr sz="1400" b="0">
                <a:solidFill>
                  <a:srgbClr val="22D3EE"/>
                </a:solidFill>
                <a:latin typeface="Lato"/>
              </a:rPr>
              <a:t>time-to-failure</a:t>
            </a:r>
          </a:p>
        </p:txBody>
      </p:sp>
      <p:sp>
        <p:nvSpPr>
          <p:cNvPr id="84" name="Rounded Rectangle 83"/>
          <p:cNvSpPr/>
          <p:nvPr/>
        </p:nvSpPr>
        <p:spPr>
          <a:xfrm>
            <a:off x="4709160" y="5212080"/>
            <a:ext cx="146304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709160" y="5212080"/>
            <a:ext cx="1463040" cy="384048"/>
          </a:xfrm>
          <a:prstGeom prst="rect">
            <a:avLst/>
          </a:prstGeom>
          <a:noFill/>
        </p:spPr>
        <p:txBody>
          <a:bodyPr wrap="square" lIns="0" rIns="0" tIns="0" bIns="0" anchor="ctr"/>
          <a:lstStyle/>
          <a:p>
            <a:pPr algn="ctr"/>
            <a:r>
              <a:rPr sz="1400" b="0">
                <a:solidFill>
                  <a:srgbClr val="22D3EE"/>
                </a:solidFill>
                <a:latin typeface="Lato"/>
              </a:rPr>
              <a:t>alternate score</a:t>
            </a:r>
          </a:p>
        </p:txBody>
      </p:sp>
      <p:sp>
        <p:nvSpPr>
          <p:cNvPr id="86" name="Rounded Rectangle 85"/>
          <p:cNvSpPr/>
          <p:nvPr/>
        </p:nvSpPr>
        <p:spPr>
          <a:xfrm>
            <a:off x="6309360" y="5212080"/>
            <a:ext cx="109728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6309360" y="5212080"/>
            <a:ext cx="1097280" cy="384048"/>
          </a:xfrm>
          <a:prstGeom prst="rect">
            <a:avLst/>
          </a:prstGeom>
          <a:noFill/>
        </p:spPr>
        <p:txBody>
          <a:bodyPr wrap="square" lIns="0" rIns="0" tIns="0" bIns="0" anchor="ctr"/>
          <a:lstStyle/>
          <a:p>
            <a:pPr algn="ctr"/>
            <a:r>
              <a:rPr sz="1400" b="0">
                <a:solidFill>
                  <a:srgbClr val="22D3EE"/>
                </a:solidFill>
                <a:latin typeface="Lato"/>
              </a:rPr>
              <a:t>radio tier</a:t>
            </a:r>
          </a:p>
        </p:txBody>
      </p:sp>
      <p:sp>
        <p:nvSpPr>
          <p:cNvPr id="88" name="Rounded Rectangle 87"/>
          <p:cNvSpPr/>
          <p:nvPr/>
        </p:nvSpPr>
        <p:spPr>
          <a:xfrm>
            <a:off x="7543800" y="5212080"/>
            <a:ext cx="91440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7543800" y="5212080"/>
            <a:ext cx="914400" cy="384048"/>
          </a:xfrm>
          <a:prstGeom prst="rect">
            <a:avLst/>
          </a:prstGeom>
          <a:noFill/>
        </p:spPr>
        <p:txBody>
          <a:bodyPr wrap="square" lIns="0" rIns="0" tIns="0" bIns="0" anchor="ctr"/>
          <a:lstStyle/>
          <a:p>
            <a:pPr algn="ctr"/>
            <a:r>
              <a:rPr sz="1400" b="0">
                <a:solidFill>
                  <a:srgbClr val="22D3EE"/>
                </a:solidFill>
                <a:latin typeface="Lato"/>
              </a:rPr>
              <a:t>action</a:t>
            </a:r>
          </a:p>
        </p:txBody>
      </p:sp>
      <p:sp>
        <p:nvSpPr>
          <p:cNvPr id="90" name="Rounded Rectangle 89"/>
          <p:cNvSpPr/>
          <p:nvPr/>
        </p:nvSpPr>
        <p:spPr>
          <a:xfrm>
            <a:off x="8595360" y="5212080"/>
            <a:ext cx="914400" cy="384048"/>
          </a:xfrm>
          <a:prstGeom prst="roundRect">
            <a:avLst>
              <a:gd name="adj" fmla="val 12000"/>
            </a:avLst>
          </a:prstGeom>
          <a:solidFill>
            <a:srgbClr val="0B2A31"/>
          </a:solidFill>
          <a:ln w="12700">
            <a:solidFill>
              <a:srgbClr val="0E556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8595360" y="5212080"/>
            <a:ext cx="914400" cy="384048"/>
          </a:xfrm>
          <a:prstGeom prst="rect">
            <a:avLst/>
          </a:prstGeom>
          <a:noFill/>
        </p:spPr>
        <p:txBody>
          <a:bodyPr wrap="square" lIns="0" rIns="0" tIns="0" bIns="0" anchor="ctr"/>
          <a:lstStyle/>
          <a:p>
            <a:pPr algn="ctr"/>
            <a:r>
              <a:rPr sz="1400" b="0">
                <a:solidFill>
                  <a:srgbClr val="22D3EE"/>
                </a:solidFill>
                <a:latin typeface="Lato"/>
              </a:rPr>
              <a:t>reason</a:t>
            </a:r>
          </a:p>
        </p:txBody>
      </p:sp>
      <p:cxnSp>
        <p:nvCxnSpPr>
          <p:cNvPr id="92" name="Connector 91"/>
          <p:cNvCxnSpPr/>
          <p:nvPr/>
        </p:nvCxnSpPr>
        <p:spPr>
          <a:xfrm flipV="1">
            <a:off x="4224528" y="4416552"/>
            <a:ext cx="0" cy="246888"/>
          </a:xfrm>
          <a:prstGeom prst="line">
            <a:avLst/>
          </a:prstGeom>
          <a:ln w="15875">
            <a:solidFill>
              <a:srgbClr val="22D3EE"/>
            </a:solidFill>
            <a:tailEnd type="triangle" w="sm" len="sm"/>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548640" y="5916168"/>
            <a:ext cx="11091672" cy="594360"/>
          </a:xfrm>
          <a:prstGeom prst="rect">
            <a:avLst/>
          </a:prstGeom>
          <a:noFill/>
        </p:spPr>
        <p:txBody>
          <a:bodyPr wrap="square" lIns="0" rIns="0" tIns="0" bIns="0" anchor="t"/>
          <a:lstStyle/>
          <a:p>
            <a:pPr algn="ctr"/>
            <a:r>
              <a:rPr sz="1800" b="1" spc="150">
                <a:solidFill>
                  <a:srgbClr val="F59E0B"/>
                </a:solidFill>
                <a:latin typeface="Anantason Condensed"/>
              </a:rPr>
              <a:t>DESIGNED TO SIT UNDER ANY COMMAND-AND-CONTROL APPLICATION</a:t>
            </a:r>
          </a:p>
          <a:p>
            <a:pPr algn="ctr"/>
            <a:r>
              <a:rPr sz="1400" b="0">
                <a:solidFill>
                  <a:srgbClr val="D9E2EA"/>
                </a:solidFill>
                <a:latin typeface="Lato"/>
              </a:rPr>
              <a:t>it needs no change to the application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07 / CRITERION 03</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Prototype, simulation and model (criterion 03)</a:t>
            </a:r>
          </a:p>
        </p:txBody>
      </p:sp>
      <p:sp>
        <p:nvSpPr>
          <p:cNvPr id="14" name="TextBox 13"/>
          <p:cNvSpPr txBox="1"/>
          <p:nvPr/>
        </p:nvSpPr>
        <p:spPr>
          <a:xfrm>
            <a:off x="548640" y="1280160"/>
            <a:ext cx="3931920" cy="384048"/>
          </a:xfrm>
          <a:prstGeom prst="rect">
            <a:avLst/>
          </a:prstGeom>
          <a:noFill/>
        </p:spPr>
        <p:txBody>
          <a:bodyPr wrap="square" lIns="0" rIns="0" tIns="0" bIns="0" anchor="t"/>
          <a:lstStyle/>
          <a:p>
            <a:pPr algn="l"/>
            <a:r>
              <a:rPr sz="2200" b="1">
                <a:solidFill>
                  <a:srgbClr val="22D3EE"/>
                </a:solidFill>
                <a:latin typeface="Lato"/>
                <a:hlinkClick r:id="rId3"/>
              </a:rPr>
              <a:t>flexipath.vercel.app</a:t>
            </a:r>
          </a:p>
        </p:txBody>
      </p:sp>
      <p:sp>
        <p:nvSpPr>
          <p:cNvPr id="15" name="TextBox 14"/>
          <p:cNvSpPr txBox="1"/>
          <p:nvPr/>
        </p:nvSpPr>
        <p:spPr>
          <a:xfrm>
            <a:off x="548640" y="1719072"/>
            <a:ext cx="3931920" cy="1005840"/>
          </a:xfrm>
          <a:prstGeom prst="rect">
            <a:avLst/>
          </a:prstGeom>
          <a:noFill/>
        </p:spPr>
        <p:txBody>
          <a:bodyPr wrap="square" lIns="0" rIns="0" tIns="0" bIns="0" anchor="t"/>
          <a:lstStyle/>
          <a:p>
            <a:pPr algn="l"/>
            <a:r>
              <a:rPr sz="1400" b="0">
                <a:solidFill>
                  <a:srgbClr val="D9E2EA"/>
                </a:solidFill>
                <a:latin typeface="Lato"/>
              </a:rPr>
              <a:t>interactive 3D digital twin with mission and advanced views</a:t>
            </a:r>
          </a:p>
        </p:txBody>
      </p:sp>
      <p:cxnSp>
        <p:nvCxnSpPr>
          <p:cNvPr id="16" name="Connector 15"/>
          <p:cNvCxnSpPr/>
          <p:nvPr/>
        </p:nvCxnSpPr>
        <p:spPr>
          <a:xfrm>
            <a:off x="548640" y="2331720"/>
            <a:ext cx="3931920" cy="0"/>
          </a:xfrm>
          <a:prstGeom prst="line">
            <a:avLst/>
          </a:prstGeom>
          <a:ln w="9525">
            <a:solidFill>
              <a:srgbClr val="26333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2395728"/>
            <a:ext cx="3931920" cy="1005840"/>
          </a:xfrm>
          <a:prstGeom prst="rect">
            <a:avLst/>
          </a:prstGeom>
          <a:noFill/>
        </p:spPr>
        <p:txBody>
          <a:bodyPr wrap="square" lIns="0" rIns="0" tIns="0" bIns="0" anchor="t"/>
          <a:lstStyle/>
          <a:p>
            <a:pPr algn="l"/>
            <a:r>
              <a:rPr sz="1700" b="1" cap="all" spc="100">
                <a:solidFill>
                  <a:srgbClr val="F3F7FA"/>
                </a:solidFill>
                <a:latin typeface="Anantason Condensed"/>
              </a:rPr>
              <a:t>guided demo</a:t>
            </a:r>
          </a:p>
          <a:p>
            <a:pPr algn="l"/>
            <a:r>
              <a:rPr sz="1400" b="0">
                <a:solidFill>
                  <a:srgbClr val="D9E2EA"/>
                </a:solidFill>
                <a:latin typeface="Lato"/>
              </a:rPr>
              <a:t>pauses at each real decision, explains what happened and which panel shows it</a:t>
            </a:r>
          </a:p>
        </p:txBody>
      </p:sp>
      <p:cxnSp>
        <p:nvCxnSpPr>
          <p:cNvPr id="18" name="Connector 17"/>
          <p:cNvCxnSpPr/>
          <p:nvPr/>
        </p:nvCxnSpPr>
        <p:spPr>
          <a:xfrm>
            <a:off x="548640" y="3227832"/>
            <a:ext cx="3931920" cy="0"/>
          </a:xfrm>
          <a:prstGeom prst="line">
            <a:avLst/>
          </a:prstGeom>
          <a:ln w="9525">
            <a:solidFill>
              <a:srgbClr val="26333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3291840"/>
            <a:ext cx="3931920" cy="1005840"/>
          </a:xfrm>
          <a:prstGeom prst="rect">
            <a:avLst/>
          </a:prstGeom>
          <a:noFill/>
        </p:spPr>
        <p:txBody>
          <a:bodyPr wrap="square" lIns="0" rIns="0" tIns="0" bIns="0" anchor="t"/>
          <a:lstStyle/>
          <a:p>
            <a:pPr algn="l"/>
            <a:r>
              <a:rPr sz="1700" b="1" cap="all" spc="100">
                <a:solidFill>
                  <a:srgbClr val="F3F7FA"/>
                </a:solidFill>
                <a:latin typeface="Anantason Condensed"/>
              </a:rPr>
              <a:t>deterministic 10 Hz engine</a:t>
            </a:r>
          </a:p>
          <a:p>
            <a:pPr algn="l"/>
            <a:r>
              <a:rPr sz="1400" b="0">
                <a:solidFill>
                  <a:srgbClr val="D9E2EA"/>
                </a:solidFill>
                <a:latin typeface="Lato"/>
              </a:rPr>
              <a:t>seeded random streams with fading, capacity, loss, RTT, jitter, TCP and radio models</a:t>
            </a:r>
          </a:p>
        </p:txBody>
      </p:sp>
      <p:cxnSp>
        <p:nvCxnSpPr>
          <p:cNvPr id="20" name="Connector 19"/>
          <p:cNvCxnSpPr/>
          <p:nvPr/>
        </p:nvCxnSpPr>
        <p:spPr>
          <a:xfrm>
            <a:off x="548640" y="4069079"/>
            <a:ext cx="3931920" cy="0"/>
          </a:xfrm>
          <a:prstGeom prst="line">
            <a:avLst/>
          </a:prstGeom>
          <a:ln w="9525">
            <a:solidFill>
              <a:srgbClr val="26333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4133087"/>
            <a:ext cx="3931920" cy="1005840"/>
          </a:xfrm>
          <a:prstGeom prst="rect">
            <a:avLst/>
          </a:prstGeom>
          <a:noFill/>
        </p:spPr>
        <p:txBody>
          <a:bodyPr wrap="square" lIns="0" rIns="0" tIns="0" bIns="0" anchor="t"/>
          <a:lstStyle/>
          <a:p>
            <a:pPr algn="l"/>
            <a:r>
              <a:rPr sz="1700" b="1" cap="all" spc="100">
                <a:solidFill>
                  <a:srgbClr val="F3F7FA"/>
                </a:solidFill>
                <a:latin typeface="Anantason Condensed"/>
              </a:rPr>
              <a:t>headless benchmark</a:t>
            </a:r>
          </a:p>
          <a:p>
            <a:pPr algn="l"/>
            <a:r>
              <a:rPr sz="1400" b="0">
                <a:solidFill>
                  <a:srgbClr val="D9E2EA"/>
                </a:solidFill>
                <a:latin typeface="Lato"/>
              </a:rPr>
              <a:t>scenarios A–H × 5 seeds × 4 speeds = 160 paired runs per stack, plus baselines and ablations; CSV output with 95 % CIs</a:t>
            </a:r>
          </a:p>
        </p:txBody>
      </p:sp>
      <p:cxnSp>
        <p:nvCxnSpPr>
          <p:cNvPr id="22" name="Connector 21"/>
          <p:cNvCxnSpPr/>
          <p:nvPr/>
        </p:nvCxnSpPr>
        <p:spPr>
          <a:xfrm>
            <a:off x="548640" y="5184648"/>
            <a:ext cx="3931920" cy="0"/>
          </a:xfrm>
          <a:prstGeom prst="line">
            <a:avLst/>
          </a:prstGeom>
          <a:ln w="9525">
            <a:solidFill>
              <a:srgbClr val="26333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5248656"/>
            <a:ext cx="3931920" cy="1005840"/>
          </a:xfrm>
          <a:prstGeom prst="rect">
            <a:avLst/>
          </a:prstGeom>
          <a:noFill/>
        </p:spPr>
        <p:txBody>
          <a:bodyPr wrap="square" lIns="0" rIns="0" tIns="0" bIns="0" anchor="t"/>
          <a:lstStyle/>
          <a:p>
            <a:pPr algn="l"/>
            <a:r>
              <a:rPr sz="1700" b="1" cap="all" spc="100">
                <a:solidFill>
                  <a:srgbClr val="F3F7FA"/>
                </a:solidFill>
                <a:latin typeface="Anantason Condensed"/>
              </a:rPr>
              <a:t>published model</a:t>
            </a:r>
          </a:p>
          <a:p>
            <a:pPr algn="l"/>
            <a:r>
              <a:rPr sz="1400" b="0">
                <a:solidFill>
                  <a:srgbClr val="D9E2EA"/>
                </a:solidFill>
                <a:latin typeface="Lato"/>
              </a:rPr>
              <a:t>we check parameters against published measurements and test the 100 ms modem wake at 260 ms as a sensitivity run</a:t>
            </a:r>
          </a:p>
        </p:txBody>
      </p:sp>
      <p:pic>
        <p:nvPicPr>
          <p:cNvPr id="24" name="prototype screenshot" descr="image85.jpeg"/>
          <p:cNvPicPr>
            <a:picLocks noChangeAspect="1"/>
          </p:cNvPicPr>
          <p:nvPr/>
        </p:nvPicPr>
        <p:blipFill>
          <a:blip r:embed="rId4"/>
          <a:stretch>
            <a:fillRect/>
          </a:stretch>
        </p:blipFill>
        <p:spPr>
          <a:xfrm>
            <a:off x="4873752" y="1325880"/>
            <a:ext cx="6766560" cy="3806189"/>
          </a:xfrm>
          <a:prstGeom prst="rect">
            <a:avLst/>
          </a:prstGeom>
        </p:spPr>
      </p:pic>
      <p:sp>
        <p:nvSpPr>
          <p:cNvPr id="25" name="Rectangle 24"/>
          <p:cNvSpPr/>
          <p:nvPr/>
        </p:nvSpPr>
        <p:spPr>
          <a:xfrm>
            <a:off x="4873752" y="1325880"/>
            <a:ext cx="6766560" cy="3806189"/>
          </a:xfrm>
          <a:prstGeom prst="rect">
            <a:avLst/>
          </a:prstGeom>
          <a:no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6" name="Connector 25"/>
          <p:cNvCxnSpPr/>
          <p:nvPr/>
        </p:nvCxnSpPr>
        <p:spPr>
          <a:xfrm>
            <a:off x="4818888" y="1271016"/>
            <a:ext cx="228600" cy="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818888" y="1271016"/>
            <a:ext cx="0" cy="22860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466576" y="1271016"/>
            <a:ext cx="228600" cy="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1695176" y="1271016"/>
            <a:ext cx="0" cy="22860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818888" y="5186933"/>
            <a:ext cx="228600" cy="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818888" y="4958333"/>
            <a:ext cx="0" cy="22860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11466576" y="5186933"/>
            <a:ext cx="228600" cy="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1695176" y="4958333"/>
            <a:ext cx="0" cy="228600"/>
          </a:xfrm>
          <a:prstGeom prst="line">
            <a:avLst/>
          </a:prstGeom>
          <a:ln w="22225">
            <a:solidFill>
              <a:srgbClr val="22D3E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873752" y="5230368"/>
            <a:ext cx="6766560" cy="713232"/>
          </a:xfrm>
          <a:prstGeom prst="rect">
            <a:avLst/>
          </a:prstGeom>
          <a:noFill/>
        </p:spPr>
        <p:txBody>
          <a:bodyPr wrap="square" lIns="0" rIns="0" tIns="0" bIns="0" anchor="t"/>
          <a:lstStyle/>
          <a:p>
            <a:pPr algn="l"/>
            <a:r>
              <a:rPr sz="1400" b="0">
                <a:solidFill>
                  <a:srgbClr val="9AACBC"/>
                </a:solidFill>
                <a:latin typeface="Lato"/>
              </a:rPr>
              <a:t>Mission view of the live prototype. The FlexiPath drone (cyan) and the legacy-stack drone (crimson) fly with the same seed and radio conditions. The decision loop, decision card and scoreboard are around the twin.</a:t>
            </a:r>
          </a:p>
        </p:txBody>
      </p:sp>
      <p:sp>
        <p:nvSpPr>
          <p:cNvPr id="35" name="TextBox 34"/>
          <p:cNvSpPr txBox="1"/>
          <p:nvPr/>
        </p:nvSpPr>
        <p:spPr>
          <a:xfrm>
            <a:off x="4873752" y="5989320"/>
            <a:ext cx="6766560" cy="548640"/>
          </a:xfrm>
          <a:prstGeom prst="rect">
            <a:avLst/>
          </a:prstGeom>
          <a:noFill/>
        </p:spPr>
        <p:txBody>
          <a:bodyPr wrap="square" lIns="0" rIns="0" tIns="0" bIns="0" anchor="t"/>
          <a:lstStyle/>
          <a:p>
            <a:pPr algn="l"/>
            <a:r>
              <a:rPr sz="1200">
                <a:solidFill>
                  <a:srgbClr val="22D3EE"/>
                </a:solidFill>
                <a:latin typeface="DejaVu Sans"/>
              </a:rPr>
              <a:t>▶</a:t>
            </a:r>
            <a:r>
              <a:rPr sz="1400" b="1">
                <a:solidFill>
                  <a:srgbClr val="F3F7FA"/>
                </a:solidFill>
                <a:latin typeface="Lato"/>
              </a:rPr>
              <a:t>  Try it yourself:  </a:t>
            </a:r>
            <a:r>
              <a:rPr sz="1400" b="1">
                <a:solidFill>
                  <a:srgbClr val="22D3EE"/>
                </a:solidFill>
                <a:latin typeface="Lato"/>
                <a:hlinkClick r:id="rId3"/>
              </a:rPr>
              <a:t>flexipath.vercel.app</a:t>
            </a:r>
            <a:r>
              <a:rPr sz="1400" b="0">
                <a:solidFill>
                  <a:srgbClr val="D9E2EA"/>
                </a:solidFill>
                <a:latin typeface="Lato"/>
              </a:rPr>
              <a:t>   ·</a:t>
            </a:r>
          </a:p>
          <a:p>
            <a:pPr algn="l"/>
            <a:r>
              <a:rPr sz="1400" b="0">
                <a:solidFill>
                  <a:srgbClr val="D9E2EA"/>
                </a:solidFill>
                <a:latin typeface="Lato"/>
              </a:rPr>
              <a:t>the guided demo, the simulator and the 2-minute video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08 / CRITERION 04</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Results against the existing mechanisms (criterion 04)</a:t>
            </a:r>
          </a:p>
        </p:txBody>
      </p:sp>
      <p:sp>
        <p:nvSpPr>
          <p:cNvPr id="14" name="TextBox 13"/>
          <p:cNvSpPr txBox="1"/>
          <p:nvPr/>
        </p:nvSpPr>
        <p:spPr>
          <a:xfrm>
            <a:off x="548640" y="1005840"/>
            <a:ext cx="10972800" cy="320040"/>
          </a:xfrm>
          <a:prstGeom prst="rect">
            <a:avLst/>
          </a:prstGeom>
          <a:noFill/>
        </p:spPr>
        <p:txBody>
          <a:bodyPr wrap="square" lIns="0" rIns="0" tIns="0" bIns="0" anchor="t"/>
          <a:lstStyle/>
          <a:p>
            <a:pPr algn="l"/>
            <a:r>
              <a:rPr sz="1500" b="0">
                <a:solidFill>
                  <a:srgbClr val="9AACBC"/>
                </a:solidFill>
                <a:latin typeface="Lato"/>
              </a:rPr>
              <a:t>Paired means over 20 runs per scenario, same seeds for every stack.</a:t>
            </a:r>
          </a:p>
        </p:txBody>
      </p:sp>
      <p:sp>
        <p:nvSpPr>
          <p:cNvPr id="15" name="Rectangle 14"/>
          <p:cNvSpPr/>
          <p:nvPr/>
        </p:nvSpPr>
        <p:spPr>
          <a:xfrm>
            <a:off x="548640" y="1371600"/>
            <a:ext cx="2057400" cy="18288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1399032"/>
            <a:ext cx="621792" cy="182880"/>
          </a:xfrm>
          <a:prstGeom prst="rect">
            <a:avLst/>
          </a:prstGeom>
          <a:noFill/>
        </p:spPr>
        <p:txBody>
          <a:bodyPr wrap="square" lIns="0" rIns="0" tIns="0" bIns="0" anchor="t"/>
          <a:lstStyle/>
          <a:p>
            <a:pPr algn="r"/>
            <a:r>
              <a:rPr sz="1100" b="0" spc="100">
                <a:solidFill>
                  <a:srgbClr val="9AACBC"/>
                </a:solidFill>
                <a:latin typeface="Fira Code"/>
              </a:rPr>
              <a:t>01</a:t>
            </a:r>
          </a:p>
        </p:txBody>
      </p:sp>
      <p:sp>
        <p:nvSpPr>
          <p:cNvPr id="17" name="TextBox 16"/>
          <p:cNvSpPr txBox="1"/>
          <p:nvPr/>
        </p:nvSpPr>
        <p:spPr>
          <a:xfrm>
            <a:off x="658368" y="1417320"/>
            <a:ext cx="1911095" cy="548640"/>
          </a:xfrm>
          <a:prstGeom prst="rect">
            <a:avLst/>
          </a:prstGeom>
          <a:noFill/>
        </p:spPr>
        <p:txBody>
          <a:bodyPr wrap="square" lIns="0" rIns="0" tIns="0" bIns="0" anchor="t"/>
          <a:lstStyle/>
          <a:p>
            <a:pPr algn="l"/>
            <a:r>
              <a:rPr sz="3400" b="1">
                <a:solidFill>
                  <a:srgbClr val="22D3EE"/>
                </a:solidFill>
                <a:latin typeface="Anantason Condensed"/>
              </a:rPr>
              <a:t>100</a:t>
            </a:r>
            <a:r>
              <a:rPr sz="2200" b="1">
                <a:solidFill>
                  <a:srgbClr val="22D3EE"/>
                </a:solidFill>
                <a:latin typeface="Anantason Condensed"/>
              </a:rPr>
              <a:t>%</a:t>
            </a:r>
          </a:p>
        </p:txBody>
      </p:sp>
      <p:cxnSp>
        <p:nvCxnSpPr>
          <p:cNvPr id="18" name="Connector 17"/>
          <p:cNvCxnSpPr/>
          <p:nvPr/>
        </p:nvCxnSpPr>
        <p:spPr>
          <a:xfrm>
            <a:off x="658368" y="1965960"/>
            <a:ext cx="1837944"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011680"/>
            <a:ext cx="1874519" cy="1170432"/>
          </a:xfrm>
          <a:prstGeom prst="rect">
            <a:avLst/>
          </a:prstGeom>
          <a:noFill/>
        </p:spPr>
        <p:txBody>
          <a:bodyPr wrap="square" lIns="0" rIns="0" tIns="0" bIns="0" anchor="t"/>
          <a:lstStyle/>
          <a:p>
            <a:pPr algn="l"/>
            <a:r>
              <a:rPr sz="1400" b="0">
                <a:solidFill>
                  <a:srgbClr val="D9E2EA"/>
                </a:solidFill>
                <a:latin typeface="Lato"/>
              </a:rPr>
              <a:t>of flights where FlexiPath keeps C2 (flight count) under our piloted 300 ms rule</a:t>
            </a:r>
          </a:p>
        </p:txBody>
      </p:sp>
      <p:sp>
        <p:nvSpPr>
          <p:cNvPr id="20" name="Rectangle 19"/>
          <p:cNvSpPr/>
          <p:nvPr/>
        </p:nvSpPr>
        <p:spPr>
          <a:xfrm>
            <a:off x="2743200" y="1371600"/>
            <a:ext cx="2057400" cy="18288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114800" y="1399032"/>
            <a:ext cx="621792" cy="182880"/>
          </a:xfrm>
          <a:prstGeom prst="rect">
            <a:avLst/>
          </a:prstGeom>
          <a:noFill/>
        </p:spPr>
        <p:txBody>
          <a:bodyPr wrap="square" lIns="0" rIns="0" tIns="0" bIns="0" anchor="t"/>
          <a:lstStyle/>
          <a:p>
            <a:pPr algn="r"/>
            <a:r>
              <a:rPr sz="1100" b="0" spc="100">
                <a:solidFill>
                  <a:srgbClr val="9AACBC"/>
                </a:solidFill>
                <a:latin typeface="Fira Code"/>
              </a:rPr>
              <a:t>02</a:t>
            </a:r>
          </a:p>
        </p:txBody>
      </p:sp>
      <p:sp>
        <p:nvSpPr>
          <p:cNvPr id="22" name="TextBox 21"/>
          <p:cNvSpPr txBox="1"/>
          <p:nvPr/>
        </p:nvSpPr>
        <p:spPr>
          <a:xfrm>
            <a:off x="2852928" y="1417320"/>
            <a:ext cx="1911095" cy="548640"/>
          </a:xfrm>
          <a:prstGeom prst="rect">
            <a:avLst/>
          </a:prstGeom>
          <a:noFill/>
        </p:spPr>
        <p:txBody>
          <a:bodyPr wrap="square" lIns="0" rIns="0" tIns="0" bIns="0" anchor="t"/>
          <a:lstStyle/>
          <a:p>
            <a:pPr algn="l"/>
            <a:r>
              <a:rPr sz="3400" b="1">
                <a:solidFill>
                  <a:srgbClr val="22D3EE"/>
                </a:solidFill>
                <a:latin typeface="Anantason Condensed"/>
              </a:rPr>
              <a:t>1.2–4.6</a:t>
            </a:r>
            <a:r>
              <a:rPr sz="2200" b="1">
                <a:solidFill>
                  <a:srgbClr val="22D3EE"/>
                </a:solidFill>
                <a:latin typeface="Anantason Condensed"/>
              </a:rPr>
              <a:t> s</a:t>
            </a:r>
          </a:p>
        </p:txBody>
      </p:sp>
      <p:cxnSp>
        <p:nvCxnSpPr>
          <p:cNvPr id="23" name="Connector 22"/>
          <p:cNvCxnSpPr/>
          <p:nvPr/>
        </p:nvCxnSpPr>
        <p:spPr>
          <a:xfrm>
            <a:off x="2852928" y="1965960"/>
            <a:ext cx="1837944"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852928" y="2011680"/>
            <a:ext cx="1874519" cy="1170432"/>
          </a:xfrm>
          <a:prstGeom prst="rect">
            <a:avLst/>
          </a:prstGeom>
          <a:noFill/>
        </p:spPr>
        <p:txBody>
          <a:bodyPr wrap="square" lIns="0" rIns="0" tIns="0" bIns="0" anchor="t"/>
          <a:lstStyle/>
          <a:p>
            <a:pPr algn="l"/>
            <a:r>
              <a:rPr sz="1400" b="0">
                <a:solidFill>
                  <a:srgbClr val="D9E2EA"/>
                </a:solidFill>
                <a:latin typeface="Lato"/>
              </a:rPr>
              <a:t>FlexiPath acts before the path fails, versus 0.1–0.5 s after for reactive multipath</a:t>
            </a:r>
          </a:p>
        </p:txBody>
      </p:sp>
      <p:sp>
        <p:nvSpPr>
          <p:cNvPr id="25" name="Rectangle 24"/>
          <p:cNvSpPr/>
          <p:nvPr/>
        </p:nvSpPr>
        <p:spPr>
          <a:xfrm>
            <a:off x="4937760" y="1371600"/>
            <a:ext cx="2240280" cy="18288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92240" y="1399032"/>
            <a:ext cx="621792" cy="182880"/>
          </a:xfrm>
          <a:prstGeom prst="rect">
            <a:avLst/>
          </a:prstGeom>
          <a:noFill/>
        </p:spPr>
        <p:txBody>
          <a:bodyPr wrap="square" lIns="0" rIns="0" tIns="0" bIns="0" anchor="t"/>
          <a:lstStyle/>
          <a:p>
            <a:pPr algn="r"/>
            <a:r>
              <a:rPr sz="1100" b="0" spc="100">
                <a:solidFill>
                  <a:srgbClr val="9AACBC"/>
                </a:solidFill>
                <a:latin typeface="Fira Code"/>
              </a:rPr>
              <a:t>03</a:t>
            </a:r>
          </a:p>
        </p:txBody>
      </p:sp>
      <p:sp>
        <p:nvSpPr>
          <p:cNvPr id="27" name="TextBox 26"/>
          <p:cNvSpPr txBox="1"/>
          <p:nvPr/>
        </p:nvSpPr>
        <p:spPr>
          <a:xfrm>
            <a:off x="5047488" y="1417320"/>
            <a:ext cx="2093976" cy="548640"/>
          </a:xfrm>
          <a:prstGeom prst="rect">
            <a:avLst/>
          </a:prstGeom>
          <a:noFill/>
        </p:spPr>
        <p:txBody>
          <a:bodyPr wrap="square" lIns="0" rIns="0" tIns="0" bIns="0" anchor="t"/>
          <a:lstStyle/>
          <a:p>
            <a:pPr algn="l"/>
            <a:r>
              <a:rPr sz="3400" b="1">
                <a:solidFill>
                  <a:srgbClr val="22D3EE"/>
                </a:solidFill>
                <a:latin typeface="Anantason Condensed"/>
              </a:rPr>
              <a:t>35</a:t>
            </a:r>
            <a:r>
              <a:rPr sz="2200" b="1">
                <a:solidFill>
                  <a:srgbClr val="22D3EE"/>
                </a:solidFill>
                <a:latin typeface="Anantason Condensed"/>
              </a:rPr>
              <a:t>%</a:t>
            </a:r>
          </a:p>
        </p:txBody>
      </p:sp>
      <p:cxnSp>
        <p:nvCxnSpPr>
          <p:cNvPr id="28" name="Connector 27"/>
          <p:cNvCxnSpPr/>
          <p:nvPr/>
        </p:nvCxnSpPr>
        <p:spPr>
          <a:xfrm>
            <a:off x="5047488" y="1965960"/>
            <a:ext cx="2020824"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47488" y="2011680"/>
            <a:ext cx="2057400" cy="1170432"/>
          </a:xfrm>
          <a:prstGeom prst="rect">
            <a:avLst/>
          </a:prstGeom>
          <a:noFill/>
        </p:spPr>
        <p:txBody>
          <a:bodyPr wrap="square" lIns="0" rIns="0" tIns="0" bIns="0" anchor="t"/>
          <a:lstStyle/>
          <a:p>
            <a:pPr algn="l"/>
            <a:r>
              <a:rPr sz="1400" b="0">
                <a:solidFill>
                  <a:srgbClr val="D9E2EA"/>
                </a:solidFill>
                <a:latin typeface="Lato"/>
              </a:rPr>
              <a:t>fewer critical packets lost vs reactive multipath (CI 30–39 %); held-out; ~20 % with equal detection</a:t>
            </a:r>
          </a:p>
        </p:txBody>
      </p:sp>
      <p:sp>
        <p:nvSpPr>
          <p:cNvPr id="30" name="Rectangle 29"/>
          <p:cNvSpPr/>
          <p:nvPr/>
        </p:nvSpPr>
        <p:spPr>
          <a:xfrm>
            <a:off x="7315200" y="1371600"/>
            <a:ext cx="2130552" cy="18288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59952" y="1399032"/>
            <a:ext cx="621792" cy="182880"/>
          </a:xfrm>
          <a:prstGeom prst="rect">
            <a:avLst/>
          </a:prstGeom>
          <a:noFill/>
        </p:spPr>
        <p:txBody>
          <a:bodyPr wrap="square" lIns="0" rIns="0" tIns="0" bIns="0" anchor="t"/>
          <a:lstStyle/>
          <a:p>
            <a:pPr algn="r"/>
            <a:r>
              <a:rPr sz="1100" b="0" spc="100">
                <a:solidFill>
                  <a:srgbClr val="9AACBC"/>
                </a:solidFill>
                <a:latin typeface="Fira Code"/>
              </a:rPr>
              <a:t>04</a:t>
            </a:r>
          </a:p>
        </p:txBody>
      </p:sp>
      <p:sp>
        <p:nvSpPr>
          <p:cNvPr id="32" name="TextBox 31"/>
          <p:cNvSpPr txBox="1"/>
          <p:nvPr/>
        </p:nvSpPr>
        <p:spPr>
          <a:xfrm>
            <a:off x="7424927" y="1417320"/>
            <a:ext cx="1984248" cy="548640"/>
          </a:xfrm>
          <a:prstGeom prst="rect">
            <a:avLst/>
          </a:prstGeom>
          <a:noFill/>
        </p:spPr>
        <p:txBody>
          <a:bodyPr wrap="square" lIns="0" rIns="0" tIns="0" bIns="0" anchor="t"/>
          <a:lstStyle/>
          <a:p>
            <a:pPr algn="l"/>
            <a:r>
              <a:rPr sz="3400" b="1">
                <a:solidFill>
                  <a:srgbClr val="22D3EE"/>
                </a:solidFill>
                <a:latin typeface="Anantason Condensed"/>
              </a:rPr>
              <a:t>4.0-7.1</a:t>
            </a:r>
            <a:r>
              <a:rPr sz="2200" b="1">
                <a:solidFill>
                  <a:srgbClr val="22D3EE"/>
                </a:solidFill>
                <a:latin typeface="Anantason Condensed"/>
              </a:rPr>
              <a:t> pp/W</a:t>
            </a:r>
          </a:p>
        </p:txBody>
      </p:sp>
      <p:cxnSp>
        <p:nvCxnSpPr>
          <p:cNvPr id="33" name="Connector 32"/>
          <p:cNvCxnSpPr/>
          <p:nvPr/>
        </p:nvCxnSpPr>
        <p:spPr>
          <a:xfrm>
            <a:off x="7424927" y="1965960"/>
            <a:ext cx="1911097"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24927" y="2011680"/>
            <a:ext cx="1947672" cy="1170432"/>
          </a:xfrm>
          <a:prstGeom prst="rect">
            <a:avLst/>
          </a:prstGeom>
          <a:noFill/>
        </p:spPr>
        <p:txBody>
          <a:bodyPr wrap="square" lIns="0" rIns="0" tIns="0" bIns="0" anchor="t"/>
          <a:lstStyle/>
          <a:p>
            <a:pPr algn="l"/>
            <a:r>
              <a:rPr sz="1400" b="0">
                <a:solidFill>
                  <a:srgbClr val="D9E2EA"/>
                </a:solidFill>
                <a:latin typeface="Lato"/>
              </a:rPr>
              <a:t>Reliability per extra watt versus reactive multipath </a:t>
            </a:r>
            <a:r>
              <a:rPr sz="1400" b="1">
                <a:solidFill>
                  <a:srgbClr val="F59E0B"/>
                </a:solidFill>
                <a:latin typeface="Lato"/>
              </a:rPr>
              <a:t>(16.9–24.5 in D)</a:t>
            </a:r>
          </a:p>
        </p:txBody>
      </p:sp>
      <p:sp>
        <p:nvSpPr>
          <p:cNvPr id="35" name="Rectangle 34"/>
          <p:cNvSpPr/>
          <p:nvPr/>
        </p:nvSpPr>
        <p:spPr>
          <a:xfrm>
            <a:off x="9582912" y="1371600"/>
            <a:ext cx="2057400" cy="182880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954512" y="1399032"/>
            <a:ext cx="621792" cy="182880"/>
          </a:xfrm>
          <a:prstGeom prst="rect">
            <a:avLst/>
          </a:prstGeom>
          <a:noFill/>
        </p:spPr>
        <p:txBody>
          <a:bodyPr wrap="square" lIns="0" rIns="0" tIns="0" bIns="0" anchor="t"/>
          <a:lstStyle/>
          <a:p>
            <a:pPr algn="r"/>
            <a:r>
              <a:rPr sz="1100" b="0" spc="100">
                <a:solidFill>
                  <a:srgbClr val="9AACBC"/>
                </a:solidFill>
                <a:latin typeface="Fira Code"/>
              </a:rPr>
              <a:t>05</a:t>
            </a:r>
          </a:p>
        </p:txBody>
      </p:sp>
      <p:sp>
        <p:nvSpPr>
          <p:cNvPr id="37" name="TextBox 36"/>
          <p:cNvSpPr txBox="1"/>
          <p:nvPr/>
        </p:nvSpPr>
        <p:spPr>
          <a:xfrm>
            <a:off x="9692640" y="1417320"/>
            <a:ext cx="1911095" cy="548640"/>
          </a:xfrm>
          <a:prstGeom prst="rect">
            <a:avLst/>
          </a:prstGeom>
          <a:noFill/>
        </p:spPr>
        <p:txBody>
          <a:bodyPr wrap="square" lIns="0" rIns="0" tIns="0" bIns="0" anchor="t"/>
          <a:lstStyle/>
          <a:p>
            <a:pPr algn="l"/>
            <a:r>
              <a:rPr sz="3400" b="1">
                <a:solidFill>
                  <a:srgbClr val="22D3EE"/>
                </a:solidFill>
                <a:latin typeface="Anantason Condensed"/>
              </a:rPr>
              <a:t>4.5-21</a:t>
            </a:r>
            <a:r>
              <a:rPr sz="2200" b="1">
                <a:solidFill>
                  <a:srgbClr val="22D3EE"/>
                </a:solidFill>
                <a:latin typeface="Anantason Condensed"/>
              </a:rPr>
              <a:t>×</a:t>
            </a:r>
          </a:p>
        </p:txBody>
      </p:sp>
      <p:cxnSp>
        <p:nvCxnSpPr>
          <p:cNvPr id="38" name="Connector 37"/>
          <p:cNvCxnSpPr/>
          <p:nvPr/>
        </p:nvCxnSpPr>
        <p:spPr>
          <a:xfrm>
            <a:off x="9692640" y="1965960"/>
            <a:ext cx="1837944" cy="0"/>
          </a:xfrm>
          <a:prstGeom prst="line">
            <a:avLst/>
          </a:prstGeom>
          <a:ln w="9525">
            <a:solidFill>
              <a:srgbClr val="34485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692640" y="2011680"/>
            <a:ext cx="1874519" cy="1170432"/>
          </a:xfrm>
          <a:prstGeom prst="rect">
            <a:avLst/>
          </a:prstGeom>
          <a:noFill/>
        </p:spPr>
        <p:txBody>
          <a:bodyPr wrap="square" lIns="0" rIns="0" tIns="0" bIns="0" anchor="t"/>
          <a:lstStyle/>
          <a:p>
            <a:pPr algn="l"/>
            <a:r>
              <a:rPr sz="1400" b="0">
                <a:solidFill>
                  <a:srgbClr val="D9E2EA"/>
                </a:solidFill>
                <a:latin typeface="Lato"/>
              </a:rPr>
              <a:t>FlexiPath's extra watts give 4.5–21× more reliability than always duplicate's </a:t>
            </a:r>
            <a:r>
              <a:rPr sz="1400" b="1">
                <a:solidFill>
                  <a:srgbClr val="F59E0B"/>
                </a:solidFill>
                <a:latin typeface="Lato"/>
              </a:rPr>
              <a:t>0.3–0.9 pp/W</a:t>
            </a:r>
          </a:p>
        </p:txBody>
      </p:sp>
      <p:pic>
        <p:nvPicPr>
          <p:cNvPr id="40" name="chart reliability vs power" descr="chart.png"/>
          <p:cNvPicPr>
            <a:picLocks noChangeAspect="1"/>
          </p:cNvPicPr>
          <p:nvPr/>
        </p:nvPicPr>
        <p:blipFill>
          <a:blip r:embed="rId3"/>
          <a:stretch>
            <a:fillRect/>
          </a:stretch>
        </p:blipFill>
        <p:spPr>
          <a:xfrm>
            <a:off x="548640" y="3328416"/>
            <a:ext cx="4343400" cy="2551747"/>
          </a:xfrm>
          <a:prstGeom prst="rect">
            <a:avLst/>
          </a:prstGeom>
        </p:spPr>
      </p:pic>
      <p:cxnSp>
        <p:nvCxnSpPr>
          <p:cNvPr id="41" name="Connector 40"/>
          <p:cNvCxnSpPr/>
          <p:nvPr/>
        </p:nvCxnSpPr>
        <p:spPr>
          <a:xfrm>
            <a:off x="502920" y="3282696"/>
            <a:ext cx="182880"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02920" y="3282696"/>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4754879" y="3282696"/>
            <a:ext cx="182880"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937759" y="3282696"/>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2920" y="5925883"/>
            <a:ext cx="182880"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502920" y="5743003"/>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754879" y="5925883"/>
            <a:ext cx="182880"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937759" y="5743003"/>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120640" y="3291840"/>
            <a:ext cx="6519672" cy="914400"/>
          </a:xfrm>
          <a:prstGeom prst="rect">
            <a:avLst/>
          </a:prstGeom>
          <a:noFill/>
        </p:spPr>
        <p:txBody>
          <a:bodyPr wrap="square" lIns="0" rIns="0" tIns="0" bIns="0" anchor="t"/>
          <a:lstStyle/>
          <a:p>
            <a:pPr algn="l"/>
            <a:r>
              <a:rPr sz="1400" b="0">
                <a:solidFill>
                  <a:srgbClr val="D9E2EA"/>
                </a:solidFill>
                <a:latin typeface="Lato"/>
              </a:rPr>
              <a:t>Reliability against radio power, scenarios A–D, G and H (paired means). FlexiPath is between the two existing designs. It gives 0.6–1.2 points more critical delivery than reactive multipath for 0.05–0.18 W more. It uses 2.1–2.6× less power than always duplicate.</a:t>
            </a:r>
          </a:p>
        </p:txBody>
      </p:sp>
      <p:sp>
        <p:nvSpPr>
          <p:cNvPr id="50" name="TextBox 49"/>
          <p:cNvSpPr txBox="1"/>
          <p:nvPr/>
        </p:nvSpPr>
        <p:spPr>
          <a:xfrm>
            <a:off x="5120640" y="4224528"/>
            <a:ext cx="6519672" cy="274320"/>
          </a:xfrm>
          <a:prstGeom prst="rect">
            <a:avLst/>
          </a:prstGeom>
          <a:noFill/>
        </p:spPr>
        <p:txBody>
          <a:bodyPr wrap="square" lIns="0" rIns="0" tIns="0" bIns="0" anchor="t"/>
          <a:lstStyle/>
          <a:p>
            <a:pPr algn="l"/>
            <a:r>
              <a:rPr sz="1400" b="1">
                <a:solidFill>
                  <a:srgbClr val="F3F7FA"/>
                </a:solidFill>
                <a:latin typeface="Lato"/>
              </a:rPr>
              <a:t>Flights that keep C2 under the piloted 300 ms rule</a:t>
            </a:r>
          </a:p>
        </p:txBody>
      </p:sp>
      <p:graphicFrame>
        <p:nvGraphicFramePr>
          <p:cNvPr id="51" name="table C2 kept"/>
          <p:cNvGraphicFramePr>
            <a:graphicFrameLocks noGrp="1"/>
          </p:cNvGraphicFramePr>
          <p:nvPr/>
        </p:nvGraphicFramePr>
        <p:xfrm>
          <a:off x="5120640" y="4517136"/>
          <a:ext cx="6519672" cy="1280160"/>
        </p:xfrm>
        <a:graphic>
          <a:graphicData uri="http://schemas.openxmlformats.org/drawingml/2006/table">
            <a:tbl>
              <a:tblPr firstRow="0" bandRow="0">
                <a:tableStyleId>{2D5ABB26-0587-4C30-8999-92F81FD0307C}</a:tableStyleId>
              </a:tblPr>
              <a:tblGrid>
                <a:gridCol w="2103120"/>
                <a:gridCol w="731520"/>
                <a:gridCol w="1463040"/>
                <a:gridCol w="1371600"/>
                <a:gridCol w="850392"/>
              </a:tblGrid>
              <a:tr h="256032">
                <a:tc>
                  <a:txBody>
                    <a:bodyPr/>
                    <a:lstStyle/>
                    <a:p>
                      <a:pPr algn="l"/>
                      <a:r>
                        <a:rPr sz="1300">
                          <a:solidFill>
                            <a:srgbClr val="9AACBC"/>
                          </a:solidFill>
                          <a:latin typeface="Lato"/>
                        </a:rPr>
                        <a:t/>
                      </a:r>
                    </a:p>
                  </a:txBody>
                  <a:tcPr marL="54864" marR="54864" marT="0" marB="0" anchor="ctr">
                    <a:solidFill>
                      <a:srgbClr val="131C26"/>
                    </a:solidFill>
                  </a:tcPr>
                </a:tc>
                <a:tc>
                  <a:txBody>
                    <a:bodyPr/>
                    <a:lstStyle/>
                    <a:p>
                      <a:pPr algn="ctr"/>
                      <a:r>
                        <a:rPr sz="1300">
                          <a:solidFill>
                            <a:srgbClr val="9AACBC"/>
                          </a:solidFill>
                          <a:latin typeface="Lato"/>
                        </a:rPr>
                        <a:t>Legacy</a:t>
                      </a:r>
                    </a:p>
                  </a:txBody>
                  <a:tcPr marL="54864" marR="54864" marT="0" marB="0" anchor="ctr">
                    <a:solidFill>
                      <a:srgbClr val="131C26"/>
                    </a:solidFill>
                  </a:tcPr>
                </a:tc>
                <a:tc>
                  <a:txBody>
                    <a:bodyPr/>
                    <a:lstStyle/>
                    <a:p>
                      <a:pPr algn="ctr"/>
                      <a:r>
                        <a:rPr sz="1300">
                          <a:solidFill>
                            <a:srgbClr val="9AACBC"/>
                          </a:solidFill>
                          <a:latin typeface="Lato"/>
                        </a:rPr>
                        <a:t>Reactive multipath</a:t>
                      </a:r>
                    </a:p>
                  </a:txBody>
                  <a:tcPr marL="54864" marR="54864" marT="0" marB="0" anchor="ctr">
                    <a:solidFill>
                      <a:srgbClr val="131C26"/>
                    </a:solidFill>
                  </a:tcPr>
                </a:tc>
                <a:tc>
                  <a:txBody>
                    <a:bodyPr/>
                    <a:lstStyle/>
                    <a:p>
                      <a:pPr algn="ctr"/>
                      <a:r>
                        <a:rPr sz="1300">
                          <a:solidFill>
                            <a:srgbClr val="9AACBC"/>
                          </a:solidFill>
                          <a:latin typeface="Lato"/>
                        </a:rPr>
                        <a:t>Always duplicate</a:t>
                      </a:r>
                    </a:p>
                  </a:txBody>
                  <a:tcPr marL="54864" marR="54864" marT="0" marB="0" anchor="ctr">
                    <a:solidFill>
                      <a:srgbClr val="131C26"/>
                    </a:solidFill>
                  </a:tcPr>
                </a:tc>
                <a:tc>
                  <a:txBody>
                    <a:bodyPr/>
                    <a:lstStyle/>
                    <a:p>
                      <a:pPr algn="ctr"/>
                      <a:r>
                        <a:rPr sz="1300" b="1">
                          <a:solidFill>
                            <a:srgbClr val="22D3EE"/>
                          </a:solidFill>
                          <a:latin typeface="Lato"/>
                        </a:rPr>
                        <a:t>FlexiPath</a:t>
                      </a:r>
                    </a:p>
                  </a:txBody>
                  <a:tcPr marL="54864" marR="54864" marT="0" marB="0" anchor="ctr">
                    <a:solidFill>
                      <a:srgbClr val="131C26"/>
                    </a:solidFill>
                  </a:tcPr>
                </a:tc>
              </a:tr>
              <a:tr h="256032">
                <a:tc>
                  <a:txBody>
                    <a:bodyPr/>
                    <a:lstStyle/>
                    <a:p>
                      <a:pPr algn="l"/>
                      <a:r>
                        <a:rPr sz="1400">
                          <a:solidFill>
                            <a:srgbClr val="D9E2EA"/>
                          </a:solidFill>
                          <a:latin typeface="Lato"/>
                        </a:rPr>
                        <a:t>A, B, C</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D9E2EA"/>
                          </a:solidFill>
                          <a:latin typeface="Fira Code"/>
                        </a:rPr>
                        <a:t>100</a:t>
                      </a:r>
                    </a:p>
                  </a:txBody>
                  <a:tcPr marL="54864" marR="54864" marT="0" marB="0" anchor="ctr">
                    <a:solidFill>
                      <a:srgbClr val="0F161E"/>
                    </a:solidFill>
                  </a:tcPr>
                </a:tc>
                <a:tc>
                  <a:txBody>
                    <a:bodyPr/>
                    <a:lstStyle/>
                    <a:p>
                      <a:pPr algn="ctr"/>
                      <a:r>
                        <a:rPr sz="1400" b="1">
                          <a:solidFill>
                            <a:srgbClr val="D9E2EA"/>
                          </a:solidFill>
                          <a:latin typeface="Fira Code"/>
                        </a:rPr>
                        <a:t>100</a:t>
                      </a:r>
                    </a:p>
                  </a:txBody>
                  <a:tcPr marL="54864" marR="54864" marT="0" marB="0" anchor="ctr">
                    <a:solidFill>
                      <a:srgbClr val="0F161E"/>
                    </a:solidFill>
                  </a:tcPr>
                </a:tc>
                <a:tc>
                  <a:txBody>
                    <a:bodyPr/>
                    <a:lstStyle/>
                    <a:p>
                      <a:pPr algn="ctr"/>
                      <a:r>
                        <a:rPr sz="1400" b="1">
                          <a:solidFill>
                            <a:srgbClr val="22D3EE"/>
                          </a:solidFill>
                          <a:latin typeface="Fira Code"/>
                        </a:rPr>
                        <a:t>100</a:t>
                      </a:r>
                    </a:p>
                  </a:txBody>
                  <a:tcPr marL="54864" marR="54864" marT="0" marB="0" anchor="ctr">
                    <a:solidFill>
                      <a:srgbClr val="0F161E"/>
                    </a:solidFill>
                  </a:tcPr>
                </a:tc>
              </a:tr>
              <a:tr h="256032">
                <a:tc>
                  <a:txBody>
                    <a:bodyPr/>
                    <a:lstStyle/>
                    <a:p>
                      <a:pPr algn="l"/>
                      <a:r>
                        <a:rPr sz="1400">
                          <a:solidFill>
                            <a:srgbClr val="D9E2EA"/>
                          </a:solidFill>
                          <a:latin typeface="Lato"/>
                        </a:rPr>
                        <a:t>D</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D9E2EA"/>
                          </a:solidFill>
                          <a:latin typeface="Fira Code"/>
                        </a:rPr>
                        <a:t>100</a:t>
                      </a:r>
                    </a:p>
                  </a:txBody>
                  <a:tcPr marL="54864" marR="54864" marT="0" marB="0" anchor="ctr">
                    <a:solidFill>
                      <a:srgbClr val="0F161E"/>
                    </a:solidFill>
                  </a:tcPr>
                </a:tc>
                <a:tc>
                  <a:txBody>
                    <a:bodyPr/>
                    <a:lstStyle/>
                    <a:p>
                      <a:pPr algn="ctr"/>
                      <a:r>
                        <a:rPr sz="1400" b="1">
                          <a:solidFill>
                            <a:srgbClr val="22D3EE"/>
                          </a:solidFill>
                          <a:latin typeface="Fira Code"/>
                        </a:rPr>
                        <a:t>100</a:t>
                      </a:r>
                    </a:p>
                  </a:txBody>
                  <a:tcPr marL="54864" marR="54864" marT="0" marB="0" anchor="ctr">
                    <a:solidFill>
                      <a:srgbClr val="0F161E"/>
                    </a:solidFill>
                  </a:tcPr>
                </a:tc>
              </a:tr>
              <a:tr h="256032">
                <a:tc>
                  <a:txBody>
                    <a:bodyPr/>
                    <a:lstStyle/>
                    <a:p>
                      <a:pPr algn="l"/>
                      <a:r>
                        <a:rPr sz="1400">
                          <a:solidFill>
                            <a:srgbClr val="D9E2EA"/>
                          </a:solidFill>
                          <a:latin typeface="Lato"/>
                        </a:rPr>
                        <a:t>G, shared radio shadow</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F59E0B"/>
                          </a:solidFill>
                          <a:latin typeface="Fira Code"/>
                        </a:rPr>
                        <a:t>40</a:t>
                      </a:r>
                    </a:p>
                  </a:txBody>
                  <a:tcPr marL="54864" marR="54864" marT="0" marB="0" anchor="ctr">
                    <a:solidFill>
                      <a:srgbClr val="0F161E"/>
                    </a:solidFill>
                  </a:tcPr>
                </a:tc>
                <a:tc>
                  <a:txBody>
                    <a:bodyPr/>
                    <a:lstStyle/>
                    <a:p>
                      <a:pPr algn="ctr"/>
                      <a:r>
                        <a:rPr sz="1400" b="1">
                          <a:solidFill>
                            <a:srgbClr val="22D3EE"/>
                          </a:solidFill>
                          <a:latin typeface="Fira Code"/>
                        </a:rPr>
                        <a:t>100</a:t>
                      </a:r>
                    </a:p>
                  </a:txBody>
                  <a:tcPr marL="54864" marR="54864" marT="0" marB="0" anchor="ctr">
                    <a:solidFill>
                      <a:srgbClr val="0F161E"/>
                    </a:solidFill>
                  </a:tcPr>
                </a:tc>
              </a:tr>
              <a:tr h="256032">
                <a:tc>
                  <a:txBody>
                    <a:bodyPr/>
                    <a:lstStyle/>
                    <a:p>
                      <a:pPr algn="l"/>
                      <a:r>
                        <a:rPr sz="1400">
                          <a:solidFill>
                            <a:srgbClr val="D9E2EA"/>
                          </a:solidFill>
                          <a:latin typeface="Lato"/>
                        </a:rPr>
                        <a:t>H, map out of date</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F87171"/>
                          </a:solidFill>
                          <a:latin typeface="Fira Code"/>
                        </a:rPr>
                        <a:t>0</a:t>
                      </a:r>
                    </a:p>
                  </a:txBody>
                  <a:tcPr marL="54864" marR="54864" marT="0" marB="0" anchor="ctr">
                    <a:solidFill>
                      <a:srgbClr val="0F161E"/>
                    </a:solidFill>
                  </a:tcPr>
                </a:tc>
                <a:tc>
                  <a:txBody>
                    <a:bodyPr/>
                    <a:lstStyle/>
                    <a:p>
                      <a:pPr algn="ctr"/>
                      <a:r>
                        <a:rPr sz="1400" b="1">
                          <a:solidFill>
                            <a:srgbClr val="D9E2EA"/>
                          </a:solidFill>
                          <a:latin typeface="Fira Code"/>
                        </a:rPr>
                        <a:t>100</a:t>
                      </a:r>
                    </a:p>
                  </a:txBody>
                  <a:tcPr marL="54864" marR="54864" marT="0" marB="0" anchor="ctr">
                    <a:solidFill>
                      <a:srgbClr val="0F161E"/>
                    </a:solidFill>
                  </a:tcPr>
                </a:tc>
                <a:tc>
                  <a:txBody>
                    <a:bodyPr/>
                    <a:lstStyle/>
                    <a:p>
                      <a:pPr algn="ctr"/>
                      <a:r>
                        <a:rPr sz="1400" b="1">
                          <a:solidFill>
                            <a:srgbClr val="22D3EE"/>
                          </a:solidFill>
                          <a:latin typeface="Fira Code"/>
                        </a:rPr>
                        <a:t>100</a:t>
                      </a:r>
                    </a:p>
                  </a:txBody>
                  <a:tcPr marL="54864" marR="54864" marT="0" marB="0" anchor="ctr">
                    <a:solidFill>
                      <a:srgbClr val="0F161E"/>
                    </a:solidFill>
                  </a:tcPr>
                </a:tc>
              </a:tr>
            </a:tbl>
          </a:graphicData>
        </a:graphic>
      </p:graphicFrame>
      <p:sp>
        <p:nvSpPr>
          <p:cNvPr id="52" name="TextBox 51"/>
          <p:cNvSpPr txBox="1"/>
          <p:nvPr/>
        </p:nvSpPr>
        <p:spPr>
          <a:xfrm>
            <a:off x="548640" y="5943600"/>
            <a:ext cx="11091672" cy="694944"/>
          </a:xfrm>
          <a:prstGeom prst="rect">
            <a:avLst/>
          </a:prstGeom>
          <a:noFill/>
        </p:spPr>
        <p:txBody>
          <a:bodyPr wrap="square" lIns="0" rIns="0" tIns="0" bIns="0" anchor="t"/>
          <a:lstStyle/>
          <a:p>
            <a:pPr algn="l"/>
            <a:r>
              <a:rPr sz="1400" b="1">
                <a:solidFill>
                  <a:srgbClr val="F3F7FA"/>
                </a:solidFill>
                <a:latin typeface="Lato"/>
              </a:rPr>
              <a:t>Robustness:</a:t>
            </a:r>
            <a:r>
              <a:rPr sz="1400" b="0">
                <a:solidFill>
                  <a:srgbClr val="D9E2EA"/>
                </a:solidFill>
                <a:latin typeface="Lato"/>
              </a:rPr>
              <a:t> the ablations show trend prediction gives the gain; in our model, the burst adds no measurable reliability. The results hold on held-out seeds. Under the 1 s waypoint rule, every multipath stack keeps C2. So the piloted-rule advantage needs a spare modem that resumes fast.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09 / CRITERION 05</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1005840"/>
          </a:xfrm>
          <a:prstGeom prst="rect">
            <a:avLst/>
          </a:prstGeom>
          <a:noFill/>
        </p:spPr>
        <p:txBody>
          <a:bodyPr wrap="square" lIns="0" rIns="0" tIns="0" bIns="0" anchor="t"/>
          <a:lstStyle/>
          <a:p>
            <a:pPr algn="l"/>
            <a:r>
              <a:rPr sz="3000" b="1" cap="all" spc="50">
                <a:solidFill>
                  <a:srgbClr val="F3F7FA"/>
                </a:solidFill>
                <a:latin typeface="Anantason Condensed"/>
              </a:rPr>
              <a:t>Guidelines for QoS and QoE</a:t>
            </a:r>
          </a:p>
          <a:p>
            <a:pPr algn="l"/>
            <a:r>
              <a:rPr sz="3000" b="1" cap="all" spc="50">
                <a:solidFill>
                  <a:srgbClr val="F3F7FA"/>
                </a:solidFill>
                <a:latin typeface="Anantason Condensed"/>
              </a:rPr>
              <a:t>across heterogeneous networks </a:t>
            </a:r>
            <a:r>
              <a:rPr sz="3000" b="1" cap="all" spc="50">
                <a:solidFill>
                  <a:srgbClr val="22D3EE"/>
                </a:solidFill>
                <a:latin typeface="Anantason Condensed"/>
              </a:rPr>
              <a:t>(criterion 05)</a:t>
            </a:r>
          </a:p>
        </p:txBody>
      </p:sp>
      <p:sp>
        <p:nvSpPr>
          <p:cNvPr id="14" name="Rectangle 13"/>
          <p:cNvSpPr/>
          <p:nvPr/>
        </p:nvSpPr>
        <p:spPr>
          <a:xfrm>
            <a:off x="548640" y="1691640"/>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1691640"/>
            <a:ext cx="548640" cy="438912"/>
          </a:xfrm>
          <a:prstGeom prst="rect">
            <a:avLst/>
          </a:prstGeom>
          <a:noFill/>
        </p:spPr>
        <p:txBody>
          <a:bodyPr wrap="square" lIns="0" rIns="0" tIns="0" bIns="0" anchor="ctr"/>
          <a:lstStyle/>
          <a:p>
            <a:pPr algn="l"/>
            <a:r>
              <a:rPr sz="1600" b="1">
                <a:solidFill>
                  <a:srgbClr val="22D3EE"/>
                </a:solidFill>
                <a:latin typeface="Fira Code"/>
              </a:rPr>
              <a:t>01</a:t>
            </a:r>
          </a:p>
        </p:txBody>
      </p:sp>
      <p:cxnSp>
        <p:nvCxnSpPr>
          <p:cNvPr id="16" name="Connector 15"/>
          <p:cNvCxnSpPr/>
          <p:nvPr/>
        </p:nvCxnSpPr>
        <p:spPr>
          <a:xfrm>
            <a:off x="1188720" y="1783080"/>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25880" y="1691640"/>
            <a:ext cx="7132320" cy="438912"/>
          </a:xfrm>
          <a:prstGeom prst="rect">
            <a:avLst/>
          </a:prstGeom>
          <a:noFill/>
        </p:spPr>
        <p:txBody>
          <a:bodyPr wrap="square" lIns="0" rIns="0" tIns="0" bIns="0" anchor="ctr"/>
          <a:lstStyle/>
          <a:p>
            <a:pPr algn="l"/>
            <a:r>
              <a:rPr sz="1400" b="0">
                <a:solidFill>
                  <a:srgbClr val="D9E2EA"/>
                </a:solidFill>
                <a:latin typeface="Lato"/>
              </a:rPr>
              <a:t>Anchor the session, not the interface — a fixed </a:t>
            </a:r>
            <a:r>
              <a:rPr sz="1400" b="1">
                <a:solidFill>
                  <a:srgbClr val="22D3EE"/>
                </a:solidFill>
                <a:latin typeface="Lato"/>
              </a:rPr>
              <a:t>anchor relay</a:t>
            </a:r>
            <a:r>
              <a:rPr sz="1400" b="0">
                <a:solidFill>
                  <a:srgbClr val="D9E2EA"/>
                </a:solidFill>
                <a:latin typeface="Lato"/>
              </a:rPr>
              <a:t> prevents every reset.</a:t>
            </a:r>
          </a:p>
        </p:txBody>
      </p:sp>
      <p:sp>
        <p:nvSpPr>
          <p:cNvPr id="18" name="Rectangle 17"/>
          <p:cNvSpPr/>
          <p:nvPr/>
        </p:nvSpPr>
        <p:spPr>
          <a:xfrm>
            <a:off x="548640" y="2203704"/>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8368" y="2203704"/>
            <a:ext cx="548640" cy="438912"/>
          </a:xfrm>
          <a:prstGeom prst="rect">
            <a:avLst/>
          </a:prstGeom>
          <a:noFill/>
        </p:spPr>
        <p:txBody>
          <a:bodyPr wrap="square" lIns="0" rIns="0" tIns="0" bIns="0" anchor="ctr"/>
          <a:lstStyle/>
          <a:p>
            <a:pPr algn="l"/>
            <a:r>
              <a:rPr sz="1600" b="1">
                <a:solidFill>
                  <a:srgbClr val="22D3EE"/>
                </a:solidFill>
                <a:latin typeface="Fira Code"/>
              </a:rPr>
              <a:t>02</a:t>
            </a:r>
          </a:p>
        </p:txBody>
      </p:sp>
      <p:cxnSp>
        <p:nvCxnSpPr>
          <p:cNvPr id="20" name="Connector 19"/>
          <p:cNvCxnSpPr/>
          <p:nvPr/>
        </p:nvCxnSpPr>
        <p:spPr>
          <a:xfrm>
            <a:off x="1188720" y="2295144"/>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325880" y="2203704"/>
            <a:ext cx="7132320" cy="438912"/>
          </a:xfrm>
          <a:prstGeom prst="rect">
            <a:avLst/>
          </a:prstGeom>
          <a:noFill/>
        </p:spPr>
        <p:txBody>
          <a:bodyPr wrap="square" lIns="0" rIns="0" tIns="0" bIns="0" anchor="ctr"/>
          <a:lstStyle/>
          <a:p>
            <a:pPr algn="l"/>
            <a:r>
              <a:rPr sz="1400" b="0">
                <a:solidFill>
                  <a:srgbClr val="D9E2EA"/>
                </a:solidFill>
                <a:latin typeface="Lato"/>
              </a:rPr>
              <a:t>Act on the trend, not on the failure — a </a:t>
            </a:r>
            <a:r>
              <a:rPr sz="1400" b="1">
                <a:solidFill>
                  <a:srgbClr val="22D3EE"/>
                </a:solidFill>
                <a:latin typeface="Lato"/>
              </a:rPr>
              <a:t>3 s signal trend</a:t>
            </a:r>
            <a:r>
              <a:rPr sz="1400" b="0">
                <a:solidFill>
                  <a:srgbClr val="D9E2EA"/>
                </a:solidFill>
                <a:latin typeface="Lato"/>
              </a:rPr>
              <a:t> gives seconds of warning.</a:t>
            </a:r>
          </a:p>
        </p:txBody>
      </p:sp>
      <p:sp>
        <p:nvSpPr>
          <p:cNvPr id="22" name="Rectangle 21"/>
          <p:cNvSpPr/>
          <p:nvPr/>
        </p:nvSpPr>
        <p:spPr>
          <a:xfrm>
            <a:off x="548640" y="2715768"/>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2715768"/>
            <a:ext cx="548640" cy="438912"/>
          </a:xfrm>
          <a:prstGeom prst="rect">
            <a:avLst/>
          </a:prstGeom>
          <a:noFill/>
        </p:spPr>
        <p:txBody>
          <a:bodyPr wrap="square" lIns="0" rIns="0" tIns="0" bIns="0" anchor="ctr"/>
          <a:lstStyle/>
          <a:p>
            <a:pPr algn="l"/>
            <a:r>
              <a:rPr sz="1600" b="1">
                <a:solidFill>
                  <a:srgbClr val="22D3EE"/>
                </a:solidFill>
                <a:latin typeface="Fira Code"/>
              </a:rPr>
              <a:t>03</a:t>
            </a:r>
          </a:p>
        </p:txBody>
      </p:sp>
      <p:cxnSp>
        <p:nvCxnSpPr>
          <p:cNvPr id="24" name="Connector 23"/>
          <p:cNvCxnSpPr/>
          <p:nvPr/>
        </p:nvCxnSpPr>
        <p:spPr>
          <a:xfrm>
            <a:off x="1188720" y="2807208"/>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325880" y="2715768"/>
            <a:ext cx="7132320" cy="438912"/>
          </a:xfrm>
          <a:prstGeom prst="rect">
            <a:avLst/>
          </a:prstGeom>
          <a:noFill/>
        </p:spPr>
        <p:txBody>
          <a:bodyPr wrap="square" lIns="0" rIns="0" tIns="0" bIns="0" anchor="ctr"/>
          <a:lstStyle/>
          <a:p>
            <a:pPr algn="l"/>
            <a:r>
              <a:rPr sz="1400" b="0">
                <a:solidFill>
                  <a:srgbClr val="D9E2EA"/>
                </a:solidFill>
                <a:latin typeface="Lato"/>
              </a:rPr>
              <a:t>Prepare the next path just in time, and only then — test it at </a:t>
            </a:r>
            <a:r>
              <a:rPr sz="1400" b="1">
                <a:solidFill>
                  <a:srgbClr val="22D3EE"/>
                </a:solidFill>
                <a:latin typeface="Lato"/>
              </a:rPr>
              <a:t>1.8 W</a:t>
            </a:r>
            <a:r>
              <a:rPr sz="1400" b="0">
                <a:solidFill>
                  <a:srgbClr val="D9E2EA"/>
                </a:solidFill>
                <a:latin typeface="Lato"/>
              </a:rPr>
              <a:t>; do not keep radios on.</a:t>
            </a:r>
          </a:p>
        </p:txBody>
      </p:sp>
      <p:sp>
        <p:nvSpPr>
          <p:cNvPr id="26" name="Rectangle 25"/>
          <p:cNvSpPr/>
          <p:nvPr/>
        </p:nvSpPr>
        <p:spPr>
          <a:xfrm>
            <a:off x="548640" y="3227832"/>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368" y="3227832"/>
            <a:ext cx="548640" cy="438912"/>
          </a:xfrm>
          <a:prstGeom prst="rect">
            <a:avLst/>
          </a:prstGeom>
          <a:noFill/>
        </p:spPr>
        <p:txBody>
          <a:bodyPr wrap="square" lIns="0" rIns="0" tIns="0" bIns="0" anchor="ctr"/>
          <a:lstStyle/>
          <a:p>
            <a:pPr algn="l"/>
            <a:r>
              <a:rPr sz="1600" b="1">
                <a:solidFill>
                  <a:srgbClr val="22D3EE"/>
                </a:solidFill>
                <a:latin typeface="Fira Code"/>
              </a:rPr>
              <a:t>04</a:t>
            </a:r>
          </a:p>
        </p:txBody>
      </p:sp>
      <p:cxnSp>
        <p:nvCxnSpPr>
          <p:cNvPr id="28" name="Connector 27"/>
          <p:cNvCxnSpPr/>
          <p:nvPr/>
        </p:nvCxnSpPr>
        <p:spPr>
          <a:xfrm>
            <a:off x="1188720" y="3319272"/>
            <a:ext cx="0" cy="256031"/>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25880" y="3227832"/>
            <a:ext cx="7132320" cy="438912"/>
          </a:xfrm>
          <a:prstGeom prst="rect">
            <a:avLst/>
          </a:prstGeom>
          <a:noFill/>
        </p:spPr>
        <p:txBody>
          <a:bodyPr wrap="square" lIns="0" rIns="0" tIns="0" bIns="0" anchor="ctr"/>
          <a:lstStyle/>
          <a:p>
            <a:pPr algn="l"/>
            <a:r>
              <a:rPr sz="1400" b="0">
                <a:solidFill>
                  <a:srgbClr val="D9E2EA"/>
                </a:solidFill>
                <a:latin typeface="Lato"/>
              </a:rPr>
              <a:t>Duplicate only what needs it, only around the handover — a </a:t>
            </a:r>
            <a:r>
              <a:rPr sz="1400" b="1">
                <a:solidFill>
                  <a:srgbClr val="22D3EE"/>
                </a:solidFill>
                <a:latin typeface="Lato"/>
              </a:rPr>
              <a:t>400 ms burst</a:t>
            </a:r>
            <a:r>
              <a:rPr sz="1400" b="0">
                <a:solidFill>
                  <a:srgbClr val="D9E2EA"/>
                </a:solidFill>
                <a:latin typeface="Lato"/>
              </a:rPr>
              <a:t> costs ≈ 1 % of protected bytes.</a:t>
            </a:r>
          </a:p>
        </p:txBody>
      </p:sp>
      <p:sp>
        <p:nvSpPr>
          <p:cNvPr id="30" name="Rectangle 29"/>
          <p:cNvSpPr/>
          <p:nvPr/>
        </p:nvSpPr>
        <p:spPr>
          <a:xfrm>
            <a:off x="548640" y="3739896"/>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58368" y="3739896"/>
            <a:ext cx="548640" cy="438912"/>
          </a:xfrm>
          <a:prstGeom prst="rect">
            <a:avLst/>
          </a:prstGeom>
          <a:noFill/>
        </p:spPr>
        <p:txBody>
          <a:bodyPr wrap="square" lIns="0" rIns="0" tIns="0" bIns="0" anchor="ctr"/>
          <a:lstStyle/>
          <a:p>
            <a:pPr algn="l"/>
            <a:r>
              <a:rPr sz="1600" b="1">
                <a:solidFill>
                  <a:srgbClr val="22D3EE"/>
                </a:solidFill>
                <a:latin typeface="Fira Code"/>
              </a:rPr>
              <a:t>05</a:t>
            </a:r>
          </a:p>
        </p:txBody>
      </p:sp>
      <p:cxnSp>
        <p:nvCxnSpPr>
          <p:cNvPr id="32" name="Connector 31"/>
          <p:cNvCxnSpPr/>
          <p:nvPr/>
        </p:nvCxnSpPr>
        <p:spPr>
          <a:xfrm>
            <a:off x="1188720" y="3831335"/>
            <a:ext cx="0" cy="256033"/>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25880" y="3739896"/>
            <a:ext cx="7132320" cy="438912"/>
          </a:xfrm>
          <a:prstGeom prst="rect">
            <a:avLst/>
          </a:prstGeom>
          <a:noFill/>
        </p:spPr>
        <p:txBody>
          <a:bodyPr wrap="square" lIns="0" rIns="0" tIns="0" bIns="0" anchor="ctr"/>
          <a:lstStyle/>
          <a:p>
            <a:pPr algn="l"/>
            <a:r>
              <a:rPr sz="1400" b="0">
                <a:solidFill>
                  <a:srgbClr val="D9E2EA"/>
                </a:solidFill>
                <a:latin typeface="Lato"/>
              </a:rPr>
              <a:t>Deliver the </a:t>
            </a:r>
            <a:r>
              <a:rPr sz="1400" b="1">
                <a:solidFill>
                  <a:srgbClr val="22D3EE"/>
                </a:solidFill>
                <a:latin typeface="Lato"/>
              </a:rPr>
              <a:t>first copy</a:t>
            </a:r>
            <a:r>
              <a:rPr sz="1400" b="0">
                <a:solidFill>
                  <a:srgbClr val="D9E2EA"/>
                </a:solidFill>
                <a:latin typeface="Lato"/>
              </a:rPr>
              <a:t>; never make real-time traffic wait in order.</a:t>
            </a:r>
          </a:p>
        </p:txBody>
      </p:sp>
      <p:sp>
        <p:nvSpPr>
          <p:cNvPr id="34" name="Rectangle 33"/>
          <p:cNvSpPr/>
          <p:nvPr/>
        </p:nvSpPr>
        <p:spPr>
          <a:xfrm>
            <a:off x="548640" y="4251960"/>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58368" y="4251960"/>
            <a:ext cx="548640" cy="438912"/>
          </a:xfrm>
          <a:prstGeom prst="rect">
            <a:avLst/>
          </a:prstGeom>
          <a:noFill/>
        </p:spPr>
        <p:txBody>
          <a:bodyPr wrap="square" lIns="0" rIns="0" tIns="0" bIns="0" anchor="ctr"/>
          <a:lstStyle/>
          <a:p>
            <a:pPr algn="l"/>
            <a:r>
              <a:rPr sz="1600" b="1">
                <a:solidFill>
                  <a:srgbClr val="22D3EE"/>
                </a:solidFill>
                <a:latin typeface="Fira Code"/>
              </a:rPr>
              <a:t>06</a:t>
            </a:r>
          </a:p>
        </p:txBody>
      </p:sp>
      <p:cxnSp>
        <p:nvCxnSpPr>
          <p:cNvPr id="36" name="Connector 35"/>
          <p:cNvCxnSpPr/>
          <p:nvPr/>
        </p:nvCxnSpPr>
        <p:spPr>
          <a:xfrm>
            <a:off x="1188720" y="4343400"/>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325880" y="4251960"/>
            <a:ext cx="7132320" cy="438912"/>
          </a:xfrm>
          <a:prstGeom prst="rect">
            <a:avLst/>
          </a:prstGeom>
          <a:noFill/>
        </p:spPr>
        <p:txBody>
          <a:bodyPr wrap="square" lIns="0" rIns="0" tIns="0" bIns="0" anchor="ctr"/>
          <a:lstStyle/>
          <a:p>
            <a:pPr algn="l"/>
            <a:r>
              <a:rPr sz="1400" b="0">
                <a:solidFill>
                  <a:srgbClr val="D9E2EA"/>
                </a:solidFill>
                <a:latin typeface="Lato"/>
              </a:rPr>
              <a:t>Detect a failed path faster than the application allows — within the </a:t>
            </a:r>
            <a:r>
              <a:rPr sz="1400" b="1">
                <a:solidFill>
                  <a:srgbClr val="22D3EE"/>
                </a:solidFill>
                <a:latin typeface="Lato"/>
              </a:rPr>
              <a:t>300 ms C2</a:t>
            </a:r>
            <a:r>
              <a:rPr sz="1400" b="0">
                <a:solidFill>
                  <a:srgbClr val="D9E2EA"/>
                </a:solidFill>
                <a:latin typeface="Lato"/>
              </a:rPr>
              <a:t> budget.</a:t>
            </a:r>
          </a:p>
        </p:txBody>
      </p:sp>
      <p:sp>
        <p:nvSpPr>
          <p:cNvPr id="38" name="Rectangle 37"/>
          <p:cNvSpPr/>
          <p:nvPr/>
        </p:nvSpPr>
        <p:spPr>
          <a:xfrm>
            <a:off x="548640" y="4764024"/>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58368" y="4764024"/>
            <a:ext cx="548640" cy="438912"/>
          </a:xfrm>
          <a:prstGeom prst="rect">
            <a:avLst/>
          </a:prstGeom>
          <a:noFill/>
        </p:spPr>
        <p:txBody>
          <a:bodyPr wrap="square" lIns="0" rIns="0" tIns="0" bIns="0" anchor="ctr"/>
          <a:lstStyle/>
          <a:p>
            <a:pPr algn="l"/>
            <a:r>
              <a:rPr sz="1600" b="1">
                <a:solidFill>
                  <a:srgbClr val="22D3EE"/>
                </a:solidFill>
                <a:latin typeface="Fira Code"/>
              </a:rPr>
              <a:t>07</a:t>
            </a:r>
          </a:p>
        </p:txBody>
      </p:sp>
      <p:cxnSp>
        <p:nvCxnSpPr>
          <p:cNvPr id="40" name="Connector 39"/>
          <p:cNvCxnSpPr/>
          <p:nvPr/>
        </p:nvCxnSpPr>
        <p:spPr>
          <a:xfrm>
            <a:off x="1188720" y="4855464"/>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325880" y="4764024"/>
            <a:ext cx="7132320" cy="438912"/>
          </a:xfrm>
          <a:prstGeom prst="rect">
            <a:avLst/>
          </a:prstGeom>
          <a:noFill/>
        </p:spPr>
        <p:txBody>
          <a:bodyPr wrap="square" lIns="0" rIns="0" tIns="0" bIns="0" anchor="ctr"/>
          <a:lstStyle/>
          <a:p>
            <a:pPr algn="l"/>
            <a:r>
              <a:rPr sz="1400" b="1">
                <a:solidFill>
                  <a:srgbClr val="22D3EE"/>
                </a:solidFill>
                <a:latin typeface="Lato"/>
              </a:rPr>
              <a:t>Hold still</a:t>
            </a:r>
            <a:r>
              <a:rPr sz="1400" b="0">
                <a:solidFill>
                  <a:srgbClr val="D9E2EA"/>
                </a:solidFill>
                <a:latin typeface="Lato"/>
              </a:rPr>
              <a:t> unless a move clearly helps — a reversed trend cancels the prediction at no cost.</a:t>
            </a:r>
          </a:p>
        </p:txBody>
      </p:sp>
      <p:sp>
        <p:nvSpPr>
          <p:cNvPr id="42" name="Rectangle 41"/>
          <p:cNvSpPr/>
          <p:nvPr/>
        </p:nvSpPr>
        <p:spPr>
          <a:xfrm>
            <a:off x="548640" y="5276088"/>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58368" y="5276088"/>
            <a:ext cx="548640" cy="438912"/>
          </a:xfrm>
          <a:prstGeom prst="rect">
            <a:avLst/>
          </a:prstGeom>
          <a:noFill/>
        </p:spPr>
        <p:txBody>
          <a:bodyPr wrap="square" lIns="0" rIns="0" tIns="0" bIns="0" anchor="ctr"/>
          <a:lstStyle/>
          <a:p>
            <a:pPr algn="l"/>
            <a:r>
              <a:rPr sz="1600" b="1">
                <a:solidFill>
                  <a:srgbClr val="22D3EE"/>
                </a:solidFill>
                <a:latin typeface="Fira Code"/>
              </a:rPr>
              <a:t>08</a:t>
            </a:r>
          </a:p>
        </p:txBody>
      </p:sp>
      <p:cxnSp>
        <p:nvCxnSpPr>
          <p:cNvPr id="44" name="Connector 43"/>
          <p:cNvCxnSpPr/>
          <p:nvPr/>
        </p:nvCxnSpPr>
        <p:spPr>
          <a:xfrm>
            <a:off x="1188720" y="5367528"/>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325880" y="5276088"/>
            <a:ext cx="7132320" cy="438912"/>
          </a:xfrm>
          <a:prstGeom prst="rect">
            <a:avLst/>
          </a:prstGeom>
          <a:noFill/>
        </p:spPr>
        <p:txBody>
          <a:bodyPr wrap="square" lIns="0" rIns="0" tIns="0" bIns="0" anchor="ctr"/>
          <a:lstStyle/>
          <a:p>
            <a:pPr algn="l"/>
            <a:r>
              <a:rPr sz="1400" b="0">
                <a:solidFill>
                  <a:srgbClr val="D9E2EA"/>
                </a:solidFill>
                <a:latin typeface="Lato"/>
              </a:rPr>
              <a:t>Measure what </a:t>
            </a:r>
            <a:r>
              <a:rPr sz="1400" b="1">
                <a:solidFill>
                  <a:srgbClr val="22D3EE"/>
                </a:solidFill>
                <a:latin typeface="Lato"/>
              </a:rPr>
              <a:t>users feel</a:t>
            </a:r>
            <a:r>
              <a:rPr sz="1400" b="0">
                <a:solidFill>
                  <a:srgbClr val="D9E2EA"/>
                </a:solidFill>
                <a:latin typeface="Lato"/>
              </a:rPr>
              <a:t>, on matched pairs: interruption, delivery, voice MOS, power, same seeds.</a:t>
            </a:r>
          </a:p>
        </p:txBody>
      </p:sp>
      <p:sp>
        <p:nvSpPr>
          <p:cNvPr id="46" name="Rectangle 45"/>
          <p:cNvSpPr/>
          <p:nvPr/>
        </p:nvSpPr>
        <p:spPr>
          <a:xfrm>
            <a:off x="548640" y="5788152"/>
            <a:ext cx="8001000" cy="438912"/>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58368" y="5788152"/>
            <a:ext cx="548640" cy="438912"/>
          </a:xfrm>
          <a:prstGeom prst="rect">
            <a:avLst/>
          </a:prstGeom>
          <a:noFill/>
        </p:spPr>
        <p:txBody>
          <a:bodyPr wrap="square" lIns="0" rIns="0" tIns="0" bIns="0" anchor="ctr"/>
          <a:lstStyle/>
          <a:p>
            <a:pPr algn="l"/>
            <a:r>
              <a:rPr sz="1600" b="1">
                <a:solidFill>
                  <a:srgbClr val="22D3EE"/>
                </a:solidFill>
                <a:latin typeface="Fira Code"/>
              </a:rPr>
              <a:t>09</a:t>
            </a:r>
          </a:p>
        </p:txBody>
      </p:sp>
      <p:cxnSp>
        <p:nvCxnSpPr>
          <p:cNvPr id="48" name="Connector 47"/>
          <p:cNvCxnSpPr/>
          <p:nvPr/>
        </p:nvCxnSpPr>
        <p:spPr>
          <a:xfrm>
            <a:off x="1188720" y="5879592"/>
            <a:ext cx="0" cy="256032"/>
          </a:xfrm>
          <a:prstGeom prst="line">
            <a:avLst/>
          </a:prstGeom>
          <a:ln w="15875">
            <a:solidFill>
              <a:srgbClr val="0E556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325880" y="5788152"/>
            <a:ext cx="7132320" cy="438912"/>
          </a:xfrm>
          <a:prstGeom prst="rect">
            <a:avLst/>
          </a:prstGeom>
          <a:noFill/>
        </p:spPr>
        <p:txBody>
          <a:bodyPr wrap="square" lIns="0" rIns="0" tIns="0" bIns="0" anchor="ctr"/>
          <a:lstStyle/>
          <a:p>
            <a:pPr algn="l"/>
            <a:r>
              <a:rPr sz="1400" b="0">
                <a:solidFill>
                  <a:srgbClr val="D9E2EA"/>
                </a:solidFill>
                <a:latin typeface="Lato"/>
              </a:rPr>
              <a:t>Use what you know about the route — a </a:t>
            </a:r>
            <a:r>
              <a:rPr sz="1400" b="1">
                <a:solidFill>
                  <a:srgbClr val="22D3EE"/>
                </a:solidFill>
                <a:latin typeface="Lato"/>
              </a:rPr>
              <a:t>coverage map</a:t>
            </a:r>
            <a:r>
              <a:rPr sz="1400" b="0">
                <a:solidFill>
                  <a:srgbClr val="D9E2EA"/>
                </a:solidFill>
                <a:latin typeface="Lato"/>
              </a:rPr>
              <a:t> is better than reaction if two radios fail together.</a:t>
            </a:r>
          </a:p>
        </p:txBody>
      </p:sp>
      <p:pic>
        <p:nvPicPr>
          <p:cNvPr id="50" name="feed FEED 02  ·  CORRIDOR" descr="feed_road_v.png"/>
          <p:cNvPicPr>
            <a:picLocks noChangeAspect="1"/>
          </p:cNvPicPr>
          <p:nvPr/>
        </p:nvPicPr>
        <p:blipFill>
          <a:blip r:embed="rId3"/>
          <a:stretch>
            <a:fillRect/>
          </a:stretch>
        </p:blipFill>
        <p:spPr>
          <a:xfrm>
            <a:off x="8915400" y="1691640"/>
            <a:ext cx="2724912" cy="4535424"/>
          </a:xfrm>
          <a:prstGeom prst="rect">
            <a:avLst/>
          </a:prstGeom>
        </p:spPr>
      </p:pic>
      <p:sp>
        <p:nvSpPr>
          <p:cNvPr id="51" name="Rectangle 50"/>
          <p:cNvSpPr/>
          <p:nvPr/>
        </p:nvSpPr>
        <p:spPr>
          <a:xfrm>
            <a:off x="8915400" y="1691640"/>
            <a:ext cx="2724912" cy="4535424"/>
          </a:xfrm>
          <a:prstGeom prst="rect">
            <a:avLst/>
          </a:prstGeom>
          <a:no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52" name="Connector 51"/>
          <p:cNvCxnSpPr/>
          <p:nvPr/>
        </p:nvCxnSpPr>
        <p:spPr>
          <a:xfrm>
            <a:off x="8860536" y="1636776"/>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860536" y="163677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11494007" y="1636776"/>
            <a:ext cx="20116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695176" y="1636776"/>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860536" y="6281928"/>
            <a:ext cx="201168"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860536" y="6080760"/>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11494007" y="6281928"/>
            <a:ext cx="20116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11695176" y="6080760"/>
            <a:ext cx="0" cy="201168"/>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9043416" y="1819656"/>
            <a:ext cx="109728" cy="10972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208008" y="1764792"/>
            <a:ext cx="2194560" cy="237744"/>
          </a:xfrm>
          <a:prstGeom prst="rect">
            <a:avLst/>
          </a:prstGeom>
          <a:noFill/>
        </p:spPr>
        <p:txBody>
          <a:bodyPr wrap="square" lIns="0" rIns="0" tIns="0" bIns="0" anchor="t"/>
          <a:lstStyle/>
          <a:p>
            <a:pPr algn="l"/>
            <a:r>
              <a:rPr sz="1100" b="0" spc="100">
                <a:solidFill>
                  <a:srgbClr val="22D3EE"/>
                </a:solidFill>
                <a:latin typeface="Fira Code"/>
              </a:rPr>
              <a:t>FEED 02  ·  CORRIDOR</a:t>
            </a:r>
          </a:p>
        </p:txBody>
      </p:sp>
      <p:cxnSp>
        <p:nvCxnSpPr>
          <p:cNvPr id="62" name="Connector 61"/>
          <p:cNvCxnSpPr/>
          <p:nvPr/>
        </p:nvCxnSpPr>
        <p:spPr>
          <a:xfrm>
            <a:off x="10113264" y="3959352"/>
            <a:ext cx="109728" cy="0"/>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332720" y="3959352"/>
            <a:ext cx="109728" cy="0"/>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277856" y="3794760"/>
            <a:ext cx="0" cy="109728"/>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277856" y="4014215"/>
            <a:ext cx="0" cy="109729"/>
          </a:xfrm>
          <a:prstGeom prst="line">
            <a:avLst/>
          </a:prstGeom>
          <a:ln w="12700">
            <a:solidFill>
              <a:srgbClr val="22D3EE">
                <a:alpha val="70000"/>
              </a:srgbClr>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grid" descr="bg.png"/>
          <p:cNvPicPr>
            <a:picLocks noChangeAspect="1"/>
          </p:cNvPicPr>
          <p:nvPr/>
        </p:nvPicPr>
        <p:blipFill>
          <a:blip r:embed="rId2"/>
          <a:stretch>
            <a:fillRect/>
          </a:stretch>
        </p:blipFill>
        <p:spPr>
          <a:xfrm>
            <a:off x="0" y="0"/>
            <a:ext cx="12191695" cy="6858000"/>
          </a:xfrm>
          <a:prstGeom prst="rect">
            <a:avLst/>
          </a:prstGeom>
        </p:spPr>
      </p:pic>
      <p:cxnSp>
        <p:nvCxnSpPr>
          <p:cNvPr id="3" name="Connector 2"/>
          <p:cNvCxnSpPr/>
          <p:nvPr/>
        </p:nvCxnSpPr>
        <p:spPr>
          <a:xfrm>
            <a:off x="201168"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201168"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697919" y="201168"/>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990527" y="201168"/>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1168"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1168"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1697919" y="6656831"/>
            <a:ext cx="292608" cy="0"/>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990527" y="6364223"/>
            <a:ext cx="0" cy="292608"/>
          </a:xfrm>
          <a:prstGeom prst="line">
            <a:avLst/>
          </a:prstGeom>
          <a:ln w="15875">
            <a:solidFill>
              <a:srgbClr val="34485A"/>
            </a:solidFill>
          </a:ln>
        </p:spPr>
        <p:style>
          <a:lnRef idx="2">
            <a:schemeClr val="accent1"/>
          </a:lnRef>
          <a:fillRef idx="0">
            <a:schemeClr val="accent1"/>
          </a:fillRef>
          <a:effectRef idx="1">
            <a:schemeClr val="accent1"/>
          </a:effectRef>
          <a:fontRef idx="minor">
            <a:schemeClr val="tx1"/>
          </a:fontRef>
        </p:style>
      </p:cxnSp>
      <p:sp>
        <p:nvSpPr>
          <p:cNvPr id="11" name="telemetry"/>
          <p:cNvSpPr txBox="1"/>
          <p:nvPr/>
        </p:nvSpPr>
        <p:spPr>
          <a:xfrm>
            <a:off x="548640" y="246888"/>
            <a:ext cx="4572000" cy="228600"/>
          </a:xfrm>
          <a:prstGeom prst="rect">
            <a:avLst/>
          </a:prstGeom>
          <a:noFill/>
        </p:spPr>
        <p:txBody>
          <a:bodyPr wrap="square" lIns="0" rIns="0" tIns="0" bIns="0" anchor="t"/>
          <a:lstStyle/>
          <a:p>
            <a:pPr algn="l"/>
            <a:r>
              <a:rPr sz="1100" b="0" spc="150">
                <a:solidFill>
                  <a:srgbClr val="22D3EE"/>
                </a:solidFill>
                <a:latin typeface="Fira Code"/>
              </a:rPr>
              <a:t>SLIDE 10 / DEPLOYMENT + DECLARATION</a:t>
            </a:r>
          </a:p>
        </p:txBody>
      </p:sp>
      <p:sp>
        <p:nvSpPr>
          <p:cNvPr id="12" name="telemetry right"/>
          <p:cNvSpPr txBox="1"/>
          <p:nvPr/>
        </p:nvSpPr>
        <p:spPr>
          <a:xfrm>
            <a:off x="7071055" y="246888"/>
            <a:ext cx="4572000" cy="228600"/>
          </a:xfrm>
          <a:prstGeom prst="rect">
            <a:avLst/>
          </a:prstGeom>
          <a:noFill/>
        </p:spPr>
        <p:txBody>
          <a:bodyPr wrap="square" lIns="0" rIns="0" tIns="0" bIns="0" anchor="t"/>
          <a:lstStyle/>
          <a:p>
            <a:pPr algn="r"/>
            <a:r>
              <a:rPr sz="1100" b="1" spc="150">
                <a:solidFill>
                  <a:srgbClr val="22D3EE"/>
                </a:solidFill>
                <a:latin typeface="Fira Code"/>
              </a:rPr>
              <a:t>FLEXIPATH</a:t>
            </a:r>
            <a:r>
              <a:rPr sz="1100" b="0" spc="150">
                <a:solidFill>
                  <a:srgbClr val="9AACBC"/>
                </a:solidFill>
                <a:latin typeface="Fira Code"/>
              </a:rPr>
              <a:t>  //  TEAM TAROT CLUB</a:t>
            </a:r>
          </a:p>
        </p:txBody>
      </p:sp>
      <p:sp>
        <p:nvSpPr>
          <p:cNvPr id="13" name="Title"/>
          <p:cNvSpPr txBox="1"/>
          <p:nvPr/>
        </p:nvSpPr>
        <p:spPr>
          <a:xfrm>
            <a:off x="548640" y="502920"/>
            <a:ext cx="11155680" cy="530352"/>
          </a:xfrm>
          <a:prstGeom prst="rect">
            <a:avLst/>
          </a:prstGeom>
          <a:noFill/>
        </p:spPr>
        <p:txBody>
          <a:bodyPr wrap="square" lIns="0" rIns="0" tIns="0" bIns="0" anchor="t"/>
          <a:lstStyle/>
          <a:p>
            <a:pPr algn="l"/>
            <a:r>
              <a:rPr sz="3000" b="1" cap="all" spc="50">
                <a:solidFill>
                  <a:srgbClr val="F3F7FA"/>
                </a:solidFill>
                <a:latin typeface="Anantason Condensed"/>
              </a:rPr>
              <a:t>Plan for real-life use, limits, and declaration</a:t>
            </a:r>
          </a:p>
        </p:txBody>
      </p:sp>
      <p:sp>
        <p:nvSpPr>
          <p:cNvPr id="14" name="TextBox 13"/>
          <p:cNvSpPr txBox="1"/>
          <p:nvPr/>
        </p:nvSpPr>
        <p:spPr>
          <a:xfrm>
            <a:off x="548640" y="1069848"/>
            <a:ext cx="7863840" cy="347472"/>
          </a:xfrm>
          <a:prstGeom prst="rect">
            <a:avLst/>
          </a:prstGeom>
          <a:noFill/>
        </p:spPr>
        <p:txBody>
          <a:bodyPr wrap="square" lIns="0" rIns="0" tIns="0" bIns="0" anchor="t"/>
          <a:lstStyle/>
          <a:p>
            <a:pPr algn="l"/>
            <a:r>
              <a:rPr sz="1800" b="1">
                <a:solidFill>
                  <a:srgbClr val="22D3EE"/>
                </a:solidFill>
                <a:latin typeface="Lato"/>
              </a:rPr>
              <a:t>Deployment path, known limits, and our AI-use declaration</a:t>
            </a:r>
          </a:p>
        </p:txBody>
      </p:sp>
      <p:sp>
        <p:nvSpPr>
          <p:cNvPr id="15" name="Rectangle 14"/>
          <p:cNvSpPr/>
          <p:nvPr/>
        </p:nvSpPr>
        <p:spPr>
          <a:xfrm>
            <a:off x="548640" y="1572768"/>
            <a:ext cx="8001000" cy="960120"/>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1682495"/>
            <a:ext cx="1600200" cy="548640"/>
          </a:xfrm>
          <a:prstGeom prst="rect">
            <a:avLst/>
          </a:prstGeom>
          <a:noFill/>
        </p:spPr>
        <p:txBody>
          <a:bodyPr wrap="square" lIns="0" rIns="0" tIns="0" bIns="0" anchor="t"/>
          <a:lstStyle/>
          <a:p>
            <a:pPr algn="l"/>
            <a:r>
              <a:rPr sz="1700" b="1" spc="100">
                <a:solidFill>
                  <a:srgbClr val="22D3EE"/>
                </a:solidFill>
                <a:latin typeface="Anantason Condensed"/>
              </a:rPr>
              <a:t>DEPLOYMENT</a:t>
            </a:r>
          </a:p>
        </p:txBody>
      </p:sp>
      <p:sp>
        <p:nvSpPr>
          <p:cNvPr id="17" name="TextBox 16"/>
          <p:cNvSpPr txBox="1"/>
          <p:nvPr/>
        </p:nvSpPr>
        <p:spPr>
          <a:xfrm>
            <a:off x="2377440" y="1664208"/>
            <a:ext cx="6035040" cy="822960"/>
          </a:xfrm>
          <a:prstGeom prst="rect">
            <a:avLst/>
          </a:prstGeom>
          <a:noFill/>
        </p:spPr>
        <p:txBody>
          <a:bodyPr wrap="square" lIns="0" rIns="0" tIns="0" bIns="0" anchor="t"/>
          <a:lstStyle/>
          <a:p>
            <a:pPr algn="l">
              <a:spcAft>
                <a:spcPts val="100"/>
              </a:spcAft>
            </a:pPr>
            <a:r>
              <a:rPr sz="1400" b="0">
                <a:solidFill>
                  <a:srgbClr val="D9E2EA"/>
                </a:solidFill>
                <a:latin typeface="Lato"/>
              </a:rPr>
              <a:t>A userspace agent on the vehicle's companion computer (Linux) controls modems through standard interfaces.</a:t>
            </a:r>
          </a:p>
          <a:p>
            <a:pPr algn="l">
              <a:spcAft>
                <a:spcPts val="100"/>
              </a:spcAft>
            </a:pPr>
            <a:r>
              <a:rPr sz="1400" b="0">
                <a:solidFill>
                  <a:srgbClr val="D9E2EA"/>
                </a:solidFill>
                <a:latin typeface="Lato"/>
              </a:rPr>
              <a:t>The anchor relay is at the operator's ground station or cloud edge.</a:t>
            </a:r>
          </a:p>
          <a:p>
            <a:pPr algn="l">
              <a:spcAft>
                <a:spcPts val="100"/>
              </a:spcAft>
            </a:pPr>
            <a:r>
              <a:rPr sz="1400" b="0">
                <a:solidFill>
                  <a:srgbClr val="D9E2EA"/>
                </a:solidFill>
                <a:latin typeface="Lato"/>
              </a:rPr>
              <a:t>It runs under current C2 and video applications; they need no change.</a:t>
            </a:r>
          </a:p>
        </p:txBody>
      </p:sp>
      <p:sp>
        <p:nvSpPr>
          <p:cNvPr id="18" name="Rectangle 17"/>
          <p:cNvSpPr/>
          <p:nvPr/>
        </p:nvSpPr>
        <p:spPr>
          <a:xfrm>
            <a:off x="548640" y="2624328"/>
            <a:ext cx="8001000" cy="1207008"/>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3232" y="2734056"/>
            <a:ext cx="1600200" cy="548640"/>
          </a:xfrm>
          <a:prstGeom prst="rect">
            <a:avLst/>
          </a:prstGeom>
          <a:noFill/>
        </p:spPr>
        <p:txBody>
          <a:bodyPr wrap="square" lIns="0" rIns="0" tIns="0" bIns="0" anchor="t"/>
          <a:lstStyle/>
          <a:p>
            <a:pPr algn="l"/>
            <a:r>
              <a:rPr sz="1700" b="1" spc="100">
                <a:solidFill>
                  <a:srgbClr val="F59E0B"/>
                </a:solidFill>
                <a:latin typeface="Anantason Condensed"/>
              </a:rPr>
              <a:t>LIMITS</a:t>
            </a:r>
          </a:p>
        </p:txBody>
      </p:sp>
      <p:sp>
        <p:nvSpPr>
          <p:cNvPr id="20" name="TextBox 19"/>
          <p:cNvSpPr txBox="1"/>
          <p:nvPr/>
        </p:nvSpPr>
        <p:spPr>
          <a:xfrm>
            <a:off x="2377440" y="2715768"/>
            <a:ext cx="6035040" cy="1069848"/>
          </a:xfrm>
          <a:prstGeom prst="rect">
            <a:avLst/>
          </a:prstGeom>
          <a:noFill/>
        </p:spPr>
        <p:txBody>
          <a:bodyPr wrap="square" lIns="0" rIns="0" tIns="0" bIns="0" anchor="t"/>
          <a:lstStyle/>
          <a:p>
            <a:pPr algn="l">
              <a:spcAft>
                <a:spcPts val="100"/>
              </a:spcAft>
            </a:pPr>
            <a:r>
              <a:rPr sz="1400" b="0">
                <a:solidFill>
                  <a:srgbClr val="D9E2EA"/>
                </a:solidFill>
                <a:latin typeface="Lato"/>
              </a:rPr>
              <a:t>All results are simulated.</a:t>
            </a:r>
          </a:p>
          <a:p>
            <a:pPr algn="l">
              <a:spcAft>
                <a:spcPts val="100"/>
              </a:spcAft>
            </a:pPr>
            <a:r>
              <a:rPr sz="1400" b="0">
                <a:solidFill>
                  <a:srgbClr val="D9E2EA"/>
                </a:solidFill>
                <a:latin typeface="Lato"/>
              </a:rPr>
              <a:t>We evaluate the radio model at ground level.</a:t>
            </a:r>
          </a:p>
          <a:p>
            <a:pPr algn="l">
              <a:spcAft>
                <a:spcPts val="100"/>
              </a:spcAft>
            </a:pPr>
            <a:r>
              <a:rPr sz="1400" b="0">
                <a:solidFill>
                  <a:srgbClr val="D9E2EA"/>
                </a:solidFill>
                <a:latin typeface="Lato"/>
              </a:rPr>
              <a:t>Piloted rule needs a spare modem that resumes in ~</a:t>
            </a:r>
            <a:r>
              <a:rPr sz="1400" b="1">
                <a:solidFill>
                  <a:srgbClr val="F59E0B"/>
                </a:solidFill>
                <a:latin typeface="Lato"/>
              </a:rPr>
              <a:t>100</a:t>
            </a:r>
            <a:r>
              <a:rPr sz="1400" b="0">
                <a:solidFill>
                  <a:srgbClr val="D9E2EA"/>
                </a:solidFill>
                <a:latin typeface="Lato"/>
              </a:rPr>
              <a:t> ms (5G RRC_INACTIVE or connected-mode DRX).</a:t>
            </a:r>
          </a:p>
          <a:p>
            <a:pPr algn="l">
              <a:spcAft>
                <a:spcPts val="100"/>
              </a:spcAft>
            </a:pPr>
            <a:r>
              <a:rPr sz="1400" b="0">
                <a:solidFill>
                  <a:srgbClr val="D9E2EA"/>
                </a:solidFill>
                <a:latin typeface="Lato"/>
              </a:rPr>
              <a:t>At </a:t>
            </a:r>
            <a:r>
              <a:rPr sz="1400" b="1">
                <a:solidFill>
                  <a:srgbClr val="F87171"/>
                </a:solidFill>
                <a:latin typeface="Lato"/>
              </a:rPr>
              <a:t>260 ms</a:t>
            </a:r>
            <a:r>
              <a:rPr sz="1400" b="0">
                <a:solidFill>
                  <a:srgbClr val="D9E2EA"/>
                </a:solidFill>
                <a:latin typeface="Lato"/>
              </a:rPr>
              <a:t>, an unexpected outage still forces a hover.</a:t>
            </a:r>
          </a:p>
        </p:txBody>
      </p:sp>
      <p:sp>
        <p:nvSpPr>
          <p:cNvPr id="21" name="Rectangle 20"/>
          <p:cNvSpPr/>
          <p:nvPr/>
        </p:nvSpPr>
        <p:spPr>
          <a:xfrm>
            <a:off x="548640" y="3922776"/>
            <a:ext cx="8001000" cy="1298448"/>
          </a:xfrm>
          <a:prstGeom prst="rect">
            <a:avLst/>
          </a:prstGeom>
          <a:solidFill>
            <a:srgbClr val="0F161E">
              <a:alpha val="85000"/>
            </a:srgbClr>
          </a:solidFill>
          <a:ln w="9525">
            <a:solidFill>
              <a:srgbClr val="2633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13232" y="4032504"/>
            <a:ext cx="1600200" cy="548640"/>
          </a:xfrm>
          <a:prstGeom prst="rect">
            <a:avLst/>
          </a:prstGeom>
          <a:noFill/>
        </p:spPr>
        <p:txBody>
          <a:bodyPr wrap="square" lIns="0" rIns="0" tIns="0" bIns="0" anchor="t"/>
          <a:lstStyle/>
          <a:p>
            <a:pPr algn="l"/>
            <a:r>
              <a:rPr sz="1700" b="1" spc="100">
                <a:solidFill>
                  <a:srgbClr val="22D3EE"/>
                </a:solidFill>
                <a:latin typeface="Anantason Condensed"/>
              </a:rPr>
              <a:t>REAL-LIFE USE</a:t>
            </a:r>
          </a:p>
        </p:txBody>
      </p:sp>
      <p:sp>
        <p:nvSpPr>
          <p:cNvPr id="23" name="TextBox 22"/>
          <p:cNvSpPr txBox="1"/>
          <p:nvPr/>
        </p:nvSpPr>
        <p:spPr>
          <a:xfrm>
            <a:off x="2377440" y="4014215"/>
            <a:ext cx="6035040" cy="1161288"/>
          </a:xfrm>
          <a:prstGeom prst="rect">
            <a:avLst/>
          </a:prstGeom>
          <a:noFill/>
        </p:spPr>
        <p:txBody>
          <a:bodyPr wrap="square" lIns="0" rIns="0" tIns="0" bIns="0" anchor="t"/>
          <a:lstStyle/>
          <a:p>
            <a:pPr algn="l">
              <a:spcAft>
                <a:spcPts val="100"/>
              </a:spcAft>
            </a:pPr>
            <a:r>
              <a:rPr sz="1400" b="1">
                <a:solidFill>
                  <a:srgbClr val="22D3EE"/>
                </a:solidFill>
                <a:latin typeface="Lato"/>
              </a:rPr>
              <a:t>Phase 1 </a:t>
            </a:r>
            <a:r>
              <a:rPr sz="1400" b="0">
                <a:solidFill>
                  <a:srgbClr val="D9E2EA"/>
                </a:solidFill>
                <a:latin typeface="Lato"/>
              </a:rPr>
              <a:t>(bench): laptop with Wi-Fi and a 5G dongle runs the included handover probe to measure one real network change. </a:t>
            </a:r>
            <a:r>
              <a:rPr sz="1400" b="1">
                <a:solidFill>
                  <a:srgbClr val="22D3EE"/>
                </a:solidFill>
                <a:latin typeface="Lato"/>
              </a:rPr>
              <a:t>Phase 2 </a:t>
            </a:r>
            <a:r>
              <a:rPr sz="1400" b="0">
                <a:solidFill>
                  <a:srgbClr val="D9E2EA"/>
                </a:solidFill>
                <a:latin typeface="Lato"/>
              </a:rPr>
              <a:t>(field): test drone with Wi-Fi, 5G and a LEO terminal on a surveyed corridor; first survey flights build the coverage map. </a:t>
            </a:r>
            <a:r>
              <a:rPr sz="1400" b="1">
                <a:solidFill>
                  <a:srgbClr val="22D3EE"/>
                </a:solidFill>
                <a:latin typeface="Lato"/>
              </a:rPr>
              <a:t>Phase 3 </a:t>
            </a:r>
            <a:r>
              <a:rPr sz="1400" b="0">
                <a:solidFill>
                  <a:srgbClr val="D9E2EA"/>
                </a:solidFill>
                <a:latin typeface="Lato"/>
              </a:rPr>
              <a:t>(pilot): one operator, one corridor, the paired-comparison method of this study applied to real flights.</a:t>
            </a:r>
          </a:p>
        </p:txBody>
      </p:sp>
      <p:sp>
        <p:nvSpPr>
          <p:cNvPr id="24" name="Rectangle 23"/>
          <p:cNvSpPr/>
          <p:nvPr/>
        </p:nvSpPr>
        <p:spPr>
          <a:xfrm>
            <a:off x="548640" y="5330952"/>
            <a:ext cx="8001000" cy="1170432"/>
          </a:xfrm>
          <a:prstGeom prst="rect">
            <a:avLst/>
          </a:prstGeom>
          <a:solidFill>
            <a:srgbClr val="0F161E">
              <a:alpha val="85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5440680"/>
            <a:ext cx="1600200" cy="548640"/>
          </a:xfrm>
          <a:prstGeom prst="rect">
            <a:avLst/>
          </a:prstGeom>
          <a:noFill/>
        </p:spPr>
        <p:txBody>
          <a:bodyPr wrap="square" lIns="0" rIns="0" tIns="0" bIns="0" anchor="t"/>
          <a:lstStyle/>
          <a:p>
            <a:pPr algn="l"/>
            <a:r>
              <a:rPr sz="1700" b="1" spc="100">
                <a:solidFill>
                  <a:srgbClr val="F3F7FA"/>
                </a:solidFill>
                <a:latin typeface="Anantason Condensed"/>
              </a:rPr>
              <a:t>AI-USE DECLARATION</a:t>
            </a:r>
          </a:p>
        </p:txBody>
      </p:sp>
      <p:sp>
        <p:nvSpPr>
          <p:cNvPr id="26" name="TextBox 25"/>
          <p:cNvSpPr txBox="1"/>
          <p:nvPr/>
        </p:nvSpPr>
        <p:spPr>
          <a:xfrm>
            <a:off x="2377440" y="5422392"/>
            <a:ext cx="6035040" cy="1033272"/>
          </a:xfrm>
          <a:prstGeom prst="rect">
            <a:avLst/>
          </a:prstGeom>
          <a:noFill/>
        </p:spPr>
        <p:txBody>
          <a:bodyPr wrap="square" lIns="0" rIns="0" tIns="0" bIns="0" anchor="t"/>
          <a:lstStyle/>
          <a:p>
            <a:pPr algn="l">
              <a:spcAft>
                <a:spcPts val="100"/>
              </a:spcAft>
            </a:pPr>
            <a:r>
              <a:rPr sz="1400" b="0">
                <a:solidFill>
                  <a:srgbClr val="D9E2EA"/>
                </a:solidFill>
                <a:latin typeface="Lato"/>
              </a:rPr>
              <a:t>AI tools (Anthropic Claude) helped with code, analysis drafts, this deck and the video. An AI voice (Kokoro) reads the narration. The design decisions, the experiments and their interpretation are the team’s own, and every member can explain their part in their own words.</a:t>
            </a:r>
          </a:p>
        </p:txBody>
      </p:sp>
      <p:sp>
        <p:nvSpPr>
          <p:cNvPr id="27" name="Rectangle 26"/>
          <p:cNvSpPr/>
          <p:nvPr/>
        </p:nvSpPr>
        <p:spPr>
          <a:xfrm>
            <a:off x="8869680" y="1572768"/>
            <a:ext cx="2770632" cy="2395728"/>
          </a:xfrm>
          <a:prstGeom prst="rect">
            <a:avLst/>
          </a:prstGeom>
          <a:solidFill>
            <a:srgbClr val="0F161E">
              <a:alpha val="88000"/>
            </a:srgbClr>
          </a:solidFill>
          <a:ln w="9525">
            <a:solidFill>
              <a:srgbClr val="3448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8" name="Connector 27"/>
          <p:cNvCxnSpPr/>
          <p:nvPr/>
        </p:nvCxnSpPr>
        <p:spPr>
          <a:xfrm>
            <a:off x="8869680" y="1572768"/>
            <a:ext cx="18287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869680" y="1572768"/>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457432" y="1572768"/>
            <a:ext cx="18287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640311" y="1572768"/>
            <a:ext cx="0" cy="18288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869680" y="3968496"/>
            <a:ext cx="18287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869680" y="3785615"/>
            <a:ext cx="0" cy="182881"/>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457432" y="3968496"/>
            <a:ext cx="182879" cy="0"/>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1640311" y="3785615"/>
            <a:ext cx="0" cy="182881"/>
          </a:xfrm>
          <a:prstGeom prst="line">
            <a:avLst/>
          </a:prstGeom>
          <a:ln w="19050">
            <a:solidFill>
              <a:srgbClr val="22D3EE"/>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015984" y="1719072"/>
            <a:ext cx="114300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QR live prototype" descr="qr.png"/>
          <p:cNvPicPr>
            <a:picLocks noChangeAspect="1"/>
          </p:cNvPicPr>
          <p:nvPr/>
        </p:nvPicPr>
        <p:blipFill>
          <a:blip r:embed="rId3"/>
          <a:stretch>
            <a:fillRect/>
          </a:stretch>
        </p:blipFill>
        <p:spPr>
          <a:xfrm>
            <a:off x="9034272" y="1737360"/>
            <a:ext cx="1106424" cy="1106424"/>
          </a:xfrm>
          <a:prstGeom prst="rect">
            <a:avLst/>
          </a:prstGeom>
        </p:spPr>
      </p:pic>
      <p:sp>
        <p:nvSpPr>
          <p:cNvPr id="38" name="TextBox 37"/>
          <p:cNvSpPr txBox="1"/>
          <p:nvPr/>
        </p:nvSpPr>
        <p:spPr>
          <a:xfrm>
            <a:off x="9015984" y="2944368"/>
            <a:ext cx="2560320" cy="960120"/>
          </a:xfrm>
          <a:prstGeom prst="rect">
            <a:avLst/>
          </a:prstGeom>
          <a:noFill/>
        </p:spPr>
        <p:txBody>
          <a:bodyPr wrap="square" lIns="0" rIns="0" tIns="0" bIns="0" anchor="t"/>
          <a:lstStyle/>
          <a:p>
            <a:pPr algn="l"/>
            <a:r>
              <a:rPr sz="1200">
                <a:solidFill>
                  <a:srgbClr val="22D3EE"/>
                </a:solidFill>
                <a:latin typeface="DejaVu Sans"/>
              </a:rPr>
              <a:t>▶</a:t>
            </a:r>
            <a:r>
              <a:rPr sz="1400" b="1">
                <a:solidFill>
                  <a:srgbClr val="F3F7FA"/>
                </a:solidFill>
                <a:latin typeface="Lato"/>
              </a:rPr>
              <a:t>  TRY THE LIVE PROTOTYPE</a:t>
            </a:r>
          </a:p>
          <a:p>
            <a:pPr algn="l"/>
            <a:r>
              <a:rPr sz="1400" b="1">
                <a:solidFill>
                  <a:srgbClr val="22D3EE"/>
                </a:solidFill>
                <a:latin typeface="Lato"/>
                <a:hlinkClick r:id="rId4"/>
              </a:rPr>
              <a:t>flexipath.vercel.app</a:t>
            </a:r>
          </a:p>
          <a:p>
            <a:pPr algn="l"/>
            <a:r>
              <a:rPr sz="1400" b="0">
                <a:solidFill>
                  <a:srgbClr val="D9E2EA"/>
                </a:solidFill>
                <a:latin typeface="Lato"/>
              </a:rPr>
              <a:t>guided demo, simulator and the 2-minute video</a:t>
            </a:r>
          </a:p>
        </p:txBody>
      </p:sp>
      <p:pic>
        <p:nvPicPr>
          <p:cNvPr id="39" name="laptop" descr="image106.png"/>
          <p:cNvPicPr>
            <a:picLocks noChangeAspect="1"/>
          </p:cNvPicPr>
          <p:nvPr/>
        </p:nvPicPr>
        <p:blipFill>
          <a:blip r:embed="rId5"/>
          <a:stretch>
            <a:fillRect/>
          </a:stretch>
        </p:blipFill>
        <p:spPr>
          <a:xfrm>
            <a:off x="9555480" y="4114800"/>
            <a:ext cx="2103120" cy="2138289"/>
          </a:xfrm>
          <a:prstGeom prst="rect">
            <a:avLst/>
          </a:prstGeom>
        </p:spPr>
      </p:pic>
      <p:pic>
        <p:nvPicPr>
          <p:cNvPr id="40" name="drone" descr="image105.png"/>
          <p:cNvPicPr>
            <a:picLocks noChangeAspect="1"/>
          </p:cNvPicPr>
          <p:nvPr/>
        </p:nvPicPr>
        <p:blipFill>
          <a:blip r:embed="rId6"/>
          <a:stretch>
            <a:fillRect/>
          </a:stretch>
        </p:blipFill>
        <p:spPr>
          <a:xfrm>
            <a:off x="8732520" y="5303520"/>
            <a:ext cx="2377440" cy="126775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22D3EE"/>
      </a:hlink>
      <a:folHlink>
        <a:srgbClr val="22D3E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FlexiPath — switch before the link fails</dc:title>
  <dc:subject/>
  <dc:creator>Team Tarot Club</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